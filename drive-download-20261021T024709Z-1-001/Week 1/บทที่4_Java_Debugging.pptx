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5569"/>
    <a:srgbClr val="D97706"/>
    <a:srgbClr val="2563EB"/>
    <a:srgbClr val="16A34A"/>
    <a:srgbClr val="DC2626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EDAB0-C3E3-49CE-BF33-20206D8A1FA2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59FECE-117B-40B1-BA65-6AC86031FC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04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59FECE-117B-40B1-BA65-6AC86031FC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845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659D0E4-0BAA-453E-9FD2-7A3AA5550EB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A17836-81D2-4B63-B3A8-50B369C44B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56B9CA2-755A-4A5C-A71E-C0E5C66A396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E52DA5C-8EF0-4044-86FF-CAF1F9284D8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E80A528-DED0-4C48-9E99-A8D2BB4CA1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9770F5-8865-4471-B4D1-1D868A5DD40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8552FD-6AD4-4E3D-A13C-43835E16C6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991124-BD8C-455F-A810-FC5406EB7F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E7C359-1CDE-42BC-B624-C0649856E2B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F218B2C-E900-43F8-BF4B-93ADBC8BDF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A045BEA-B9BE-4931-A1E4-EF4AF9E079C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D1627"/>
          </a:solidFill>
          <a:ln>
            <a:solidFill>
              <a:srgbClr val="0D162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0" name="Rounded Rectangle 2"/>
          <p:cNvSpPr/>
          <p:nvPr/>
        </p:nvSpPr>
        <p:spPr>
          <a:xfrm>
            <a:off x="685800" y="623302"/>
            <a:ext cx="828675" cy="47361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731520" y="667440"/>
            <a:ext cx="712486" cy="4861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2800" b="1" dirty="0">
                <a:solidFill>
                  <a:srgbClr val="FFFF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บทที่ </a:t>
            </a:r>
            <a:r>
              <a:rPr lang="en-US" sz="2800" b="1" dirty="0">
                <a:solidFill>
                  <a:srgbClr val="FFFFFF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685800" y="1234440"/>
            <a:ext cx="8229240" cy="658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100" b="1" u="none" strike="noStrike" dirty="0">
                <a:solidFill>
                  <a:srgbClr val="FFFFFF"/>
                </a:solidFill>
                <a:effectLst/>
                <a:uFillTx/>
                <a:latin typeface="Tahoma"/>
              </a:rPr>
              <a:t>Debugging with Eclipse</a:t>
            </a:r>
            <a:endParaRPr lang="en-US" sz="3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713160" y="1965960"/>
            <a:ext cx="9932958" cy="4861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i-IN" sz="2000" b="0" u="none" strike="noStrike" dirty="0">
                <a:solidFill>
                  <a:srgbClr val="CBD5E1"/>
                </a:solidFill>
                <a:effectLst/>
                <a:uFillTx/>
                <a:latin typeface="Angsana New" panose="02020603050405020304" pitchFamily="18" charset="-34"/>
              </a:rPr>
              <a:t>การค้นหาจุดผิดพลาด ทำความเข้าใจลำดับการทำงาน และตรวจสอบค่าระหว่างที่โปรแกรมกำลังทำงาน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64" name="Rounded Rectangle 6"/>
          <p:cNvSpPr/>
          <p:nvPr/>
        </p:nvSpPr>
        <p:spPr>
          <a:xfrm>
            <a:off x="1444006" y="4037831"/>
            <a:ext cx="2057040" cy="12340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4755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7"/>
          <p:cNvSpPr/>
          <p:nvPr/>
        </p:nvSpPr>
        <p:spPr>
          <a:xfrm>
            <a:off x="1553806" y="4239071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Breakpoint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1553806" y="4632191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700" b="0" u="none" strike="noStrike">
                <a:solidFill>
                  <a:srgbClr val="CBD5E1"/>
                </a:solidFill>
                <a:effectLst/>
                <a:uFillTx/>
                <a:latin typeface="Angsana New"/>
              </a:rPr>
              <a:t>หยุดตรงจุดที่ต้องการ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Rounded Rectangle 9"/>
          <p:cNvSpPr/>
          <p:nvPr/>
        </p:nvSpPr>
        <p:spPr>
          <a:xfrm>
            <a:off x="3684286" y="4037831"/>
            <a:ext cx="2057040" cy="12340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4755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3794086" y="4239071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Debug Mode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3794086" y="4632191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700" b="0" u="none" strike="noStrike">
                <a:solidFill>
                  <a:srgbClr val="CBD5E1"/>
                </a:solidFill>
                <a:effectLst/>
                <a:uFillTx/>
                <a:latin typeface="Angsana New"/>
              </a:rPr>
              <a:t>รันแบบตรวจสอบได้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Rounded Rectangle 12"/>
          <p:cNvSpPr/>
          <p:nvPr/>
        </p:nvSpPr>
        <p:spPr>
          <a:xfrm>
            <a:off x="5924566" y="4037831"/>
            <a:ext cx="2057040" cy="12340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4755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13"/>
          <p:cNvSpPr/>
          <p:nvPr/>
        </p:nvSpPr>
        <p:spPr>
          <a:xfrm>
            <a:off x="6034366" y="4239071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Step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4"/>
          <p:cNvSpPr/>
          <p:nvPr/>
        </p:nvSpPr>
        <p:spPr>
          <a:xfrm>
            <a:off x="6034366" y="4632191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700" b="0" u="none" strike="noStrike">
                <a:solidFill>
                  <a:srgbClr val="CBD5E1"/>
                </a:solidFill>
                <a:effectLst/>
                <a:uFillTx/>
                <a:latin typeface="Angsana New"/>
              </a:rPr>
              <a:t>เดินโค้ดทีละช่วง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Rounded Rectangle 15"/>
          <p:cNvSpPr/>
          <p:nvPr/>
        </p:nvSpPr>
        <p:spPr>
          <a:xfrm>
            <a:off x="8164846" y="4037831"/>
            <a:ext cx="2057040" cy="123408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>
            <a:solidFill>
              <a:srgbClr val="4755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16"/>
          <p:cNvSpPr/>
          <p:nvPr/>
        </p:nvSpPr>
        <p:spPr>
          <a:xfrm>
            <a:off x="8274646" y="4239071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Variables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7"/>
          <p:cNvSpPr/>
          <p:nvPr/>
        </p:nvSpPr>
        <p:spPr>
          <a:xfrm>
            <a:off x="8274646" y="4632191"/>
            <a:ext cx="1828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hi-IN" sz="1700" b="0" u="none" strike="noStrike">
                <a:solidFill>
                  <a:srgbClr val="CBD5E1"/>
                </a:solidFill>
                <a:effectLst/>
                <a:uFillTx/>
                <a:latin typeface="Angsana New"/>
              </a:rPr>
              <a:t>ดูค่าปัจจุบัน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502920" y="228600"/>
            <a:ext cx="8137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1. </a:t>
            </a:r>
            <a:r>
              <a:rPr lang="hi-IN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เริ่มจากการวาง </a:t>
            </a:r>
            <a:r>
              <a:rPr lang="en-US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Breakpoint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511920" y="65844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Step 1: Start with setting Breakpoints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4"/>
          <p:cNvSpPr/>
          <p:nvPr/>
        </p:nvSpPr>
        <p:spPr>
          <a:xfrm>
            <a:off x="9814801" y="292680"/>
            <a:ext cx="1797719" cy="2091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Java </a:t>
            </a:r>
            <a:r>
              <a:rPr lang="th-TH" sz="1000" dirty="0">
                <a:solidFill>
                  <a:srgbClr val="475569"/>
                </a:solidFill>
                <a:latin typeface="Tahoma"/>
              </a:rPr>
              <a:t>บทที่ </a:t>
            </a:r>
            <a:r>
              <a:rPr lang="en-US" sz="1000" dirty="0">
                <a:solidFill>
                  <a:srgbClr val="475569"/>
                </a:solidFill>
                <a:latin typeface="Tahoma"/>
              </a:rPr>
              <a:t>4</a:t>
            </a: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 • Eclipse Debugging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5"/>
          <p:cNvSpPr/>
          <p:nvPr/>
        </p:nvSpPr>
        <p:spPr>
          <a:xfrm>
            <a:off x="594360" y="1143000"/>
            <a:ext cx="4950825" cy="36303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 dirty="0">
                <a:solidFill>
                  <a:srgbClr val="0F172A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Breakpoint </a:t>
            </a:r>
            <a:r>
              <a:rPr lang="hi-IN" sz="2000" b="1" u="none" strike="noStrike" dirty="0">
                <a:solidFill>
                  <a:srgbClr val="0F172A"/>
                </a:solidFill>
                <a:effectLst/>
                <a:uFillTx/>
                <a:latin typeface="Angsana New" panose="02020603050405020304" pitchFamily="18" charset="-34"/>
              </a:rPr>
              <a:t>คือจุดที่สั่งให้โปรแกรมหยุดชั่วคราวเมื่อรันใน </a:t>
            </a:r>
            <a:r>
              <a:rPr lang="en-US" sz="2000" b="1" u="none" strike="noStrike" dirty="0">
                <a:solidFill>
                  <a:srgbClr val="0F172A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Debug Mode</a:t>
            </a:r>
            <a:endParaRPr lang="en-US" sz="20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86" name="Rounded Rectangle 7"/>
          <p:cNvSpPr/>
          <p:nvPr/>
        </p:nvSpPr>
        <p:spPr>
          <a:xfrm>
            <a:off x="621720" y="4069080"/>
            <a:ext cx="4571640" cy="2057040"/>
          </a:xfrm>
          <a:prstGeom prst="roundRect">
            <a:avLst>
              <a:gd name="adj" fmla="val 12000"/>
            </a:avLst>
          </a:prstGeom>
          <a:solidFill>
            <a:srgbClr val="0D1627"/>
          </a:solidFill>
          <a:ln>
            <a:solidFill>
              <a:srgbClr val="0D162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8" name="Rounded Rectangle 9"/>
          <p:cNvSpPr/>
          <p:nvPr/>
        </p:nvSpPr>
        <p:spPr>
          <a:xfrm>
            <a:off x="5532120" y="1143000"/>
            <a:ext cx="5988960" cy="4983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prstDash val="dash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rgbClr val="000000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89" name="TextBox 10"/>
          <p:cNvSpPr/>
          <p:nvPr/>
        </p:nvSpPr>
        <p:spPr>
          <a:xfrm>
            <a:off x="5696640" y="1271160"/>
            <a:ext cx="5659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ECLIPSE SCREENSHOT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13"/>
          <p:cNvSpPr/>
          <p:nvPr/>
        </p:nvSpPr>
        <p:spPr>
          <a:xfrm>
            <a:off x="530280" y="651060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i-IN" sz="105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เรียบเรียงจาก </a:t>
            </a:r>
            <a:r>
              <a:rPr lang="en-US" sz="1050" b="0" u="none" strike="noStrike" dirty="0" err="1">
                <a:solidFill>
                  <a:srgbClr val="475569"/>
                </a:solidFill>
                <a:effectLst/>
                <a:uFillTx/>
                <a:latin typeface="Angsana New"/>
              </a:rPr>
              <a:t>GeeksforGeeks</a:t>
            </a:r>
            <a:r>
              <a:rPr lang="en-US" sz="105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: “How to Debug a Java Project in Eclipse?” • </a:t>
            </a:r>
            <a:r>
              <a:rPr lang="hi-IN" sz="105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ตรวจสอบคำสั่ง</a:t>
            </a:r>
            <a:r>
              <a:rPr lang="en-US" sz="105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/</a:t>
            </a:r>
            <a:r>
              <a:rPr lang="hi-IN" sz="105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มุมมองกับ </a:t>
            </a:r>
            <a:r>
              <a:rPr lang="en-US" sz="105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Eclipse Help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B268F4F8-D28B-4C04-2295-A0E731683E37}"/>
              </a:ext>
            </a:extLst>
          </p:cNvPr>
          <p:cNvSpPr/>
          <p:nvPr/>
        </p:nvSpPr>
        <p:spPr>
          <a:xfrm>
            <a:off x="621720" y="1678161"/>
            <a:ext cx="3711161" cy="129896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วาง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Cursor </a:t>
            </a: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ที่บรรทัดที่ต้องการ แล้วกด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Ctrl + Shift + B</a:t>
            </a:r>
          </a:p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หรือ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Double-Click </a:t>
            </a: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ที่ขอบซ้ายของ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Editor</a:t>
            </a:r>
          </a:p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หรือ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Right-Click </a:t>
            </a: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แล้วเลือก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Toggle Breakpoint</a:t>
            </a:r>
          </a:p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เมื่อวางสำเร็จจะเห็นสัญลักษณ์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Breakpoint </a:t>
            </a: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ที่บรรทัดนั้น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582883-C6C5-5E42-0218-C90DAB78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462"/>
          <a:stretch>
            <a:fillRect/>
          </a:stretch>
        </p:blipFill>
        <p:spPr>
          <a:xfrm>
            <a:off x="780295" y="4378463"/>
            <a:ext cx="4276217" cy="147109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3B11088-68BF-31E1-56D5-D1C7A1C30639}"/>
              </a:ext>
            </a:extLst>
          </p:cNvPr>
          <p:cNvCxnSpPr>
            <a:cxnSpLocks/>
          </p:cNvCxnSpPr>
          <p:nvPr/>
        </p:nvCxnSpPr>
        <p:spPr>
          <a:xfrm flipH="1" flipV="1">
            <a:off x="933450" y="5039507"/>
            <a:ext cx="471487" cy="57932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10C000A-5BA7-5C29-A29B-9351FC7CE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9334" y="2078798"/>
            <a:ext cx="4878068" cy="30769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6">
            <a:extLst>
              <a:ext uri="{FF2B5EF4-FFF2-40B4-BE49-F238E27FC236}">
                <a16:creationId xmlns:a16="http://schemas.microsoft.com/office/drawing/2014/main" id="{4699D03A-E513-A781-FA2F-9E8968192368}"/>
              </a:ext>
            </a:extLst>
          </p:cNvPr>
          <p:cNvSpPr/>
          <p:nvPr/>
        </p:nvSpPr>
        <p:spPr>
          <a:xfrm>
            <a:off x="6326921" y="1636560"/>
            <a:ext cx="4422895" cy="3140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18360" tIns="18360" rIns="18360" bIns="1836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400"/>
              </a:spcAft>
            </a:pP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Right-Click </a:t>
            </a: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ที่แถบด้านซ้ายของเลขบรรทัด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</a:t>
            </a: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แล้วเลือก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Toggle Breakpoint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2"/>
          <p:cNvSpPr/>
          <p:nvPr/>
        </p:nvSpPr>
        <p:spPr>
          <a:xfrm>
            <a:off x="502920" y="228600"/>
            <a:ext cx="8137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2. </a:t>
            </a:r>
            <a:r>
              <a:rPr lang="hi-IN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เปิดโปรแกรมด้วย </a:t>
            </a:r>
            <a:r>
              <a:rPr lang="en-US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Debug Mode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Box 3"/>
          <p:cNvSpPr/>
          <p:nvPr/>
        </p:nvSpPr>
        <p:spPr>
          <a:xfrm>
            <a:off x="511920" y="65844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Step 2: Activate Debug Mode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4"/>
          <p:cNvSpPr/>
          <p:nvPr/>
        </p:nvSpPr>
        <p:spPr>
          <a:xfrm>
            <a:off x="9829228" y="292680"/>
            <a:ext cx="1783292" cy="2091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Java </a:t>
            </a:r>
            <a:r>
              <a:rPr lang="th-TH" sz="1000" dirty="0">
                <a:solidFill>
                  <a:srgbClr val="475569"/>
                </a:solidFill>
                <a:latin typeface="Tahoma"/>
              </a:rPr>
              <a:t>บทที่ </a:t>
            </a:r>
            <a:r>
              <a:rPr lang="en-US" sz="1000" dirty="0">
                <a:solidFill>
                  <a:srgbClr val="475569"/>
                </a:solidFill>
                <a:latin typeface="Tahoma"/>
              </a:rPr>
              <a:t>4</a:t>
            </a: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 • Eclipse Debugging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Rounded Rectangle 7"/>
          <p:cNvSpPr/>
          <p:nvPr/>
        </p:nvSpPr>
        <p:spPr>
          <a:xfrm>
            <a:off x="658440" y="4251960"/>
            <a:ext cx="1389600" cy="65808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8"/>
          <p:cNvSpPr/>
          <p:nvPr/>
        </p:nvSpPr>
        <p:spPr>
          <a:xfrm>
            <a:off x="713160" y="4443840"/>
            <a:ext cx="12798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 dirty="0">
                <a:solidFill>
                  <a:srgbClr val="0F172A"/>
                </a:solidFill>
                <a:effectLst/>
                <a:uFillTx/>
                <a:latin typeface="Tahoma"/>
              </a:rPr>
              <a:t>Project / Class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10"/>
          <p:cNvSpPr/>
          <p:nvPr/>
        </p:nvSpPr>
        <p:spPr>
          <a:xfrm>
            <a:off x="2487240" y="4251960"/>
            <a:ext cx="1316520" cy="65808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1"/>
          <p:cNvSpPr/>
          <p:nvPr/>
        </p:nvSpPr>
        <p:spPr>
          <a:xfrm>
            <a:off x="2541960" y="4443840"/>
            <a:ext cx="12067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Debug As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Rounded Rectangle 13"/>
          <p:cNvSpPr/>
          <p:nvPr/>
        </p:nvSpPr>
        <p:spPr>
          <a:xfrm>
            <a:off x="4224600" y="4251960"/>
            <a:ext cx="1170000" cy="65808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4279320" y="4443840"/>
            <a:ext cx="106020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Debug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15"/>
          <p:cNvSpPr/>
          <p:nvPr/>
        </p:nvSpPr>
        <p:spPr>
          <a:xfrm>
            <a:off x="5532120" y="1143000"/>
            <a:ext cx="5988960" cy="4983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prstDash val="dash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TextBox 16"/>
          <p:cNvSpPr/>
          <p:nvPr/>
        </p:nvSpPr>
        <p:spPr>
          <a:xfrm>
            <a:off x="5852160" y="1335600"/>
            <a:ext cx="5659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ECLIPSE SCREENSHOT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9"/>
          <p:cNvSpPr/>
          <p:nvPr/>
        </p:nvSpPr>
        <p:spPr>
          <a:xfrm>
            <a:off x="530280" y="651060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เรียบเรียงจาก 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GeeksforGeeks: “How to Debug a Java Project in Eclipse?” • </a:t>
            </a: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ตรวจสอบคำสั่ง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/</a:t>
            </a: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มุมมองกับ 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Eclipse Help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6">
            <a:extLst>
              <a:ext uri="{FF2B5EF4-FFF2-40B4-BE49-F238E27FC236}">
                <a16:creationId xmlns:a16="http://schemas.microsoft.com/office/drawing/2014/main" id="{E18279B8-1B5F-ABE3-A864-6A76EAB31B28}"/>
              </a:ext>
            </a:extLst>
          </p:cNvPr>
          <p:cNvSpPr/>
          <p:nvPr/>
        </p:nvSpPr>
        <p:spPr>
          <a:xfrm>
            <a:off x="670920" y="1750048"/>
            <a:ext cx="4754520" cy="15759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คลิกขวาที่ </a:t>
            </a:r>
            <a:r>
              <a:rPr lang="en-US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Project</a:t>
            </a:r>
            <a:r>
              <a:rPr lang="th-TH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 หรือ </a:t>
            </a:r>
            <a:r>
              <a:rPr lang="en-US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Class </a:t>
            </a:r>
            <a:r>
              <a:rPr lang="th-TH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ที่</a:t>
            </a: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มี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Main()</a:t>
            </a:r>
          </a:p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Debug As </a:t>
            </a:r>
            <a:r>
              <a:rPr lang="en-US" b="0" u="none" strike="noStrike" dirty="0">
                <a:solidFill>
                  <a:srgbClr val="0F172A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→ Java Application</a:t>
            </a:r>
          </a:p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0F172A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Eclipse </a:t>
            </a:r>
            <a:r>
              <a:rPr lang="th-TH" b="0" u="none" strike="noStrike" dirty="0">
                <a:solidFill>
                  <a:srgbClr val="0F172A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จะรันโปรแกรมและหยุดเมื่อถึง </a:t>
            </a:r>
            <a:r>
              <a:rPr lang="en-US" b="0" u="none" strike="noStrike" dirty="0">
                <a:solidFill>
                  <a:srgbClr val="0F172A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Breakpoint </a:t>
            </a:r>
            <a:r>
              <a:rPr lang="th-TH" b="0" u="none" strike="noStrike" dirty="0">
                <a:solidFill>
                  <a:srgbClr val="0F172A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แรก</a:t>
            </a:r>
          </a:p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dirty="0">
                <a:solidFill>
                  <a:srgbClr val="0F172A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หากมีข้อความถามให้เปลี่ยนมุมมอง ให้เลือก </a:t>
            </a:r>
            <a:r>
              <a:rPr lang="en-US" dirty="0">
                <a:solidFill>
                  <a:srgbClr val="0F172A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Switch </a:t>
            </a:r>
            <a:r>
              <a:rPr lang="th-TH" dirty="0">
                <a:solidFill>
                  <a:srgbClr val="0F172A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เพื่อเข้า </a:t>
            </a:r>
            <a:r>
              <a:rPr lang="en-US" dirty="0">
                <a:solidFill>
                  <a:srgbClr val="0F172A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Debug Perspective</a:t>
            </a:r>
            <a:endParaRPr lang="en-US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E8E498B2-B809-1572-B565-3C6DF92418DF}"/>
              </a:ext>
            </a:extLst>
          </p:cNvPr>
          <p:cNvCxnSpPr>
            <a:cxnSpLocks/>
            <a:endCxn id="102" idx="1"/>
          </p:cNvCxnSpPr>
          <p:nvPr/>
        </p:nvCxnSpPr>
        <p:spPr>
          <a:xfrm flipV="1">
            <a:off x="2048040" y="4581000"/>
            <a:ext cx="439200" cy="99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2BF2BD5-7646-45CE-1F04-4E7BB5A3BEB8}"/>
              </a:ext>
            </a:extLst>
          </p:cNvPr>
          <p:cNvCxnSpPr>
            <a:cxnSpLocks/>
          </p:cNvCxnSpPr>
          <p:nvPr/>
        </p:nvCxnSpPr>
        <p:spPr>
          <a:xfrm flipV="1">
            <a:off x="3803400" y="4585464"/>
            <a:ext cx="439200" cy="998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5">
            <a:extLst>
              <a:ext uri="{FF2B5EF4-FFF2-40B4-BE49-F238E27FC236}">
                <a16:creationId xmlns:a16="http://schemas.microsoft.com/office/drawing/2014/main" id="{B4FF191B-15AB-A96B-226B-057A10E1B554}"/>
              </a:ext>
            </a:extLst>
          </p:cNvPr>
          <p:cNvSpPr/>
          <p:nvPr/>
        </p:nvSpPr>
        <p:spPr>
          <a:xfrm>
            <a:off x="658440" y="1235339"/>
            <a:ext cx="4437864" cy="3938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2200" b="1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หลังวาง </a:t>
            </a:r>
            <a:r>
              <a:rPr lang="en-US" sz="2200" b="1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Breakpoint </a:t>
            </a:r>
            <a:r>
              <a:rPr lang="th-TH" sz="2200" b="1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แล้ว ให้เปิดโปรแกรมในโหมด </a:t>
            </a:r>
            <a:r>
              <a:rPr lang="en-US" sz="2200" b="1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Debug</a:t>
            </a:r>
            <a:endParaRPr lang="en-US" sz="2200" b="1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E0B609C-D0D4-ACA5-8935-1BF3810E8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4812" y="1673460"/>
            <a:ext cx="5523576" cy="39495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32389BD-47C9-DC54-FE57-5523CF833867}"/>
              </a:ext>
            </a:extLst>
          </p:cNvPr>
          <p:cNvSpPr/>
          <p:nvPr/>
        </p:nvSpPr>
        <p:spPr>
          <a:xfrm>
            <a:off x="7848599" y="5157360"/>
            <a:ext cx="1666875" cy="167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F7ACD9-F2E3-E114-FEA3-5D1EEB2A96B9}"/>
              </a:ext>
            </a:extLst>
          </p:cNvPr>
          <p:cNvSpPr/>
          <p:nvPr/>
        </p:nvSpPr>
        <p:spPr>
          <a:xfrm>
            <a:off x="9549442" y="5157359"/>
            <a:ext cx="1666875" cy="1671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TextBox 2"/>
          <p:cNvSpPr/>
          <p:nvPr/>
        </p:nvSpPr>
        <p:spPr>
          <a:xfrm>
            <a:off x="502920" y="228600"/>
            <a:ext cx="8137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3. </a:t>
            </a:r>
            <a:r>
              <a:rPr lang="hi-IN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รู้จัก </a:t>
            </a:r>
            <a:r>
              <a:rPr lang="en-US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Debug Perspective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3"/>
          <p:cNvSpPr/>
          <p:nvPr/>
        </p:nvSpPr>
        <p:spPr>
          <a:xfrm>
            <a:off x="511920" y="65844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i-IN" sz="190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มุมมองหลักที่ใช้ระหว่างการ </a:t>
            </a:r>
            <a:r>
              <a:rPr lang="en-US" sz="190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Debug</a:t>
            </a:r>
            <a:endParaRPr lang="en-US" sz="1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9829228" y="292680"/>
            <a:ext cx="1783292" cy="2091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Java </a:t>
            </a:r>
            <a:r>
              <a:rPr lang="th-TH" sz="1000" dirty="0">
                <a:solidFill>
                  <a:srgbClr val="475569"/>
                </a:solidFill>
                <a:latin typeface="Tahoma"/>
              </a:rPr>
              <a:t>บทที่ </a:t>
            </a:r>
            <a:r>
              <a:rPr lang="en-US" sz="1000" dirty="0">
                <a:solidFill>
                  <a:srgbClr val="475569"/>
                </a:solidFill>
                <a:latin typeface="Tahoma"/>
              </a:rPr>
              <a:t>4</a:t>
            </a: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 • Eclipse Debugging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ounded Rectangle 5"/>
          <p:cNvSpPr/>
          <p:nvPr/>
        </p:nvSpPr>
        <p:spPr>
          <a:xfrm>
            <a:off x="640080" y="1280160"/>
            <a:ext cx="4617360" cy="8683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6"/>
          <p:cNvSpPr/>
          <p:nvPr/>
        </p:nvSpPr>
        <p:spPr>
          <a:xfrm>
            <a:off x="822960" y="1566255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2563EB"/>
                </a:solidFill>
                <a:effectLst/>
                <a:uFillTx/>
                <a:latin typeface="Tahoma"/>
              </a:rPr>
              <a:t>Debug View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ounded Rectangle 8"/>
          <p:cNvSpPr/>
          <p:nvPr/>
        </p:nvSpPr>
        <p:spPr>
          <a:xfrm>
            <a:off x="640080" y="2304360"/>
            <a:ext cx="4617360" cy="8683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9"/>
          <p:cNvSpPr/>
          <p:nvPr/>
        </p:nvSpPr>
        <p:spPr>
          <a:xfrm>
            <a:off x="822960" y="261990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2563EB"/>
                </a:solidFill>
                <a:effectLst/>
                <a:uFillTx/>
                <a:latin typeface="Tahoma"/>
              </a:rPr>
              <a:t>Breakpoints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ounded Rectangle 11"/>
          <p:cNvSpPr/>
          <p:nvPr/>
        </p:nvSpPr>
        <p:spPr>
          <a:xfrm>
            <a:off x="640080" y="3328560"/>
            <a:ext cx="4617360" cy="8683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3" name="TextBox 12"/>
          <p:cNvSpPr/>
          <p:nvPr/>
        </p:nvSpPr>
        <p:spPr>
          <a:xfrm>
            <a:off x="822960" y="357138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2563EB"/>
                </a:solidFill>
                <a:effectLst/>
                <a:uFillTx/>
                <a:latin typeface="Tahoma"/>
              </a:rPr>
              <a:t>Variables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ounded Rectangle 14"/>
          <p:cNvSpPr/>
          <p:nvPr/>
        </p:nvSpPr>
        <p:spPr>
          <a:xfrm>
            <a:off x="640080" y="4352400"/>
            <a:ext cx="4617360" cy="8683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TextBox 15"/>
          <p:cNvSpPr/>
          <p:nvPr/>
        </p:nvSpPr>
        <p:spPr>
          <a:xfrm>
            <a:off x="822960" y="4585860"/>
            <a:ext cx="14169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 dirty="0">
                <a:solidFill>
                  <a:srgbClr val="2563EB"/>
                </a:solidFill>
                <a:effectLst/>
                <a:uFillTx/>
                <a:latin typeface="Tahoma"/>
              </a:rPr>
              <a:t>Console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18"/>
          <p:cNvSpPr/>
          <p:nvPr/>
        </p:nvSpPr>
        <p:spPr>
          <a:xfrm>
            <a:off x="5532120" y="1143000"/>
            <a:ext cx="5988960" cy="4983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prstDash val="dash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19"/>
          <p:cNvSpPr/>
          <p:nvPr/>
        </p:nvSpPr>
        <p:spPr>
          <a:xfrm>
            <a:off x="5696640" y="1271160"/>
            <a:ext cx="5659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Tahoma"/>
              </a:rPr>
              <a:t>ECLIPSE SCREENSHOT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20"/>
          <p:cNvSpPr/>
          <p:nvPr/>
        </p:nvSpPr>
        <p:spPr>
          <a:xfrm>
            <a:off x="5852160" y="3136320"/>
            <a:ext cx="5348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94A3B8"/>
                </a:solidFill>
                <a:effectLst/>
                <a:uFillTx/>
                <a:latin typeface="Tahoma"/>
              </a:rPr>
              <a:t>Eclipse Debug Perspective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2"/>
          <p:cNvSpPr/>
          <p:nvPr/>
        </p:nvSpPr>
        <p:spPr>
          <a:xfrm>
            <a:off x="530280" y="651060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เรียบเรียงจาก 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GeeksforGeeks: “How to Debug a Java Project in Eclipse?” • </a:t>
            </a: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ตรวจสอบคำสั่ง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/</a:t>
            </a: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มุมมองกับ 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Eclipse Help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44E1DDB-9639-04F9-2DFC-0B1F7B1B24A6}"/>
              </a:ext>
            </a:extLst>
          </p:cNvPr>
          <p:cNvSpPr/>
          <p:nvPr/>
        </p:nvSpPr>
        <p:spPr>
          <a:xfrm>
            <a:off x="2148840" y="1562877"/>
            <a:ext cx="2971117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ดู </a:t>
            </a:r>
            <a:r>
              <a:rPr lang="en-US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Thread / Stack Frame </a:t>
            </a: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และตำแหน่งที่โปรแกรมหยุด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F50BF341-F9CB-E387-CF9A-E856D40F7D9F}"/>
              </a:ext>
            </a:extLst>
          </p:cNvPr>
          <p:cNvSpPr/>
          <p:nvPr/>
        </p:nvSpPr>
        <p:spPr>
          <a:xfrm>
            <a:off x="2148840" y="2587884"/>
            <a:ext cx="2533497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รวม 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Breakpoint </a:t>
            </a:r>
            <a:r>
              <a:rPr lang="th-TH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ทั้งหมด เปิด 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– </a:t>
            </a:r>
            <a:r>
              <a:rPr lang="th-TH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ปิด หรือลบได้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5C72ADD-12F0-3316-A854-0DD95A8D1C73}"/>
              </a:ext>
            </a:extLst>
          </p:cNvPr>
          <p:cNvSpPr/>
          <p:nvPr/>
        </p:nvSpPr>
        <p:spPr>
          <a:xfrm>
            <a:off x="2144850" y="3533862"/>
            <a:ext cx="2018933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ดูค่าตัวแปรของ 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Stack Frame </a:t>
            </a:r>
            <a:r>
              <a:rPr lang="th-TH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ที่เลือก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946256F-0E16-A17C-C2F5-3B3EE6EEC281}"/>
              </a:ext>
            </a:extLst>
          </p:cNvPr>
          <p:cNvSpPr/>
          <p:nvPr/>
        </p:nvSpPr>
        <p:spPr>
          <a:xfrm>
            <a:off x="2144850" y="4556235"/>
            <a:ext cx="2222514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ดูข้อความ </a:t>
            </a:r>
            <a:r>
              <a:rPr lang="en-US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Output </a:t>
            </a: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และ </a:t>
            </a:r>
            <a:r>
              <a:rPr lang="en-US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Error </a:t>
            </a: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ระหว่างรัน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0890B6-6BB3-8C6F-742C-68BFC80ECDAD}"/>
              </a:ext>
            </a:extLst>
          </p:cNvPr>
          <p:cNvSpPr/>
          <p:nvPr/>
        </p:nvSpPr>
        <p:spPr>
          <a:xfrm>
            <a:off x="6949440" y="3916680"/>
            <a:ext cx="1615440" cy="669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D391E81-E3B1-5391-CD86-A54B4F520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1701221"/>
            <a:ext cx="5988960" cy="3908888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40F80E47-67D9-6EFB-9B00-42323090E7CD}"/>
              </a:ext>
            </a:extLst>
          </p:cNvPr>
          <p:cNvSpPr/>
          <p:nvPr/>
        </p:nvSpPr>
        <p:spPr>
          <a:xfrm>
            <a:off x="6624638" y="1719263"/>
            <a:ext cx="1209675" cy="95251"/>
          </a:xfrm>
          <a:prstGeom prst="rect">
            <a:avLst/>
          </a:prstGeom>
          <a:solidFill>
            <a:srgbClr val="F8F8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32778A5-4A84-C53E-1E67-307F7C51FCC8}"/>
              </a:ext>
            </a:extLst>
          </p:cNvPr>
          <p:cNvSpPr/>
          <p:nvPr/>
        </p:nvSpPr>
        <p:spPr>
          <a:xfrm>
            <a:off x="5532120" y="4114800"/>
            <a:ext cx="1805940" cy="5482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4E23B2-9F89-25EC-5201-F3F683B7650F}"/>
              </a:ext>
            </a:extLst>
          </p:cNvPr>
          <p:cNvSpPr/>
          <p:nvPr/>
        </p:nvSpPr>
        <p:spPr>
          <a:xfrm>
            <a:off x="5863230" y="2472000"/>
            <a:ext cx="969370" cy="115884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7A0CD12-63AD-35D0-C4B8-A3B54BFD4A28}"/>
              </a:ext>
            </a:extLst>
          </p:cNvPr>
          <p:cNvSpPr/>
          <p:nvPr/>
        </p:nvSpPr>
        <p:spPr>
          <a:xfrm>
            <a:off x="8349254" y="2209801"/>
            <a:ext cx="3171825" cy="80602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BB51E843-DB79-4FB4-7A16-AFDF05FCF9D2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V="1">
            <a:off x="6832600" y="2250102"/>
            <a:ext cx="1516654" cy="279840"/>
          </a:xfrm>
          <a:prstGeom prst="curvedConnector3">
            <a:avLst/>
          </a:prstGeom>
          <a:ln w="19050" cap="flat" cmpd="sng" algn="ctr">
            <a:solidFill>
              <a:schemeClr val="accent6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91337B49-9ECD-BE49-3510-F6875306FDF2}"/>
              </a:ext>
            </a:extLst>
          </p:cNvPr>
          <p:cNvSpPr/>
          <p:nvPr/>
        </p:nvSpPr>
        <p:spPr>
          <a:xfrm>
            <a:off x="8349254" y="2904240"/>
            <a:ext cx="1805940" cy="4716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56B48F2-DA57-A97D-8054-B1B1ADE84E41}"/>
              </a:ext>
            </a:extLst>
          </p:cNvPr>
          <p:cNvSpPr/>
          <p:nvPr/>
        </p:nvSpPr>
        <p:spPr>
          <a:xfrm>
            <a:off x="8133080" y="1673280"/>
            <a:ext cx="3479440" cy="9222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502920" y="228600"/>
            <a:ext cx="8137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4. </a:t>
            </a:r>
            <a:r>
              <a:rPr lang="hi-IN" sz="2100" b="1" u="none" strike="noStrike">
                <a:solidFill>
                  <a:srgbClr val="0F172A"/>
                </a:solidFill>
                <a:effectLst/>
                <a:uFillTx/>
                <a:latin typeface="Tahoma"/>
              </a:rPr>
              <a:t>ควบคุมลำดับการทำงานของโปรแกรม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511920" y="65844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90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Step 3: Control the flow of execution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9829228" y="292680"/>
            <a:ext cx="1783292" cy="2091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Java </a:t>
            </a:r>
            <a:r>
              <a:rPr lang="th-TH" sz="1000" dirty="0">
                <a:solidFill>
                  <a:srgbClr val="475569"/>
                </a:solidFill>
                <a:latin typeface="Tahoma"/>
              </a:rPr>
              <a:t>บทที่ </a:t>
            </a:r>
            <a:r>
              <a:rPr lang="en-US" sz="1000" dirty="0">
                <a:solidFill>
                  <a:srgbClr val="475569"/>
                </a:solidFill>
                <a:latin typeface="Tahoma"/>
              </a:rPr>
              <a:t>4</a:t>
            </a: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 • Eclipse Debugging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" y="1234440"/>
            <a:ext cx="4937400" cy="7495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 dirty="0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Rounded Rectangle 6"/>
          <p:cNvSpPr/>
          <p:nvPr/>
        </p:nvSpPr>
        <p:spPr>
          <a:xfrm>
            <a:off x="786240" y="1380600"/>
            <a:ext cx="1170000" cy="43848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solidFill>
              <a:srgbClr val="16A3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TextBox 7"/>
          <p:cNvSpPr/>
          <p:nvPr/>
        </p:nvSpPr>
        <p:spPr>
          <a:xfrm>
            <a:off x="822960" y="149040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 dirty="0">
                <a:solidFill>
                  <a:srgbClr val="FFFFFF"/>
                </a:solidFill>
                <a:effectLst/>
                <a:uFillTx/>
                <a:latin typeface="Tahoma"/>
              </a:rPr>
              <a:t>Resume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2057400" y="138060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onsolas"/>
              </a:rPr>
              <a:t>F8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1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" y="2130480"/>
            <a:ext cx="4937400" cy="7495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Rounded Rectangle 11"/>
          <p:cNvSpPr/>
          <p:nvPr/>
        </p:nvSpPr>
        <p:spPr>
          <a:xfrm>
            <a:off x="786240" y="2277000"/>
            <a:ext cx="1170000" cy="438480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solidFill>
              <a:srgbClr val="DC262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12"/>
          <p:cNvSpPr/>
          <p:nvPr/>
        </p:nvSpPr>
        <p:spPr>
          <a:xfrm>
            <a:off x="822960" y="23864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Terminate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13"/>
          <p:cNvSpPr/>
          <p:nvPr/>
        </p:nvSpPr>
        <p:spPr>
          <a:xfrm>
            <a:off x="2057400" y="227700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onsolas"/>
              </a:rPr>
              <a:t>Ctrl + F2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Rounded Rectangle 1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" y="3026520"/>
            <a:ext cx="4937400" cy="7495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9" name="Rounded Rectangle 16"/>
          <p:cNvSpPr/>
          <p:nvPr/>
        </p:nvSpPr>
        <p:spPr>
          <a:xfrm>
            <a:off x="786240" y="3173040"/>
            <a:ext cx="1170000" cy="438480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7"/>
          <p:cNvSpPr/>
          <p:nvPr/>
        </p:nvSpPr>
        <p:spPr>
          <a:xfrm>
            <a:off x="822960" y="328284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Step Into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8"/>
          <p:cNvSpPr/>
          <p:nvPr/>
        </p:nvSpPr>
        <p:spPr>
          <a:xfrm>
            <a:off x="2057400" y="317304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onsolas"/>
              </a:rPr>
              <a:t>F5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Rounded Rectangle 20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" y="3922920"/>
            <a:ext cx="4937400" cy="7495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Rounded Rectangle 21"/>
          <p:cNvSpPr/>
          <p:nvPr/>
        </p:nvSpPr>
        <p:spPr>
          <a:xfrm>
            <a:off x="786240" y="4069080"/>
            <a:ext cx="1170000" cy="43848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solidFill>
              <a:srgbClr val="D9770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5" name="TextBox 22"/>
          <p:cNvSpPr/>
          <p:nvPr/>
        </p:nvSpPr>
        <p:spPr>
          <a:xfrm>
            <a:off x="822960" y="417888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Step Over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23"/>
          <p:cNvSpPr/>
          <p:nvPr/>
        </p:nvSpPr>
        <p:spPr>
          <a:xfrm>
            <a:off x="2057400" y="406908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onsolas"/>
              </a:rPr>
              <a:t>F6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Rounded Rectangle 25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40080" y="4818960"/>
            <a:ext cx="4937400" cy="7495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Rounded Rectangle 26"/>
          <p:cNvSpPr/>
          <p:nvPr/>
        </p:nvSpPr>
        <p:spPr>
          <a:xfrm>
            <a:off x="786240" y="4965120"/>
            <a:ext cx="1170000" cy="4384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0" name="TextBox 27"/>
          <p:cNvSpPr/>
          <p:nvPr/>
        </p:nvSpPr>
        <p:spPr>
          <a:xfrm>
            <a:off x="822960" y="5074920"/>
            <a:ext cx="1096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FFFFFF"/>
                </a:solidFill>
                <a:effectLst/>
                <a:uFillTx/>
                <a:latin typeface="Tahoma"/>
              </a:rPr>
              <a:t>Step Return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8"/>
          <p:cNvSpPr/>
          <p:nvPr/>
        </p:nvSpPr>
        <p:spPr>
          <a:xfrm>
            <a:off x="2057400" y="4965120"/>
            <a:ext cx="9140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F172A"/>
                </a:solidFill>
                <a:effectLst/>
                <a:uFillTx/>
                <a:latin typeface="Consolas"/>
              </a:rPr>
              <a:t>F7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0"/>
          <p:cNvSpPr/>
          <p:nvPr/>
        </p:nvSpPr>
        <p:spPr>
          <a:xfrm>
            <a:off x="5930247" y="6446880"/>
            <a:ext cx="4891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Tip: </a:t>
            </a:r>
            <a:r>
              <a:rPr lang="hi-IN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ใช้ </a:t>
            </a:r>
            <a:r>
              <a:rPr lang="en-US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F5 </a:t>
            </a:r>
            <a:r>
              <a:rPr lang="hi-IN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เมื่อต้องการเข้าไปตรวจ </a:t>
            </a:r>
            <a:r>
              <a:rPr lang="en-US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Method • </a:t>
            </a:r>
            <a:r>
              <a:rPr lang="hi-IN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ใช้ </a:t>
            </a:r>
            <a:r>
              <a:rPr lang="en-US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F6 </a:t>
            </a:r>
            <a:r>
              <a:rPr lang="hi-IN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เมื่อต้องการข้ามรายละเอียดภายใน </a:t>
            </a:r>
            <a:r>
              <a:rPr lang="en-US" sz="1800" b="1" u="none" strike="noStrike" dirty="0">
                <a:solidFill>
                  <a:srgbClr val="2563EB"/>
                </a:solidFill>
                <a:effectLst/>
                <a:uFillTx/>
                <a:latin typeface="Angsana New"/>
              </a:rPr>
              <a:t>Method</a:t>
            </a:r>
            <a:endParaRPr lang="en-US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Rounded Rectangle 31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806440" y="1143000"/>
            <a:ext cx="5714640" cy="4983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prstDash val="dash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5" name="TextBox 32"/>
          <p:cNvSpPr/>
          <p:nvPr/>
        </p:nvSpPr>
        <p:spPr>
          <a:xfrm>
            <a:off x="5970960" y="1271160"/>
            <a:ext cx="5385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Tahoma"/>
              </a:rPr>
              <a:t>ECLIPSE SCREENSHOT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5"/>
          <p:cNvSpPr/>
          <p:nvPr/>
        </p:nvSpPr>
        <p:spPr>
          <a:xfrm>
            <a:off x="530280" y="651060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เรียบเรียงจาก 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GeeksforGeeks: “How to Debug a Java Project in Eclipse?” • </a:t>
            </a: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ตรวจสอบคำสั่ง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/</a:t>
            </a: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มุมมองกับ 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Eclipse Help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E3B38619-0F85-336C-F7AD-C73F30CD7FDD}"/>
              </a:ext>
            </a:extLst>
          </p:cNvPr>
          <p:cNvSpPr/>
          <p:nvPr/>
        </p:nvSpPr>
        <p:spPr>
          <a:xfrm>
            <a:off x="2775565" y="1449102"/>
            <a:ext cx="2852495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ทำงานต่อจนถึง </a:t>
            </a:r>
            <a:r>
              <a:rPr lang="en-US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Breakpoint </a:t>
            </a: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ถัดไปหรือจบโปรแกรม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5" name="TextBox 7">
            <a:extLst>
              <a:ext uri="{FF2B5EF4-FFF2-40B4-BE49-F238E27FC236}">
                <a16:creationId xmlns:a16="http://schemas.microsoft.com/office/drawing/2014/main" id="{570C615A-A4E3-B1B4-C3CB-988D5E1CDD88}"/>
              </a:ext>
            </a:extLst>
          </p:cNvPr>
          <p:cNvSpPr/>
          <p:nvPr/>
        </p:nvSpPr>
        <p:spPr>
          <a:xfrm>
            <a:off x="3178880" y="2337336"/>
            <a:ext cx="1656655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หยุดการทำงานของโปรแกรม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A0D95E6-E984-B4C2-E20E-1E9634DBE094}"/>
              </a:ext>
            </a:extLst>
          </p:cNvPr>
          <p:cNvSpPr/>
          <p:nvPr/>
        </p:nvSpPr>
        <p:spPr>
          <a:xfrm>
            <a:off x="2775565" y="3241542"/>
            <a:ext cx="2802801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ทำบรรทัดปัจจุบัน และเข้าไปใน </a:t>
            </a:r>
            <a:r>
              <a:rPr lang="en-US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Method </a:t>
            </a: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ที่ถูกเรียก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DD110C48-40A3-07F8-B140-E42BA8AB7CF3}"/>
              </a:ext>
            </a:extLst>
          </p:cNvPr>
          <p:cNvSpPr/>
          <p:nvPr/>
        </p:nvSpPr>
        <p:spPr>
          <a:xfrm>
            <a:off x="2775565" y="4131156"/>
            <a:ext cx="2632883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ทำบรรทัดปัจจุบัน แต่ไม่เข้าไปดูภายใน </a:t>
            </a:r>
            <a:r>
              <a:rPr lang="en-US" sz="1600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Method</a:t>
            </a:r>
            <a:endParaRPr lang="en-US" sz="1600" b="0" u="none" strike="noStrike" dirty="0">
              <a:solidFill>
                <a:srgbClr val="000000"/>
              </a:solidFill>
              <a:effectLst/>
              <a:uFillTx/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6CEDF874-9102-593D-9D66-8E55BF5C4557}"/>
              </a:ext>
            </a:extLst>
          </p:cNvPr>
          <p:cNvSpPr/>
          <p:nvPr/>
        </p:nvSpPr>
        <p:spPr>
          <a:xfrm>
            <a:off x="2775565" y="5020146"/>
            <a:ext cx="2846083" cy="3014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th-TH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ทำงานต่อจน 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Method </a:t>
            </a:r>
            <a:r>
              <a:rPr lang="th-TH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ปัจจุบัน แล้วกลับไปยัง </a:t>
            </a:r>
            <a:r>
              <a:rPr lang="en-US" sz="1600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Caller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8A7B3C8-96C8-A1BF-6858-B15A43A2F6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39"/>
          <a:stretch>
            <a:fillRect/>
          </a:stretch>
        </p:blipFill>
        <p:spPr>
          <a:xfrm>
            <a:off x="6491415" y="2244173"/>
            <a:ext cx="4151621" cy="1060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4831598A-2C7A-3FDB-5FCE-742B3024C897}"/>
              </a:ext>
            </a:extLst>
          </p:cNvPr>
          <p:cNvSpPr/>
          <p:nvPr/>
        </p:nvSpPr>
        <p:spPr>
          <a:xfrm>
            <a:off x="6038716" y="4073302"/>
            <a:ext cx="905400" cy="339316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>
            <a:solidFill>
              <a:srgbClr val="16A34A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TextBox 7">
            <a:extLst>
              <a:ext uri="{FF2B5EF4-FFF2-40B4-BE49-F238E27FC236}">
                <a16:creationId xmlns:a16="http://schemas.microsoft.com/office/drawing/2014/main" id="{13AB7CD0-E2F2-E83A-FCA6-70939BCC4179}"/>
              </a:ext>
            </a:extLst>
          </p:cNvPr>
          <p:cNvSpPr/>
          <p:nvPr/>
        </p:nvSpPr>
        <p:spPr>
          <a:xfrm>
            <a:off x="6066992" y="4121409"/>
            <a:ext cx="848847" cy="232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 dirty="0">
                <a:solidFill>
                  <a:srgbClr val="FFFFFF"/>
                </a:solidFill>
                <a:effectLst/>
                <a:uFillTx/>
                <a:latin typeface="Tahoma"/>
              </a:rPr>
              <a:t>Resume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78A6503F-3673-BA76-243A-11EACA4BDD05}"/>
              </a:ext>
            </a:extLst>
          </p:cNvPr>
          <p:cNvSpPr/>
          <p:nvPr/>
        </p:nvSpPr>
        <p:spPr>
          <a:xfrm>
            <a:off x="7100631" y="4073302"/>
            <a:ext cx="905400" cy="33931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solidFill>
              <a:srgbClr val="DC262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" name="TextBox 12">
            <a:extLst>
              <a:ext uri="{FF2B5EF4-FFF2-40B4-BE49-F238E27FC236}">
                <a16:creationId xmlns:a16="http://schemas.microsoft.com/office/drawing/2014/main" id="{61216062-83B0-96F8-A45D-D437BD4CFC07}"/>
              </a:ext>
            </a:extLst>
          </p:cNvPr>
          <p:cNvSpPr/>
          <p:nvPr/>
        </p:nvSpPr>
        <p:spPr>
          <a:xfrm>
            <a:off x="7128908" y="4121409"/>
            <a:ext cx="848847" cy="232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 dirty="0">
                <a:solidFill>
                  <a:srgbClr val="FFFFFF"/>
                </a:solidFill>
                <a:effectLst/>
                <a:uFillTx/>
                <a:latin typeface="Tahoma"/>
              </a:rPr>
              <a:t>Terminate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Rounded Rectangle 16">
            <a:extLst>
              <a:ext uri="{FF2B5EF4-FFF2-40B4-BE49-F238E27FC236}">
                <a16:creationId xmlns:a16="http://schemas.microsoft.com/office/drawing/2014/main" id="{9C7C6695-132B-CA5A-F84B-FAB0B304D15F}"/>
              </a:ext>
            </a:extLst>
          </p:cNvPr>
          <p:cNvSpPr/>
          <p:nvPr/>
        </p:nvSpPr>
        <p:spPr>
          <a:xfrm>
            <a:off x="8162546" y="4063462"/>
            <a:ext cx="925628" cy="346897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" name="TextBox 17">
            <a:extLst>
              <a:ext uri="{FF2B5EF4-FFF2-40B4-BE49-F238E27FC236}">
                <a16:creationId xmlns:a16="http://schemas.microsoft.com/office/drawing/2014/main" id="{95DEE02E-8F0B-3578-E711-36E8D5125851}"/>
              </a:ext>
            </a:extLst>
          </p:cNvPr>
          <p:cNvSpPr/>
          <p:nvPr/>
        </p:nvSpPr>
        <p:spPr>
          <a:xfrm>
            <a:off x="8192309" y="4120046"/>
            <a:ext cx="914822" cy="232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 dirty="0">
                <a:solidFill>
                  <a:srgbClr val="FFFFFF"/>
                </a:solidFill>
                <a:effectLst/>
                <a:uFillTx/>
                <a:latin typeface="Tahoma"/>
              </a:rPr>
              <a:t>Step Into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Rounded Rectangle 21">
            <a:extLst>
              <a:ext uri="{FF2B5EF4-FFF2-40B4-BE49-F238E27FC236}">
                <a16:creationId xmlns:a16="http://schemas.microsoft.com/office/drawing/2014/main" id="{220B9D6F-7889-58E9-A7E9-DCB049DEC5F1}"/>
              </a:ext>
            </a:extLst>
          </p:cNvPr>
          <p:cNvSpPr/>
          <p:nvPr/>
        </p:nvSpPr>
        <p:spPr>
          <a:xfrm>
            <a:off x="9254306" y="4046170"/>
            <a:ext cx="945925" cy="354504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solidFill>
              <a:srgbClr val="D97706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" name="TextBox 22">
            <a:extLst>
              <a:ext uri="{FF2B5EF4-FFF2-40B4-BE49-F238E27FC236}">
                <a16:creationId xmlns:a16="http://schemas.microsoft.com/office/drawing/2014/main" id="{C6789CEB-667D-5E16-3CDD-1A3DB4A5CAEE}"/>
              </a:ext>
            </a:extLst>
          </p:cNvPr>
          <p:cNvSpPr/>
          <p:nvPr/>
        </p:nvSpPr>
        <p:spPr>
          <a:xfrm>
            <a:off x="9285114" y="4107309"/>
            <a:ext cx="886841" cy="2322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150" b="1" u="none" strike="noStrike" dirty="0">
                <a:solidFill>
                  <a:srgbClr val="FFFFFF"/>
                </a:solidFill>
                <a:effectLst/>
                <a:uFillTx/>
                <a:latin typeface="Tahoma"/>
              </a:rPr>
              <a:t>Step Over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Rounded Rectangle 26">
            <a:extLst>
              <a:ext uri="{FF2B5EF4-FFF2-40B4-BE49-F238E27FC236}">
                <a16:creationId xmlns:a16="http://schemas.microsoft.com/office/drawing/2014/main" id="{90896519-6DC5-81C1-E5BC-6D95C9FE7BFB}"/>
              </a:ext>
            </a:extLst>
          </p:cNvPr>
          <p:cNvSpPr/>
          <p:nvPr/>
        </p:nvSpPr>
        <p:spPr>
          <a:xfrm>
            <a:off x="10366363" y="4046170"/>
            <a:ext cx="945925" cy="354504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solidFill>
              <a:srgbClr val="47556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" name="TextBox 27">
            <a:extLst>
              <a:ext uri="{FF2B5EF4-FFF2-40B4-BE49-F238E27FC236}">
                <a16:creationId xmlns:a16="http://schemas.microsoft.com/office/drawing/2014/main" id="{D87B7F0D-E4ED-7862-3EB7-7CA503412E6E}"/>
              </a:ext>
            </a:extLst>
          </p:cNvPr>
          <p:cNvSpPr/>
          <p:nvPr/>
        </p:nvSpPr>
        <p:spPr>
          <a:xfrm>
            <a:off x="10396400" y="4120046"/>
            <a:ext cx="886841" cy="2168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50" b="1" u="none" strike="noStrike" dirty="0">
                <a:solidFill>
                  <a:srgbClr val="FFFFFF"/>
                </a:solidFill>
                <a:effectLst/>
                <a:uFillTx/>
                <a:latin typeface="Tahoma"/>
              </a:rPr>
              <a:t>Step Return</a:t>
            </a:r>
            <a:endParaRPr lang="en-US" sz="10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Isosceles Triangle 35">
            <a:extLst>
              <a:ext uri="{FF2B5EF4-FFF2-40B4-BE49-F238E27FC236}">
                <a16:creationId xmlns:a16="http://schemas.microsoft.com/office/drawing/2014/main" id="{AD10F123-A88B-0D28-1F66-88D69AC3424F}"/>
              </a:ext>
            </a:extLst>
          </p:cNvPr>
          <p:cNvSpPr/>
          <p:nvPr/>
        </p:nvSpPr>
        <p:spPr>
          <a:xfrm>
            <a:off x="6573520" y="2927986"/>
            <a:ext cx="114300" cy="98534"/>
          </a:xfrm>
          <a:prstGeom prst="triangle">
            <a:avLst/>
          </a:prstGeom>
          <a:solidFill>
            <a:srgbClr val="16A34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Isosceles Triangle 37">
            <a:extLst>
              <a:ext uri="{FF2B5EF4-FFF2-40B4-BE49-F238E27FC236}">
                <a16:creationId xmlns:a16="http://schemas.microsoft.com/office/drawing/2014/main" id="{F690974D-D91D-6AA1-E0BC-8CC45CCF1786}"/>
              </a:ext>
            </a:extLst>
          </p:cNvPr>
          <p:cNvSpPr/>
          <p:nvPr/>
        </p:nvSpPr>
        <p:spPr>
          <a:xfrm>
            <a:off x="7372795" y="2926673"/>
            <a:ext cx="114300" cy="98534"/>
          </a:xfrm>
          <a:prstGeom prst="triangle">
            <a:avLst/>
          </a:prstGeom>
          <a:solidFill>
            <a:srgbClr val="DC262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Isosceles Triangle 39">
            <a:extLst>
              <a:ext uri="{FF2B5EF4-FFF2-40B4-BE49-F238E27FC236}">
                <a16:creationId xmlns:a16="http://schemas.microsoft.com/office/drawing/2014/main" id="{8FED713B-A184-F903-12B5-8EB5E809ED8A}"/>
              </a:ext>
            </a:extLst>
          </p:cNvPr>
          <p:cNvSpPr/>
          <p:nvPr/>
        </p:nvSpPr>
        <p:spPr>
          <a:xfrm>
            <a:off x="8069664" y="2926673"/>
            <a:ext cx="114300" cy="98534"/>
          </a:xfrm>
          <a:prstGeom prst="triangle">
            <a:avLst/>
          </a:prstGeom>
          <a:solidFill>
            <a:srgbClr val="2563E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41">
            <a:extLst>
              <a:ext uri="{FF2B5EF4-FFF2-40B4-BE49-F238E27FC236}">
                <a16:creationId xmlns:a16="http://schemas.microsoft.com/office/drawing/2014/main" id="{78B0176A-EC18-C9C7-0C6D-46BAF04D8D54}"/>
              </a:ext>
            </a:extLst>
          </p:cNvPr>
          <p:cNvSpPr/>
          <p:nvPr/>
        </p:nvSpPr>
        <p:spPr>
          <a:xfrm>
            <a:off x="8451536" y="2926673"/>
            <a:ext cx="114300" cy="98534"/>
          </a:xfrm>
          <a:prstGeom prst="triangle">
            <a:avLst/>
          </a:prstGeom>
          <a:solidFill>
            <a:srgbClr val="D9770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E2797F2F-4619-D901-8856-F95680F069EC}"/>
              </a:ext>
            </a:extLst>
          </p:cNvPr>
          <p:cNvSpPr/>
          <p:nvPr/>
        </p:nvSpPr>
        <p:spPr>
          <a:xfrm>
            <a:off x="8833408" y="2928840"/>
            <a:ext cx="114300" cy="98534"/>
          </a:xfrm>
          <a:prstGeom prst="triangle">
            <a:avLst/>
          </a:prstGeom>
          <a:solidFill>
            <a:srgbClr val="47556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Connector: Curved 45">
            <a:extLst>
              <a:ext uri="{FF2B5EF4-FFF2-40B4-BE49-F238E27FC236}">
                <a16:creationId xmlns:a16="http://schemas.microsoft.com/office/drawing/2014/main" id="{F9A2791D-A965-166A-1628-3FF91C2DCDE1}"/>
              </a:ext>
            </a:extLst>
          </p:cNvPr>
          <p:cNvCxnSpPr>
            <a:stCxn id="36" idx="3"/>
            <a:endCxn id="17" idx="0"/>
          </p:cNvCxnSpPr>
          <p:nvPr/>
        </p:nvCxnSpPr>
        <p:spPr>
          <a:xfrm rot="5400000">
            <a:off x="6037652" y="3480284"/>
            <a:ext cx="1046782" cy="139254"/>
          </a:xfrm>
          <a:prstGeom prst="curvedConnector3">
            <a:avLst/>
          </a:prstGeom>
          <a:ln w="19050" cap="flat" cmpd="sng" algn="ctr">
            <a:solidFill>
              <a:srgbClr val="16A34A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7" name="Connector: Curved 46">
            <a:extLst>
              <a:ext uri="{FF2B5EF4-FFF2-40B4-BE49-F238E27FC236}">
                <a16:creationId xmlns:a16="http://schemas.microsoft.com/office/drawing/2014/main" id="{8021A783-BB5F-D3D3-5622-0D4646EB5D22}"/>
              </a:ext>
            </a:extLst>
          </p:cNvPr>
          <p:cNvCxnSpPr>
            <a:cxnSpLocks/>
            <a:stCxn id="38" idx="3"/>
            <a:endCxn id="21" idx="0"/>
          </p:cNvCxnSpPr>
          <p:nvPr/>
        </p:nvCxnSpPr>
        <p:spPr>
          <a:xfrm rot="16200000" flipH="1">
            <a:off x="6967591" y="3487561"/>
            <a:ext cx="1048095" cy="123386"/>
          </a:xfrm>
          <a:prstGeom prst="curvedConnector3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0" name="Connector: Curved 49">
            <a:extLst>
              <a:ext uri="{FF2B5EF4-FFF2-40B4-BE49-F238E27FC236}">
                <a16:creationId xmlns:a16="http://schemas.microsoft.com/office/drawing/2014/main" id="{E75FCA9D-FACF-E822-722E-4E7247CEFF01}"/>
              </a:ext>
            </a:extLst>
          </p:cNvPr>
          <p:cNvCxnSpPr>
            <a:cxnSpLocks/>
            <a:stCxn id="40" idx="3"/>
            <a:endCxn id="25" idx="0"/>
          </p:cNvCxnSpPr>
          <p:nvPr/>
        </p:nvCxnSpPr>
        <p:spPr>
          <a:xfrm rot="16200000" flipH="1">
            <a:off x="7856960" y="3295061"/>
            <a:ext cx="1038255" cy="498546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rgbClr val="2563EB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Connector: Curved 52">
            <a:extLst>
              <a:ext uri="{FF2B5EF4-FFF2-40B4-BE49-F238E27FC236}">
                <a16:creationId xmlns:a16="http://schemas.microsoft.com/office/drawing/2014/main" id="{60D932D9-33E4-0256-4D2A-859C76B18D1C}"/>
              </a:ext>
            </a:extLst>
          </p:cNvPr>
          <p:cNvCxnSpPr>
            <a:cxnSpLocks/>
            <a:stCxn id="42" idx="3"/>
            <a:endCxn id="29" idx="0"/>
          </p:cNvCxnSpPr>
          <p:nvPr/>
        </p:nvCxnSpPr>
        <p:spPr>
          <a:xfrm rot="16200000" flipH="1">
            <a:off x="8607496" y="2926396"/>
            <a:ext cx="1020963" cy="1218583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rgbClr val="D9770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nector: Curved 55">
            <a:extLst>
              <a:ext uri="{FF2B5EF4-FFF2-40B4-BE49-F238E27FC236}">
                <a16:creationId xmlns:a16="http://schemas.microsoft.com/office/drawing/2014/main" id="{8C739B0A-0221-4B49-ED97-3AF1EA17211A}"/>
              </a:ext>
            </a:extLst>
          </p:cNvPr>
          <p:cNvCxnSpPr>
            <a:cxnSpLocks/>
            <a:stCxn id="44" idx="3"/>
            <a:endCxn id="33" idx="0"/>
          </p:cNvCxnSpPr>
          <p:nvPr/>
        </p:nvCxnSpPr>
        <p:spPr>
          <a:xfrm rot="16200000" flipH="1">
            <a:off x="9355544" y="2562388"/>
            <a:ext cx="1018796" cy="1948768"/>
          </a:xfrm>
          <a:prstGeom prst="curvedConnector3">
            <a:avLst>
              <a:gd name="adj1" fmla="val 50000"/>
            </a:avLst>
          </a:prstGeom>
          <a:ln w="19050" cap="flat" cmpd="sng" algn="ctr">
            <a:solidFill>
              <a:srgbClr val="475569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Rectangle 1"/>
          <p:cNvSpPr/>
          <p:nvPr/>
        </p:nvSpPr>
        <p:spPr>
          <a:xfrm>
            <a:off x="0" y="0"/>
            <a:ext cx="12191400" cy="10944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0" name="TextBox 2"/>
          <p:cNvSpPr/>
          <p:nvPr/>
        </p:nvSpPr>
        <p:spPr>
          <a:xfrm>
            <a:off x="502920" y="228600"/>
            <a:ext cx="81378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100" b="1" u="none" strike="noStrike" dirty="0">
                <a:solidFill>
                  <a:srgbClr val="0F172A"/>
                </a:solidFill>
                <a:effectLst/>
                <a:uFillTx/>
                <a:latin typeface="Tahoma"/>
              </a:rPr>
              <a:t>5. </a:t>
            </a:r>
            <a:r>
              <a:rPr lang="hi-IN" sz="2100" b="1" u="none" strike="noStrike" dirty="0">
                <a:solidFill>
                  <a:srgbClr val="0F172A"/>
                </a:solidFill>
                <a:effectLst/>
                <a:uFillTx/>
                <a:latin typeface="Tahoma"/>
              </a:rPr>
              <a:t>ตรวจค่าด้วย </a:t>
            </a:r>
            <a:r>
              <a:rPr lang="en-US" sz="2100" b="1" u="none" strike="noStrike" dirty="0">
                <a:solidFill>
                  <a:srgbClr val="0F172A"/>
                </a:solidFill>
                <a:effectLst/>
                <a:uFillTx/>
                <a:latin typeface="Tahoma"/>
              </a:rPr>
              <a:t>Variables View</a:t>
            </a:r>
            <a:endParaRPr lang="en-US" sz="2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Box 3"/>
          <p:cNvSpPr/>
          <p:nvPr/>
        </p:nvSpPr>
        <p:spPr>
          <a:xfrm>
            <a:off x="511920" y="658440"/>
            <a:ext cx="81378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i-IN" sz="190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เพิ่มจากบทความ</a:t>
            </a:r>
            <a:r>
              <a:rPr lang="en-US" sz="190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: </a:t>
            </a:r>
            <a:r>
              <a:rPr lang="hi-IN" sz="1900" b="0" u="none" strike="noStrike" dirty="0">
                <a:solidFill>
                  <a:srgbClr val="475569"/>
                </a:solidFill>
                <a:effectLst/>
                <a:uFillTx/>
                <a:latin typeface="Angsana New"/>
              </a:rPr>
              <a:t>ดูค่าตัวแปรขณะที่โปรแกรมหยุด</a:t>
            </a:r>
            <a:endParaRPr lang="en-US" sz="1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4"/>
          <p:cNvSpPr/>
          <p:nvPr/>
        </p:nvSpPr>
        <p:spPr>
          <a:xfrm>
            <a:off x="9829228" y="292680"/>
            <a:ext cx="1783292" cy="2091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 anchorCtr="1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Java </a:t>
            </a:r>
            <a:r>
              <a:rPr lang="th-TH" sz="1000" dirty="0">
                <a:solidFill>
                  <a:srgbClr val="475569"/>
                </a:solidFill>
                <a:latin typeface="Tahoma"/>
              </a:rPr>
              <a:t>บทที่ </a:t>
            </a:r>
            <a:r>
              <a:rPr lang="en-US" sz="1000" dirty="0">
                <a:solidFill>
                  <a:srgbClr val="475569"/>
                </a:solidFill>
                <a:latin typeface="Tahoma"/>
              </a:rPr>
              <a:t>4</a:t>
            </a:r>
            <a:r>
              <a:rPr lang="en-US" sz="1000" b="0" u="none" strike="noStrike" dirty="0">
                <a:solidFill>
                  <a:srgbClr val="475569"/>
                </a:solidFill>
                <a:effectLst/>
                <a:uFillTx/>
                <a:latin typeface="Tahoma"/>
              </a:rPr>
              <a:t> • Eclipse Debugging</a:t>
            </a:r>
            <a:endParaRPr lang="en-US" sz="10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5"/>
          <p:cNvSpPr/>
          <p:nvPr/>
        </p:nvSpPr>
        <p:spPr>
          <a:xfrm>
            <a:off x="640080" y="1115640"/>
            <a:ext cx="4617360" cy="475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 dirty="0">
                <a:solidFill>
                  <a:srgbClr val="0F172A"/>
                </a:solidFill>
                <a:effectLst/>
                <a:uFillTx/>
                <a:latin typeface="Angsana New"/>
              </a:rPr>
              <a:t>Variables View </a:t>
            </a:r>
            <a:r>
              <a:rPr lang="hi-IN" sz="2200" b="1" u="none" strike="noStrike" dirty="0">
                <a:solidFill>
                  <a:srgbClr val="0F172A"/>
                </a:solidFill>
                <a:effectLst/>
                <a:uFillTx/>
                <a:latin typeface="Angsana New"/>
              </a:rPr>
              <a:t>แสดงค่าตัวแปรที่อยู่ใน </a:t>
            </a:r>
            <a:r>
              <a:rPr lang="en-US" sz="2200" b="1" u="none" strike="noStrike" dirty="0">
                <a:solidFill>
                  <a:srgbClr val="0F172A"/>
                </a:solidFill>
                <a:effectLst/>
                <a:uFillTx/>
                <a:latin typeface="Angsana New"/>
              </a:rPr>
              <a:t>Stack Frame </a:t>
            </a:r>
            <a:r>
              <a:rPr lang="hi-IN" sz="2200" b="1" u="none" strike="noStrike" dirty="0">
                <a:solidFill>
                  <a:srgbClr val="0F172A"/>
                </a:solidFill>
                <a:effectLst/>
                <a:uFillTx/>
                <a:latin typeface="Angsana New"/>
              </a:rPr>
              <a:t>ที่กำลังเลือก</a:t>
            </a:r>
            <a:endParaRPr lang="en-US" sz="22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ounded Rectangle 6"/>
          <p:cNvSpPr/>
          <p:nvPr/>
        </p:nvSpPr>
        <p:spPr>
          <a:xfrm>
            <a:off x="640080" y="1737360"/>
            <a:ext cx="4480200" cy="1599840"/>
          </a:xfrm>
          <a:prstGeom prst="roundRect">
            <a:avLst>
              <a:gd name="adj" fmla="val 12000"/>
            </a:avLst>
          </a:prstGeom>
          <a:solidFill>
            <a:srgbClr val="0D1627"/>
          </a:solidFill>
          <a:ln>
            <a:solidFill>
              <a:srgbClr val="0D162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7"/>
          <p:cNvSpPr/>
          <p:nvPr/>
        </p:nvSpPr>
        <p:spPr>
          <a:xfrm>
            <a:off x="804600" y="1847160"/>
            <a:ext cx="4151160" cy="138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spAutoFit/>
          </a:bodyPr>
          <a:lstStyle/>
          <a:p>
            <a:r>
              <a:rPr lang="en-US" sz="1500" b="0" u="none" strike="noStrike" dirty="0">
                <a:solidFill>
                  <a:srgbClr val="FFFFFF"/>
                </a:solidFill>
                <a:effectLst/>
                <a:uFillTx/>
                <a:latin typeface="Consolas"/>
              </a:rPr>
              <a:t>int x = 10;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 dirty="0">
                <a:solidFill>
                  <a:srgbClr val="FFFFFF"/>
                </a:solidFill>
                <a:effectLst/>
                <a:uFillTx/>
                <a:latin typeface="Consolas"/>
              </a:rPr>
              <a:t>int y = 2;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1500" b="0" u="none" strike="noStrike" dirty="0">
                <a:solidFill>
                  <a:srgbClr val="FFFFFF"/>
                </a:solidFill>
                <a:effectLst/>
                <a:uFillTx/>
                <a:latin typeface="Consolas"/>
              </a:rPr>
              <a:t>int result = x / y;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500" b="0" u="none" strike="noStrike" dirty="0">
                <a:solidFill>
                  <a:srgbClr val="FFFFFF"/>
                </a:solidFill>
                <a:effectLst/>
                <a:uFillTx/>
                <a:latin typeface="Consolas"/>
              </a:rPr>
              <a:t>String aircraft = "F-16";</a:t>
            </a:r>
            <a:endParaRPr lang="en-US" sz="15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ounded Rectangle 9"/>
          <p:cNvSpPr/>
          <p:nvPr/>
        </p:nvSpPr>
        <p:spPr>
          <a:xfrm>
            <a:off x="5532120" y="1143000"/>
            <a:ext cx="5988960" cy="498312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solidFill>
              <a:srgbClr val="94A3B8"/>
            </a:solidFill>
            <a:prstDash val="dash"/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10"/>
          <p:cNvSpPr/>
          <p:nvPr/>
        </p:nvSpPr>
        <p:spPr>
          <a:xfrm>
            <a:off x="5696640" y="1271160"/>
            <a:ext cx="56599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1" u="none" strike="noStrike">
                <a:solidFill>
                  <a:srgbClr val="475569"/>
                </a:solidFill>
                <a:effectLst/>
                <a:uFillTx/>
                <a:latin typeface="Tahoma"/>
              </a:rPr>
              <a:t>ECLIPSE SCREENSHOT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1"/>
          <p:cNvSpPr/>
          <p:nvPr/>
        </p:nvSpPr>
        <p:spPr>
          <a:xfrm>
            <a:off x="5852160" y="3136320"/>
            <a:ext cx="5348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94A3B8"/>
                </a:solidFill>
                <a:effectLst/>
                <a:uFillTx/>
                <a:latin typeface="Tahoma"/>
              </a:rPr>
              <a:t>Variables View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Box 13"/>
          <p:cNvSpPr/>
          <p:nvPr/>
        </p:nvSpPr>
        <p:spPr>
          <a:xfrm>
            <a:off x="530280" y="6510600"/>
            <a:ext cx="1106388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เรียบเรียงจาก 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GeeksforGeeks: “How to Debug a Java Project in Eclipse?” • </a:t>
            </a: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ตรวจสอบคำสั่ง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/</a:t>
            </a:r>
            <a:r>
              <a:rPr lang="hi-IN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มุมมองกับ </a:t>
            </a:r>
            <a:r>
              <a:rPr lang="en-US" sz="1050" b="0" u="none" strike="noStrike">
                <a:solidFill>
                  <a:srgbClr val="475569"/>
                </a:solidFill>
                <a:effectLst/>
                <a:uFillTx/>
                <a:latin typeface="Angsana New"/>
              </a:rPr>
              <a:t>Eclipse Help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TextBox 20">
            <a:extLst>
              <a:ext uri="{FF2B5EF4-FFF2-40B4-BE49-F238E27FC236}">
                <a16:creationId xmlns:a16="http://schemas.microsoft.com/office/drawing/2014/main" id="{96ADD9C8-7A9B-DA7C-FF39-747E14C37A72}"/>
              </a:ext>
            </a:extLst>
          </p:cNvPr>
          <p:cNvSpPr/>
          <p:nvPr/>
        </p:nvSpPr>
        <p:spPr>
          <a:xfrm>
            <a:off x="5852160" y="3136320"/>
            <a:ext cx="53488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27360" tIns="27360" rIns="27360" bIns="27360" anchor="ctr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700" b="1" u="none" strike="noStrike">
                <a:solidFill>
                  <a:srgbClr val="94A3B8"/>
                </a:solidFill>
                <a:effectLst/>
                <a:uFillTx/>
                <a:latin typeface="Tahoma"/>
              </a:rPr>
              <a:t>Eclipse Debug Perspective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ADB0559-18DF-770D-F1CB-C6DFE1931A55}"/>
              </a:ext>
            </a:extLst>
          </p:cNvPr>
          <p:cNvSpPr/>
          <p:nvPr/>
        </p:nvSpPr>
        <p:spPr>
          <a:xfrm>
            <a:off x="6662115" y="4067945"/>
            <a:ext cx="1615440" cy="6691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8505E-415A-391D-D0E8-1D2475FCC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220" y="1701221"/>
            <a:ext cx="5953309" cy="38856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F058E73-947E-FCCD-05D4-09EB5EE8CE6E}"/>
              </a:ext>
            </a:extLst>
          </p:cNvPr>
          <p:cNvSpPr/>
          <p:nvPr/>
        </p:nvSpPr>
        <p:spPr>
          <a:xfrm>
            <a:off x="6624638" y="1719263"/>
            <a:ext cx="1209675" cy="95251"/>
          </a:xfrm>
          <a:prstGeom prst="rect">
            <a:avLst/>
          </a:prstGeom>
          <a:solidFill>
            <a:srgbClr val="F8F8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084663-B0F6-E34D-6FAF-DA0F658F3106}"/>
              </a:ext>
            </a:extLst>
          </p:cNvPr>
          <p:cNvSpPr/>
          <p:nvPr/>
        </p:nvSpPr>
        <p:spPr>
          <a:xfrm>
            <a:off x="5863230" y="2354317"/>
            <a:ext cx="969370" cy="233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4EE7F2-A60F-4B15-D3AD-FE6EF53463D1}"/>
              </a:ext>
            </a:extLst>
          </p:cNvPr>
          <p:cNvSpPr/>
          <p:nvPr/>
        </p:nvSpPr>
        <p:spPr>
          <a:xfrm>
            <a:off x="8349254" y="2056836"/>
            <a:ext cx="3171825" cy="23356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E23797F8-3DE3-06B1-3BC7-C7D86EF7B0C3}"/>
              </a:ext>
            </a:extLst>
          </p:cNvPr>
          <p:cNvCxnSpPr>
            <a:cxnSpLocks/>
            <a:stCxn id="7" idx="3"/>
            <a:endCxn id="8" idx="1"/>
          </p:cNvCxnSpPr>
          <p:nvPr/>
        </p:nvCxnSpPr>
        <p:spPr>
          <a:xfrm flipV="1">
            <a:off x="6832600" y="2173620"/>
            <a:ext cx="1516654" cy="297481"/>
          </a:xfrm>
          <a:prstGeom prst="curvedConnector3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8C0F6ACF-AF13-80D6-BE5D-FED1E95315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4572" r="76112" b="18760"/>
          <a:stretch>
            <a:fillRect/>
          </a:stretch>
        </p:blipFill>
        <p:spPr>
          <a:xfrm>
            <a:off x="5257440" y="3481974"/>
            <a:ext cx="3532202" cy="25736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92F3E5B-B700-E7FA-CBF4-57B49C23F889}"/>
              </a:ext>
            </a:extLst>
          </p:cNvPr>
          <p:cNvSpPr/>
          <p:nvPr/>
        </p:nvSpPr>
        <p:spPr>
          <a:xfrm>
            <a:off x="5218807" y="4205282"/>
            <a:ext cx="2485343" cy="1144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DCFE710-ACC8-0C7E-C518-937933131091}"/>
              </a:ext>
            </a:extLst>
          </p:cNvPr>
          <p:cNvCxnSpPr>
            <a:cxnSpLocks/>
          </p:cNvCxnSpPr>
          <p:nvPr/>
        </p:nvCxnSpPr>
        <p:spPr>
          <a:xfrm flipH="1" flipV="1">
            <a:off x="5409315" y="4777432"/>
            <a:ext cx="471487" cy="57932"/>
          </a:xfrm>
          <a:prstGeom prst="straightConnector1">
            <a:avLst/>
          </a:prstGeom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32B8746-E38F-47F7-5336-59DADD3D32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6462"/>
          <a:stretch>
            <a:fillRect/>
          </a:stretch>
        </p:blipFill>
        <p:spPr>
          <a:xfrm>
            <a:off x="787909" y="1817503"/>
            <a:ext cx="4184542" cy="143955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3" name="TextBox 6">
            <a:extLst>
              <a:ext uri="{FF2B5EF4-FFF2-40B4-BE49-F238E27FC236}">
                <a16:creationId xmlns:a16="http://schemas.microsoft.com/office/drawing/2014/main" id="{3570441E-5022-BE13-47EF-0F1696B71BD3}"/>
              </a:ext>
            </a:extLst>
          </p:cNvPr>
          <p:cNvSpPr/>
          <p:nvPr/>
        </p:nvSpPr>
        <p:spPr>
          <a:xfrm>
            <a:off x="640080" y="3782314"/>
            <a:ext cx="4754520" cy="9706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360" tIns="18360" rIns="18360" bIns="18360" anchor="t">
            <a:spAutoFit/>
          </a:bodyPr>
          <a:lstStyle/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ดูค่า </a:t>
            </a:r>
            <a:r>
              <a:rPr lang="en-US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Local Variables </a:t>
            </a:r>
            <a:r>
              <a:rPr lang="th-TH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และ </a:t>
            </a:r>
            <a:r>
              <a:rPr lang="en-US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Fields </a:t>
            </a:r>
            <a:r>
              <a:rPr lang="th-TH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ได้ทันที</a:t>
            </a:r>
          </a:p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Object </a:t>
            </a:r>
            <a:r>
              <a:rPr lang="th-TH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สามารถกางดู </a:t>
            </a:r>
            <a:r>
              <a:rPr lang="en-US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Field </a:t>
            </a:r>
            <a:r>
              <a:rPr lang="th-TH" b="0" u="none" strike="noStrike" dirty="0">
                <a:solidFill>
                  <a:srgbClr val="000000"/>
                </a:solidFill>
                <a:effectLst/>
                <a:uFillTx/>
                <a:latin typeface="Angsana New" panose="02020603050405020304" pitchFamily="18" charset="-34"/>
                <a:cs typeface="Angsana New" panose="02020603050405020304" pitchFamily="18" charset="-34"/>
              </a:rPr>
              <a:t>ข้างในได้</a:t>
            </a:r>
          </a:p>
          <a:p>
            <a:pPr marL="285750" indent="-285750" defTabSz="457200">
              <a:lnSpc>
                <a:spcPct val="100000"/>
              </a:lnSpc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ค่าจะเปลี่ยนตามจุดที่โปรแกรมหยุด และ </a:t>
            </a:r>
            <a:r>
              <a:rPr lang="en-US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Stack Frame </a:t>
            </a:r>
            <a:r>
              <a:rPr lang="th-TH" dirty="0">
                <a:solidFill>
                  <a:srgbClr val="00000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ที่เลือก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Words>593</Words>
  <Application>Microsoft Office PowerPoint</Application>
  <PresentationFormat>Widescreen</PresentationFormat>
  <Paragraphs>92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Angsana New</vt:lpstr>
      <vt:lpstr>Aptos</vt:lpstr>
      <vt:lpstr>Arial</vt:lpstr>
      <vt:lpstr>Calibri</vt:lpstr>
      <vt:lpstr>Consolas</vt:lpstr>
      <vt:lpstr>Symbol</vt:lpstr>
      <vt:lpstr>Tahoma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chattrakul</dc:creator>
  <cp:lastModifiedBy>จิรเมธ แสนทอง</cp:lastModifiedBy>
  <cp:revision>1</cp:revision>
  <dcterms:modified xsi:type="dcterms:W3CDTF">2026-10-16T04:49:25Z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