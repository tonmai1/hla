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30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754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800" b="1" dirty="0">
                <a:solidFill>
                  <a:srgbClr val="F9B115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</a:t>
            </a:r>
            <a:r>
              <a:rPr lang="en-US" sz="800" b="1" dirty="0">
                <a:solidFill>
                  <a:srgbClr val="F9B115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30352" y="11430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Java Fundamentals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&amp; Program Logic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239572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3E6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เขียน Logic พื้นฐานให้ได้ ก่อนขยับไปอ่านโค้ด HLA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712464"/>
            <a:ext cx="4983480" cy="9144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05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"Ready for Day 1"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6" name="Shape 4"/>
          <p:cNvSpPr/>
          <p:nvPr/>
        </p:nvSpPr>
        <p:spPr>
          <a:xfrm>
            <a:off x="6492240" y="2788920"/>
            <a:ext cx="731520" cy="7315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94754" y="3084957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Variable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33488" y="2999232"/>
            <a:ext cx="320040" cy="320040"/>
          </a:xfrm>
          <a:prstGeom prst="chevron">
            <a:avLst/>
          </a:prstGeom>
          <a:solidFill>
            <a:srgbClr val="4B5F7A"/>
          </a:solidFill>
          <a:ln w="12700">
            <a:solidFill>
              <a:srgbClr val="4B5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26680" y="2788920"/>
            <a:ext cx="731520" cy="731520"/>
          </a:xfrm>
          <a:prstGeom prst="ellipse">
            <a:avLst/>
          </a:prstGeom>
          <a:solidFill>
            <a:srgbClr val="2F7EF7"/>
          </a:solidFill>
          <a:ln w="12700">
            <a:solidFill>
              <a:srgbClr val="2F7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29194" y="3084957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3524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Logic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67928" y="2999232"/>
            <a:ext cx="320040" cy="320040"/>
          </a:xfrm>
          <a:prstGeom prst="chevron">
            <a:avLst/>
          </a:prstGeom>
          <a:solidFill>
            <a:srgbClr val="4B5F7A"/>
          </a:solidFill>
          <a:ln w="12700">
            <a:solidFill>
              <a:srgbClr val="4B5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961120" y="2788920"/>
            <a:ext cx="731520" cy="73152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63634" y="3084957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86968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Loop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802368" y="2999232"/>
            <a:ext cx="320040" cy="320040"/>
          </a:xfrm>
          <a:prstGeom prst="chevron">
            <a:avLst/>
          </a:prstGeom>
          <a:solidFill>
            <a:srgbClr val="4B5F7A"/>
          </a:solidFill>
          <a:ln w="12700">
            <a:solidFill>
              <a:srgbClr val="4B5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195560" y="2788920"/>
            <a:ext cx="731520" cy="731520"/>
          </a:xfrm>
          <a:prstGeom prst="ellipse">
            <a:avLst/>
          </a:prstGeom>
          <a:solidFill>
            <a:srgbClr val="F9B115"/>
          </a:solidFill>
          <a:ln w="12700">
            <a:solidFill>
              <a:srgbClr val="F9B1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498074" y="3084957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104120" y="3657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Array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3836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9B6CC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Java Foundation for HLA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468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r>
              <a:rPr lang="en-US" sz="2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ทำอะไรบ้าง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2011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r>
              <a:rPr lang="en-US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/ 2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Java Foundation for HLA • </a:t>
            </a:r>
            <a:r>
              <a:rPr lang="th-TH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12064" cy="512064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1629156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1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399032" y="1554480"/>
            <a:ext cx="292608" cy="29260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" y="2148840"/>
            <a:ext cx="12344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Variable &amp; Type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" y="2487168"/>
            <a:ext cx="1691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เก็บข้อมูลให้ถูกชนิด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80" y="1417320"/>
            <a:ext cx="512064" cy="512064"/>
          </a:xfrm>
          <a:prstGeom prst="ellipse">
            <a:avLst/>
          </a:prstGeom>
          <a:solidFill>
            <a:srgbClr val="2F7EF7"/>
          </a:solidFill>
          <a:ln w="12700">
            <a:solidFill>
              <a:srgbClr val="2F7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18104" y="1629156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2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639312" y="1554480"/>
            <a:ext cx="292608" cy="29260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78608" y="2148840"/>
            <a:ext cx="12344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Operators &amp; String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2487168"/>
            <a:ext cx="1691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คำนวณ / เปรียบเทียบ / ต่อข้อความ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66360" y="1417320"/>
            <a:ext cx="512064" cy="512064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58384" y="1629156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3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79592" y="1554480"/>
            <a:ext cx="292608" cy="29260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2148840"/>
            <a:ext cx="12344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User Input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487168"/>
            <a:ext cx="1691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รับค่าจาก Keyboard ด้วย Scanner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06640" y="1417320"/>
            <a:ext cx="512064" cy="512064"/>
          </a:xfrm>
          <a:prstGeom prst="ellipse">
            <a:avLst/>
          </a:prstGeom>
          <a:solidFill>
            <a:srgbClr val="F9B115"/>
          </a:solidFill>
          <a:ln w="12700">
            <a:solidFill>
              <a:srgbClr val="F9B1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98664" y="1629156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4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119872" y="1554480"/>
            <a:ext cx="292608" cy="29260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59168" y="2148840"/>
            <a:ext cx="12344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Control Logic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2487168"/>
            <a:ext cx="1691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if / switch / loop / break / continue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646920" y="1417320"/>
            <a:ext cx="512064" cy="512064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38944" y="1629156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5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299448" y="2148840"/>
            <a:ext cx="12344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Array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52560" y="2487168"/>
            <a:ext cx="1691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เก็บข้อมูลหลายค่า และวนอ่านข้อมูล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143000" y="406908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61288" y="4178808"/>
            <a:ext cx="45720" cy="649224"/>
          </a:xfrm>
          <a:prstGeom prst="rect">
            <a:avLst/>
          </a:prstGeom>
          <a:solidFill>
            <a:srgbClr val="F9B115"/>
          </a:solidFill>
          <a:ln w="12700">
            <a:solidFill>
              <a:srgbClr val="F9B1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7160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ผลลัพธ์หลังจบ</a:t>
            </a:r>
            <a:r>
              <a:rPr lang="en-US" sz="12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</a:t>
            </a:r>
            <a:r>
              <a:rPr lang="th-TH" sz="12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11880" y="4224528"/>
            <a:ext cx="69037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ผู้เรียนควรอ่าน flow โปรแกรมพื้นฐานได้ และเขียนโปรแกรมรับข้อมูล → ตัดสินใจ → ทำซ้ำ → เก็บผลลัพธ์ใน Array ได้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468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Variables &amp; Data Types — กล่องเก็บข้อมูล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2011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r>
              <a:rPr lang="en-US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/ 3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Java Foundation for HLA • </a:t>
            </a:r>
            <a:r>
              <a:rPr lang="th-TH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5776" y="1142999"/>
            <a:ext cx="61151" cy="4434839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389888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Primitive Types ที่ต้องรู้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822960" cy="274320"/>
          </a:xfrm>
          <a:prstGeom prst="rect">
            <a:avLst/>
          </a:prstGeom>
          <a:solidFill>
            <a:srgbClr val="FF7A1A"/>
          </a:solidFill>
          <a:ln>
            <a:solidFill>
              <a:srgbClr val="FF7A1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901952"/>
            <a:ext cx="1188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จำนวนเต็ม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1901952"/>
            <a:ext cx="685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10</a:t>
            </a:r>
            <a:endParaRPr lang="en-US" sz="1100" b="1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822960" cy="274320"/>
          </a:xfrm>
          <a:prstGeom prst="rect">
            <a:avLst/>
          </a:prstGeom>
          <a:solidFill>
            <a:srgbClr val="2F7EF7"/>
          </a:solidFill>
          <a:ln>
            <a:solidFill>
              <a:srgbClr val="2F7EF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double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587752"/>
            <a:ext cx="1188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ทศนิยม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2587752"/>
            <a:ext cx="685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99.50</a:t>
            </a:r>
            <a:endParaRPr lang="en-US" sz="1100" b="1" dirty="0"/>
          </a:p>
        </p:txBody>
      </p:sp>
      <p:sp>
        <p:nvSpPr>
          <p:cNvPr id="14" name="Text 12"/>
          <p:cNvSpPr/>
          <p:nvPr/>
        </p:nvSpPr>
        <p:spPr>
          <a:xfrm>
            <a:off x="868680" y="3246120"/>
            <a:ext cx="822960" cy="274320"/>
          </a:xfrm>
          <a:prstGeom prst="rect">
            <a:avLst/>
          </a:prstGeom>
          <a:solidFill>
            <a:srgbClr val="00B894"/>
          </a:solidFill>
          <a:ln>
            <a:solidFill>
              <a:srgbClr val="00B89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boolean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3273552"/>
            <a:ext cx="1188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จริง/เท็จ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0" y="3273552"/>
            <a:ext cx="685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true</a:t>
            </a:r>
            <a:endParaRPr lang="en-US" sz="1100" b="1" dirty="0"/>
          </a:p>
        </p:txBody>
      </p:sp>
      <p:sp>
        <p:nvSpPr>
          <p:cNvPr id="17" name="Text 15"/>
          <p:cNvSpPr/>
          <p:nvPr/>
        </p:nvSpPr>
        <p:spPr>
          <a:xfrm>
            <a:off x="868680" y="3931920"/>
            <a:ext cx="822960" cy="274320"/>
          </a:xfrm>
          <a:prstGeom prst="rect">
            <a:avLst/>
          </a:prstGeom>
          <a:solidFill>
            <a:srgbClr val="F9B115"/>
          </a:solidFill>
          <a:ln>
            <a:solidFill>
              <a:srgbClr val="F9B11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char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3959352"/>
            <a:ext cx="1188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ตัวอักษร 1 ตัว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0" y="3959352"/>
            <a:ext cx="685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'A'</a:t>
            </a:r>
            <a:endParaRPr lang="en-US" sz="1100" b="1" dirty="0"/>
          </a:p>
        </p:txBody>
      </p:sp>
      <p:sp>
        <p:nvSpPr>
          <p:cNvPr id="20" name="Shape 18"/>
          <p:cNvSpPr/>
          <p:nvPr/>
        </p:nvSpPr>
        <p:spPr>
          <a:xfrm>
            <a:off x="4434840" y="1143000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34140" y="1142998"/>
            <a:ext cx="61151" cy="4434840"/>
          </a:xfrm>
          <a:prstGeom prst="rect">
            <a:avLst/>
          </a:prstGeom>
          <a:solidFill>
            <a:srgbClr val="2F7EF7"/>
          </a:solidFill>
          <a:ln w="12700">
            <a:solidFill>
              <a:srgbClr val="2F7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1728" y="1389888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String ไม่ใช่ Primitive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057400"/>
            <a:ext cx="2514600" cy="11430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String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"Jira"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String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 "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name;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(msg);    </a:t>
            </a:r>
          </a:p>
        </p:txBody>
      </p:sp>
      <p:sp>
        <p:nvSpPr>
          <p:cNvPr id="24" name="Text 22"/>
          <p:cNvSpPr/>
          <p:nvPr/>
        </p:nvSpPr>
        <p:spPr>
          <a:xfrm>
            <a:off x="4782312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String เป็น Object สำหรับจัดการข้อความ มี Method ใช้บ่อย เช่น length(), toUpperCase(), contains()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92440" y="114300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05141" y="1142998"/>
            <a:ext cx="61150" cy="44348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39328" y="1389888"/>
            <a:ext cx="19202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แนวคิดสำหรับ HLA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39328" y="2011680"/>
            <a:ext cx="2651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เวลาอ่าน HLA จะเจอข้อมูลหลายชนิด เช่น เลข, ข้อความ, สถานะ และ byte[] จึงต้องแยกให้ออกว่า “ข้อมูลนี้ควรเก็บเป็นชนิดอะไร”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66760" y="3657600"/>
            <a:ext cx="2514600" cy="105156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int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sequence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connected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String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federation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"Workshop"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468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โครงสร้างการประกาศตัวแปร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2011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r>
              <a:rPr lang="en-US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/ 4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Java Foundation for HLA • </a:t>
            </a:r>
            <a:r>
              <a:rPr lang="th-TH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65379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1280160"/>
            <a:ext cx="45720" cy="4169664"/>
          </a:xfrm>
          <a:prstGeom prst="rect">
            <a:avLst/>
          </a:prstGeom>
          <a:solidFill>
            <a:srgbClr val="2F7EF7"/>
          </a:solidFill>
          <a:ln w="12700">
            <a:solidFill>
              <a:srgbClr val="2F7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5760720" cy="132588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int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studentAge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double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87.5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isPassed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char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1005840" cy="274320"/>
          </a:xfrm>
          <a:prstGeom prst="rect">
            <a:avLst/>
          </a:prstGeom>
          <a:solidFill>
            <a:srgbClr val="2F7EF7"/>
          </a:solidFill>
          <a:ln>
            <a:solidFill>
              <a:srgbClr val="2F7EF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Type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3474720"/>
            <a:ext cx="1645920" cy="274320"/>
          </a:xfrm>
          <a:prstGeom prst="rect">
            <a:avLst/>
          </a:prstGeom>
          <a:solidFill>
            <a:srgbClr val="00B894"/>
          </a:solidFill>
          <a:ln>
            <a:solidFill>
              <a:srgbClr val="00B89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3474720"/>
            <a:ext cx="502920" cy="274320"/>
          </a:xfrm>
          <a:prstGeom prst="rect">
            <a:avLst/>
          </a:prstGeom>
          <a:solidFill>
            <a:srgbClr val="F9B115"/>
          </a:solidFill>
          <a:ln>
            <a:solidFill>
              <a:srgbClr val="F9B11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=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3474720"/>
            <a:ext cx="1143000" cy="274320"/>
          </a:xfrm>
          <a:prstGeom prst="rect">
            <a:avLst/>
          </a:prstGeom>
          <a:solidFill>
            <a:srgbClr val="FF7A1A"/>
          </a:solidFill>
          <a:ln>
            <a:solidFill>
              <a:srgbClr val="FF7A1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Value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3474720"/>
            <a:ext cx="411480" cy="274320"/>
          </a:xfrm>
          <a:prstGeom prst="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อ่านจากซ้ายไปขวา: ชนิดข้อมูล → ชื่อตัวแปร → ค่าที่เก็บ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43800" y="1170432"/>
            <a:ext cx="3977640" cy="438912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562088" y="1280160"/>
            <a:ext cx="45720" cy="4169664"/>
          </a:xfrm>
          <a:prstGeom prst="rect">
            <a:avLst/>
          </a:prstGeom>
          <a:solidFill>
            <a:srgbClr val="F9B115"/>
          </a:solidFill>
          <a:ln w="12700">
            <a:solidFill>
              <a:srgbClr val="F9B1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1812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กติกาการตั้งชื่อ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09560" y="192024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97574" y="198615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57032" y="1911096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สื่อความหมาย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09560" y="248716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97574" y="255308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57032" y="2478024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ใช้ camelCase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3054096"/>
            <a:ext cx="256032" cy="256032"/>
          </a:xfrm>
          <a:prstGeom prst="ellipse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97574" y="312001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57032" y="3044952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ห้ามขึ้นต้นด้วยตัวเลข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09560" y="3621024"/>
            <a:ext cx="256032" cy="256032"/>
          </a:xfrm>
          <a:prstGeom prst="ellipse">
            <a:avLst/>
          </a:prstGeom>
          <a:solidFill>
            <a:srgbClr val="F9B115"/>
          </a:solidFill>
          <a:ln w="12700">
            <a:solidFill>
              <a:srgbClr val="F9B1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97574" y="368693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57032" y="361188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หลีกเลี่ยงชื่อสั้นเกินไป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82128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ตัวอย่างดี: trackingNumber, packageLocation, itemCount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468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Operators — เครื่องมือคำนวณและตัดสินใจ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2011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r>
              <a:rPr lang="en-US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/ 5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Java Foundation for HLA • </a:t>
            </a:r>
            <a:r>
              <a:rPr lang="th-TH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64008" cy="192024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1463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คณิตศาสตร์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719072"/>
            <a:ext cx="2423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7A1A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+, -, *, /, 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176272"/>
            <a:ext cx="2514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ใช้คำนวณตัวเลข เช่น ยอดรวม จำนวน คะแนน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05156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051559"/>
            <a:ext cx="64008" cy="1920239"/>
          </a:xfrm>
          <a:prstGeom prst="rect">
            <a:avLst/>
          </a:prstGeom>
          <a:solidFill>
            <a:srgbClr val="2F7EF7"/>
          </a:solidFill>
          <a:ln w="12700">
            <a:solidFill>
              <a:srgbClr val="2F7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280160"/>
            <a:ext cx="1463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เปรียบเทียบ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719072"/>
            <a:ext cx="2423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F7EF7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==, !=, &gt;, &lt;, &gt;=, &lt;=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2176272"/>
            <a:ext cx="2514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ให้ผลลัพธ์เป็น boolean เพื่อใช้กับ if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83880" y="105156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83879" y="1051559"/>
            <a:ext cx="69533" cy="1920241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58200" y="1280160"/>
            <a:ext cx="1463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ตรรกศาสตร์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1719072"/>
            <a:ext cx="2423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894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&amp;&amp;, ||, !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58200" y="2176272"/>
            <a:ext cx="2514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เชื่อมหลายเงื่อนไขเข้าด้วยกัน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3703320"/>
            <a:ext cx="5120640" cy="150876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int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double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12.50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double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amount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price;</a:t>
            </a:r>
          </a:p>
          <a:p>
            <a:pPr>
              <a:lnSpc>
                <a:spcPct val="113095"/>
              </a:lnSpc>
              <a:buNone/>
            </a:pPr>
            <a:endParaRPr lang="en-US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canShip</a:t>
            </a:r>
            <a:r>
              <a:rPr lang="en-US" sz="11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amount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total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1" name="Shape 19"/>
          <p:cNvSpPr/>
          <p:nvPr/>
        </p:nvSpPr>
        <p:spPr>
          <a:xfrm>
            <a:off x="6492240" y="370332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10528" y="3813048"/>
            <a:ext cx="45720" cy="1289304"/>
          </a:xfrm>
          <a:prstGeom prst="rect">
            <a:avLst/>
          </a:prstGeom>
          <a:solidFill>
            <a:srgbClr val="F9B115"/>
          </a:solidFill>
          <a:ln w="12700">
            <a:solidFill>
              <a:srgbClr val="F9B1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3913632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ข้อควรระวัง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4370832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เครื่องหมาย = คือ “กำหนดค่า” แต่ == คือ “</a:t>
            </a:r>
            <a:r>
              <a:rPr lang="en-US" sz="1100" dirty="0" err="1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เปรียบเทียบว่าเท่ากัน</a:t>
            </a:r>
            <a:r>
              <a:rPr lang="th-TH" sz="110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หรือไม่</a:t>
            </a:r>
            <a:r>
              <a:rPr lang="en-US" sz="110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”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468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String Operations — จัดการข้อความ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2011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r>
              <a:rPr lang="en-US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/ 6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Java Foundation for HLA • </a:t>
            </a:r>
            <a:r>
              <a:rPr lang="th-TH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484632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64008" cy="461772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1554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สิ่งที่ใช้บ่อย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828800"/>
            <a:ext cx="1143000" cy="274320"/>
          </a:xfrm>
          <a:prstGeom prst="rect">
            <a:avLst/>
          </a:prstGeom>
          <a:solidFill>
            <a:srgbClr val="FF7A1A"/>
          </a:solidFill>
          <a:ln>
            <a:solidFill>
              <a:srgbClr val="FF7A1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1865376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ต่อข้อความ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2487168"/>
            <a:ext cx="1143000" cy="274320"/>
          </a:xfrm>
          <a:prstGeom prst="rect">
            <a:avLst/>
          </a:prstGeom>
          <a:solidFill>
            <a:srgbClr val="2F7EF7"/>
          </a:solidFill>
          <a:ln>
            <a:solidFill>
              <a:srgbClr val="2F7EF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length()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2523744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นับจำนวนตัวอักษร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3145536"/>
            <a:ext cx="1143000" cy="274320"/>
          </a:xfrm>
          <a:prstGeom prst="rect">
            <a:avLst/>
          </a:prstGeom>
          <a:solidFill>
            <a:srgbClr val="00B894"/>
          </a:solidFill>
          <a:ln>
            <a:solidFill>
              <a:srgbClr val="00B89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equals()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3182112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เทียบข้อความ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3803904"/>
            <a:ext cx="1143000" cy="274320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contains()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ตรวจว่ามีคำนี้ไหม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1046988"/>
            <a:ext cx="5440680" cy="288036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>
              <a:lnSpc>
                <a:spcPct val="113095"/>
              </a:lnSpc>
              <a:buNone/>
            </a:pPr>
            <a:r>
              <a:rPr lang="th-TH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"Jira"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th-TH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h-TH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"Ready"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US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h-TH" sz="105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(name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 is "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status);</a:t>
            </a:r>
          </a:p>
          <a:p>
            <a:pPr>
              <a:lnSpc>
                <a:spcPct val="113095"/>
              </a:lnSpc>
              <a:buNone/>
            </a:pPr>
            <a:endParaRPr lang="en-US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h-TH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equals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"Ready"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ct val="113095"/>
              </a:lnSpc>
              <a:buNone/>
            </a:pPr>
            <a:r>
              <a:rPr lang="th-TH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"Start"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h-TH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Shape 15"/>
          <p:cNvSpPr/>
          <p:nvPr/>
        </p:nvSpPr>
        <p:spPr>
          <a:xfrm>
            <a:off x="5806440" y="434340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06440" y="4343400"/>
            <a:ext cx="64008" cy="1097280"/>
          </a:xfrm>
          <a:prstGeom prst="rect">
            <a:avLst/>
          </a:prstGeom>
          <a:solidFill>
            <a:srgbClr val="F9B115"/>
          </a:solidFill>
          <a:ln w="12700">
            <a:solidFill>
              <a:srgbClr val="F9B1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80760" y="452628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จำไว้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4526280"/>
            <a:ext cx="3429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String ใช้ .equals() เทียบค่า ไม่ใช้ == ในการเทียบข้อความแบบจริงจัง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468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User Input — รับค่าด้วย Scanner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2011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r>
              <a:rPr lang="en-US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/ 7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Java Foundation for HLA • </a:t>
            </a:r>
            <a:r>
              <a:rPr lang="th-TH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840480" cy="45262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64008" cy="452628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Flow การรับข้อมูล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1874520"/>
            <a:ext cx="2057400" cy="393192"/>
          </a:xfrm>
          <a:prstGeom prst="roundRect">
            <a:avLst>
              <a:gd name="adj" fmla="val 13953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198424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Keyboard</a:t>
            </a:r>
            <a:endParaRPr lang="en-US" sz="1000" b="1" dirty="0"/>
          </a:p>
        </p:txBody>
      </p:sp>
      <p:sp>
        <p:nvSpPr>
          <p:cNvPr id="10" name="Text 8"/>
          <p:cNvSpPr/>
          <p:nvPr/>
        </p:nvSpPr>
        <p:spPr>
          <a:xfrm>
            <a:off x="1920240" y="198424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ผู้ใช้พิมพ์</a:t>
            </a:r>
            <a:endParaRPr lang="en-US" sz="1000" b="1" dirty="0"/>
          </a:p>
        </p:txBody>
      </p:sp>
      <p:sp>
        <p:nvSpPr>
          <p:cNvPr id="11" name="Shape 9"/>
          <p:cNvSpPr/>
          <p:nvPr/>
        </p:nvSpPr>
        <p:spPr>
          <a:xfrm>
            <a:off x="1792224" y="2331720"/>
            <a:ext cx="210312" cy="201168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120" y="2624328"/>
            <a:ext cx="2057400" cy="393192"/>
          </a:xfrm>
          <a:prstGeom prst="roundRect">
            <a:avLst>
              <a:gd name="adj" fmla="val 13953"/>
            </a:avLst>
          </a:prstGeom>
          <a:solidFill>
            <a:srgbClr val="2F7EF7"/>
          </a:solidFill>
          <a:ln w="12700">
            <a:solidFill>
              <a:srgbClr val="2F7EF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097280" y="273405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Scanner</a:t>
            </a:r>
            <a:endParaRPr lang="en-US" sz="1000" b="1" dirty="0"/>
          </a:p>
        </p:txBody>
      </p:sp>
      <p:sp>
        <p:nvSpPr>
          <p:cNvPr id="14" name="Text 12"/>
          <p:cNvSpPr/>
          <p:nvPr/>
        </p:nvSpPr>
        <p:spPr>
          <a:xfrm>
            <a:off x="1920240" y="273405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อ่านค่า</a:t>
            </a:r>
            <a:endParaRPr lang="en-US" sz="1000" b="1" dirty="0"/>
          </a:p>
        </p:txBody>
      </p:sp>
      <p:sp>
        <p:nvSpPr>
          <p:cNvPr id="15" name="Shape 13"/>
          <p:cNvSpPr/>
          <p:nvPr/>
        </p:nvSpPr>
        <p:spPr>
          <a:xfrm>
            <a:off x="1792224" y="3081528"/>
            <a:ext cx="210312" cy="201168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0120" y="3374136"/>
            <a:ext cx="2057400" cy="393192"/>
          </a:xfrm>
          <a:prstGeom prst="roundRect">
            <a:avLst>
              <a:gd name="adj" fmla="val 13953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1097280" y="348386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Variable</a:t>
            </a:r>
            <a:endParaRPr lang="en-US" sz="1000" b="1" dirty="0"/>
          </a:p>
        </p:txBody>
      </p:sp>
      <p:sp>
        <p:nvSpPr>
          <p:cNvPr id="18" name="Text 16"/>
          <p:cNvSpPr/>
          <p:nvPr/>
        </p:nvSpPr>
        <p:spPr>
          <a:xfrm>
            <a:off x="1920240" y="348386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เก็บค่า</a:t>
            </a:r>
            <a:endParaRPr lang="en-US" sz="1000" b="1" dirty="0"/>
          </a:p>
        </p:txBody>
      </p:sp>
      <p:sp>
        <p:nvSpPr>
          <p:cNvPr id="19" name="Shape 17"/>
          <p:cNvSpPr/>
          <p:nvPr/>
        </p:nvSpPr>
        <p:spPr>
          <a:xfrm>
            <a:off x="1792224" y="3831336"/>
            <a:ext cx="210312" cy="201168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0120" y="4123944"/>
            <a:ext cx="2057400" cy="393192"/>
          </a:xfrm>
          <a:prstGeom prst="roundRect">
            <a:avLst>
              <a:gd name="adj" fmla="val 13953"/>
            </a:avLst>
          </a:prstGeom>
          <a:solidFill>
            <a:srgbClr val="F9B115"/>
          </a:solidFill>
          <a:ln w="12700">
            <a:solidFill>
              <a:srgbClr val="F9B11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1097280" y="423367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Logic</a:t>
            </a:r>
            <a:endParaRPr lang="en-US" sz="1000" b="1" dirty="0"/>
          </a:p>
        </p:txBody>
      </p:sp>
      <p:sp>
        <p:nvSpPr>
          <p:cNvPr id="22" name="Text 20"/>
          <p:cNvSpPr/>
          <p:nvPr/>
        </p:nvSpPr>
        <p:spPr>
          <a:xfrm>
            <a:off x="1920240" y="42336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นำไปใช้</a:t>
            </a:r>
            <a:endParaRPr lang="en-US" sz="1000" b="1" dirty="0"/>
          </a:p>
        </p:txBody>
      </p:sp>
      <p:sp>
        <p:nvSpPr>
          <p:cNvPr id="23" name="Text 21"/>
          <p:cNvSpPr/>
          <p:nvPr/>
        </p:nvSpPr>
        <p:spPr>
          <a:xfrm>
            <a:off x="4892040" y="1097280"/>
            <a:ext cx="6172200" cy="34290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"Enter name: "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nextLine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"Enter age: "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nextInt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(name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 / "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age);</a:t>
            </a:r>
          </a:p>
        </p:txBody>
      </p:sp>
      <p:sp>
        <p:nvSpPr>
          <p:cNvPr id="24" name="Shape 22"/>
          <p:cNvSpPr/>
          <p:nvPr/>
        </p:nvSpPr>
        <p:spPr>
          <a:xfrm>
            <a:off x="4892040" y="4828032"/>
            <a:ext cx="6172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92040" y="4828032"/>
            <a:ext cx="64008" cy="65836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38928" y="4983480"/>
            <a:ext cx="1965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ระวัง nextInt() กับ nextLine()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4983480"/>
            <a:ext cx="3154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หลังอ่านตัวเลข อาจเหลือ Enter ค้าง ต้องจัดการก่อนอ่านบรรทัดถัดไป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468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Conditional Statements — ตัดสินใจด้วย if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2011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r>
              <a:rPr lang="en-US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/ 8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Java Foundation for HLA • </a:t>
            </a:r>
            <a:r>
              <a:rPr lang="th-TH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46177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64008" cy="4480560"/>
          </a:xfrm>
          <a:prstGeom prst="rect">
            <a:avLst/>
          </a:prstGeom>
          <a:solidFill>
            <a:srgbClr val="2F7EF7"/>
          </a:solidFill>
          <a:ln w="12700">
            <a:solidFill>
              <a:srgbClr val="2F7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840480" cy="301752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"Need improve"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b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372600" y="1143000"/>
            <a:ext cx="2286000" cy="44805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372600" y="1143000"/>
            <a:ext cx="64008" cy="4480560"/>
          </a:xfrm>
          <a:prstGeom prst="rect">
            <a:avLst/>
          </a:prstGeom>
          <a:solidFill>
            <a:srgbClr val="F9B115"/>
          </a:solidFill>
          <a:ln w="12700">
            <a:solidFill>
              <a:srgbClr val="F9B1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4692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สำหรับ HLA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46920" y="1965960"/>
            <a:ext cx="1508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ใช้ตัดสินใจจากสถานะ เช่น connected / running / packet valid / parameter found</a:t>
            </a:r>
            <a:endParaRPr lang="en-US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B1D1B22-91E0-3B56-BC2B-929079140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143000"/>
            <a:ext cx="3581884" cy="44757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468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Switch Expression — หลายทางเลือกแบบอ่านง่าย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2011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r>
              <a:rPr lang="en-US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/ 9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Java Foundation for HLA • </a:t>
            </a:r>
            <a:r>
              <a:rPr lang="th-TH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50292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64008" cy="45720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1280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เหมาะกับอะไร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36118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ใช้เมื่อมี “ตัวเลือกหลายค่า” จากตัวแปรเดียว เช่น menu, command, status, opcode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743200"/>
            <a:ext cx="1554480" cy="274320"/>
          </a:xfrm>
          <a:prstGeom prst="rect">
            <a:avLst/>
          </a:prstGeom>
          <a:solidFill>
            <a:srgbClr val="FF7A1A"/>
          </a:solidFill>
          <a:ln>
            <a:solidFill>
              <a:srgbClr val="FF7A1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1 = Add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3273552"/>
            <a:ext cx="1554480" cy="274320"/>
          </a:xfrm>
          <a:prstGeom prst="rect">
            <a:avLst/>
          </a:prstGeom>
          <a:solidFill>
            <a:srgbClr val="2F7EF7"/>
          </a:solidFill>
          <a:ln>
            <a:solidFill>
              <a:srgbClr val="2F7EF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2 = Update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51560" y="3803904"/>
            <a:ext cx="1554480" cy="274320"/>
          </a:xfrm>
          <a:prstGeom prst="rect">
            <a:avLst/>
          </a:prstGeom>
          <a:solidFill>
            <a:srgbClr val="00B894"/>
          </a:solidFill>
          <a:ln>
            <a:solidFill>
              <a:srgbClr val="00B89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3 = Search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51560" y="4334256"/>
            <a:ext cx="1554480" cy="274320"/>
          </a:xfrm>
          <a:prstGeom prst="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0 = Exit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72200" y="1097280"/>
            <a:ext cx="5074920" cy="315468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menu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"Add"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"Update"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"Search"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"Exit"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default:</a:t>
            </a:r>
            <a:endParaRPr lang="en-US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"Invalid"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  <a:endParaRPr lang="th-TH" sz="100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Shape 12"/>
          <p:cNvSpPr/>
          <p:nvPr/>
        </p:nvSpPr>
        <p:spPr>
          <a:xfrm>
            <a:off x="6172200" y="4590288"/>
            <a:ext cx="5074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4590288"/>
            <a:ext cx="64008" cy="731520"/>
          </a:xfrm>
          <a:prstGeom prst="rect">
            <a:avLst/>
          </a:prstGeom>
          <a:solidFill>
            <a:srgbClr val="F9B115"/>
          </a:solidFill>
          <a:ln w="12700">
            <a:solidFill>
              <a:srgbClr val="F9B1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4754880"/>
            <a:ext cx="12344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เชื่อมไป HLA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4754880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ภายหลังสามารถใช้ concept นี้กับ opcode / event type / interaction type ได้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468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Iterative Statements — ทำซ้ำด้วย Loop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2011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r>
              <a:rPr lang="en-US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/ 10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Java Foundation for HLA • </a:t>
            </a:r>
            <a:r>
              <a:rPr lang="th-TH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64008" cy="182880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1298448"/>
            <a:ext cx="731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7A1A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for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รู้จำนวนรอบชัดเจน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วน array จาก index 0 ถึงท้าย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43400" y="1051560"/>
            <a:ext cx="64008" cy="1828800"/>
          </a:xfrm>
          <a:prstGeom prst="rect">
            <a:avLst/>
          </a:prstGeom>
          <a:solidFill>
            <a:srgbClr val="2F7EF7"/>
          </a:solidFill>
          <a:ln w="12700">
            <a:solidFill>
              <a:srgbClr val="2F7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36008" y="1298448"/>
            <a:ext cx="731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7EF7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while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6008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ทำซ้ำจนกว่าเงื่อนไขจะ false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36008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เหมาะกับรอ input หรือสถานะ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138160" y="105156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38160" y="1051559"/>
            <a:ext cx="64008" cy="1828799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30768" y="1298448"/>
            <a:ext cx="731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894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do-while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ทำอย่างน้อย 1 ครั้ง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30768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เหมาะกับเมนูโปรแกรม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22960" y="3429000"/>
            <a:ext cx="4846320" cy="196596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1778" tIns="1778" rIns="1778" bIns="1778" rtlCol="0" anchor="ctr">
            <a:normAutofit fontScale="92500" lnSpcReduction="10000"/>
          </a:bodyPr>
          <a:lstStyle/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lvl="1">
              <a:lnSpc>
                <a:spcPct val="113095"/>
              </a:lnSpc>
            </a:pPr>
            <a:b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isRunning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keep working</a:t>
            </a:r>
            <a:endParaRPr lang="en-US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lvl="1">
              <a:lnSpc>
                <a:spcPct val="113095"/>
              </a:lnSpc>
            </a:pPr>
            <a:b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showMenu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lvl="1">
              <a:lnSpc>
                <a:spcPct val="113095"/>
              </a:lnSpc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choice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1" name="Shape 19"/>
          <p:cNvSpPr/>
          <p:nvPr/>
        </p:nvSpPr>
        <p:spPr>
          <a:xfrm>
            <a:off x="6172200" y="34290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2200" y="3429000"/>
            <a:ext cx="64008" cy="1965960"/>
          </a:xfrm>
          <a:prstGeom prst="rect">
            <a:avLst/>
          </a:prstGeom>
          <a:solidFill>
            <a:srgbClr val="F9B115"/>
          </a:solidFill>
          <a:ln w="12700">
            <a:solidFill>
              <a:srgbClr val="F9B1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4652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Loop Control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4133088"/>
            <a:ext cx="3520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break</a:t>
            </a:r>
            <a:r>
              <a:rPr lang="en-US" sz="120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= ออกจาก loop ทันที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continue</a:t>
            </a:r>
            <a:r>
              <a:rPr lang="en-US" sz="120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= ข้ามรอบนี้ แล้วไปรอบถัดไป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468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Array Foundations — เก็บข้อมูลหลายค่า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2011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r>
              <a:rPr lang="en-US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/ 11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Java Foundation for HLA • </a:t>
            </a:r>
            <a:r>
              <a:rPr lang="th-TH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4251960" cy="466344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64008" cy="46634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1737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ภาพจำของ Array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37970" y="2029968"/>
            <a:ext cx="548640" cy="5029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7698" y="22291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9138" y="1797685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0</a:t>
            </a:r>
            <a:endParaRPr lang="en-US" sz="900" b="1" dirty="0"/>
          </a:p>
        </p:txBody>
      </p:sp>
      <p:sp>
        <p:nvSpPr>
          <p:cNvPr id="11" name="Shape 9"/>
          <p:cNvSpPr/>
          <p:nvPr/>
        </p:nvSpPr>
        <p:spPr>
          <a:xfrm>
            <a:off x="2159762" y="2029968"/>
            <a:ext cx="548640" cy="502920"/>
          </a:xfrm>
          <a:prstGeom prst="rect">
            <a:avLst/>
          </a:prstGeom>
          <a:solidFill>
            <a:srgbClr val="2F7E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69490" y="22291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20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60930" y="1797685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1</a:t>
            </a:r>
            <a:endParaRPr lang="en-US" sz="900" b="1" dirty="0"/>
          </a:p>
        </p:txBody>
      </p:sp>
      <p:sp>
        <p:nvSpPr>
          <p:cNvPr id="14" name="Shape 12"/>
          <p:cNvSpPr/>
          <p:nvPr/>
        </p:nvSpPr>
        <p:spPr>
          <a:xfrm>
            <a:off x="2781554" y="2029968"/>
            <a:ext cx="548640" cy="5029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91282" y="22291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30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82722" y="1797685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2</a:t>
            </a:r>
            <a:endParaRPr lang="en-US" sz="900" b="1" dirty="0"/>
          </a:p>
        </p:txBody>
      </p:sp>
      <p:sp>
        <p:nvSpPr>
          <p:cNvPr id="17" name="Shape 15"/>
          <p:cNvSpPr/>
          <p:nvPr/>
        </p:nvSpPr>
        <p:spPr>
          <a:xfrm>
            <a:off x="3403346" y="2029968"/>
            <a:ext cx="548640" cy="502920"/>
          </a:xfrm>
          <a:prstGeom prst="rect">
            <a:avLst/>
          </a:prstGeom>
          <a:solidFill>
            <a:srgbClr val="2F7E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13074" y="22291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04514" y="1797685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3</a:t>
            </a:r>
            <a:endParaRPr lang="en-US" sz="900" b="1" dirty="0"/>
          </a:p>
        </p:txBody>
      </p:sp>
      <p:sp>
        <p:nvSpPr>
          <p:cNvPr id="20" name="Shape 18"/>
          <p:cNvSpPr/>
          <p:nvPr/>
        </p:nvSpPr>
        <p:spPr>
          <a:xfrm>
            <a:off x="4025138" y="2029968"/>
            <a:ext cx="548640" cy="502920"/>
          </a:xfrm>
          <a:prstGeom prst="rect">
            <a:avLst/>
          </a:prstGeom>
          <a:solidFill>
            <a:srgbClr val="FF7A1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34866" y="222910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26306" y="1797685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4</a:t>
            </a:r>
            <a:endParaRPr lang="en-US" sz="900" b="1" dirty="0"/>
          </a:p>
        </p:txBody>
      </p:sp>
      <p:sp>
        <p:nvSpPr>
          <p:cNvPr id="23" name="Text 21"/>
          <p:cNvSpPr/>
          <p:nvPr/>
        </p:nvSpPr>
        <p:spPr>
          <a:xfrm>
            <a:off x="914400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Index เริ่มที่ 0 เสมอ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566160"/>
            <a:ext cx="347345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0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array.length </a:t>
            </a:r>
            <a:r>
              <a:rPr lang="en-US" sz="1050" dirty="0" err="1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คือจำนวนช่องทั้งหมด</a:t>
            </a:r>
            <a:r>
              <a:rPr lang="en-US" sz="10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</a:t>
            </a:r>
            <a:r>
              <a:rPr lang="th-TH" sz="10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หรือจำนวน </a:t>
            </a:r>
            <a:r>
              <a:rPr lang="en-US" sz="105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Element </a:t>
            </a:r>
            <a:r>
              <a:rPr lang="th-TH" sz="10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ใน</a:t>
            </a:r>
            <a:r>
              <a:rPr lang="en-US" sz="105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array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57800" y="1143000"/>
            <a:ext cx="5486400" cy="100584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//10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57800" y="2606040"/>
            <a:ext cx="5486400" cy="310896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b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9C121BC4-CDE9-6C3E-48C6-B979FB02B7ED}"/>
              </a:ext>
            </a:extLst>
          </p:cNvPr>
          <p:cNvSpPr/>
          <p:nvPr/>
        </p:nvSpPr>
        <p:spPr>
          <a:xfrm>
            <a:off x="970280" y="1751330"/>
            <a:ext cx="4282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Index:</a:t>
            </a:r>
            <a:endParaRPr lang="en-US" sz="1200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5E03857D-3F47-1D80-8DD7-0727CB8BE2FD}"/>
              </a:ext>
            </a:extLst>
          </p:cNvPr>
          <p:cNvSpPr/>
          <p:nvPr/>
        </p:nvSpPr>
        <p:spPr>
          <a:xfrm>
            <a:off x="798830" y="2172335"/>
            <a:ext cx="2286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Element: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468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Lab </a:t>
            </a:r>
            <a:r>
              <a:rPr lang="th-TH" sz="2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r>
              <a:rPr lang="en-US" sz="20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— รวมทุกอย่างเป็นโปรแกรมเล็ก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292840" y="20116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r>
              <a:rPr lang="en-US" sz="60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 / 12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Java Foundation for HLA • </a:t>
            </a:r>
            <a:r>
              <a:rPr lang="th-TH" sz="550" dirty="0">
                <a:solidFill>
                  <a:srgbClr val="94A3B8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บทที่ 1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4206240" cy="47091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64008" cy="470916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โจทย์ฝึก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28346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Package Score Checker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36171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รับจำนวน package → รับคะแนน/สถานะ → ตัดสินใจผ่าน/ไม่ผ่าน → เก็บผลใน Array → สรุปผลท้ายโปรแกรม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324612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0676" y="330885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53312" y="3236976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ใช้ Scanner รับข้อมูล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379476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0676" y="385749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53312" y="3785616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ใช้ if/switch ตัดสินใจ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434340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0676" y="440613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53312" y="4334256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ใช้ loop อ่านหลายรายการ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840" y="489204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90676" y="495477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4882896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033"/>
                </a:solidFill>
                <a:latin typeface="Noto Sans Thai UI" pitchFamily="34" charset="0"/>
                <a:ea typeface="Noto Sans Thai UI" pitchFamily="34" charset="-122"/>
                <a:cs typeface="Noto Sans Thai UI" pitchFamily="34" charset="-120"/>
              </a:rPr>
              <a:t>ใช้ array เก็บผลลัพธ์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1143000"/>
            <a:ext cx="5257800" cy="25146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5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05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05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>
              <a:lnSpc>
                <a:spcPct val="113095"/>
              </a:lnSpc>
            </a:pP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"score: "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>
              <a:lnSpc>
                <a:spcPct val="113095"/>
              </a:lnSpc>
            </a:pP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nextInt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lvl="1">
              <a:lnSpc>
                <a:spcPct val="113095"/>
              </a:lnSpc>
            </a:pPr>
            <a:b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</a:pP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>
              <a:lnSpc>
                <a:spcPct val="113095"/>
              </a:lnSpc>
            </a:pP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passed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ct val="113095"/>
              </a:lnSpc>
            </a:pP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lvl="1">
              <a:lnSpc>
                <a:spcPct val="113095"/>
              </a:lnSpc>
            </a:pPr>
            <a:r>
              <a:rPr lang="en-US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1369</Words>
  <Application>Microsoft Office PowerPoint</Application>
  <PresentationFormat>Widescreen</PresentationFormat>
  <Paragraphs>278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Consolas</vt:lpstr>
      <vt:lpstr>Noto Sans Thai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Java Fundamentals &amp; Logic</dc:title>
  <dc:subject>Day 1 Java Fundamentals for HLA</dc:subject>
  <dc:creator>OpenAI</dc:creator>
  <cp:lastModifiedBy>จิรเมธ แสนทอง</cp:lastModifiedBy>
  <cp:revision>4</cp:revision>
  <dcterms:created xsi:type="dcterms:W3CDTF">2026-09-11T03:33:37Z</dcterms:created>
  <dcterms:modified xsi:type="dcterms:W3CDTF">2026-10-16T04:55:42Z</dcterms:modified>
</cp:coreProperties>
</file>