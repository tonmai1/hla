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03009E0-F4B3-49BF-97B4-79214469CAC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30A88C-FEFD-4596-AE60-7C6EFE0855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9CF946-D479-499E-94CB-29864EAE24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46B7B-07C8-41B4-87F2-8ECAEA8D4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3BF7C-BCFF-46D0-9FC9-8CC0996C7C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8AE67B-04A9-4F44-B127-231AA36633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F731F7-1B17-4244-B886-6A5DD0DDB8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8669D-27BA-428D-89CE-E98B501995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CC117-9C21-4C65-B2E6-AFFA081983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CFB808-F797-4E3D-A109-A3D3E77833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04C-AF5D-404A-AF69-49E09AE27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692FDB-C78D-41EA-9F7B-DE3863A829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Thai UI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85800" y="731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th-TH" sz="23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บทที่</a:t>
            </a:r>
            <a:r>
              <a:rPr lang="en-US" sz="23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3</a:t>
            </a:r>
          </a:p>
        </p:txBody>
      </p:sp>
      <p:sp>
        <p:nvSpPr>
          <p:cNvPr id="10" name="Text 2"/>
          <p:cNvSpPr/>
          <p:nvPr/>
        </p:nvSpPr>
        <p:spPr>
          <a:xfrm>
            <a:off x="685800" y="1298520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 dirty="0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Java Collections &amp; Data Handling</a:t>
            </a:r>
            <a:endParaRPr lang="en-US" sz="3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13160" y="20116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 dirty="0">
                <a:solidFill>
                  <a:srgbClr val="CBD5E1"/>
                </a:solidFill>
                <a:effectLst/>
                <a:uFillTx/>
                <a:latin typeface="Noto Sans Thai UI"/>
                <a:cs typeface="Noto Sans Thai UI"/>
              </a:rPr>
              <a:t>เตรียมผู้เรียนให้พร้อมอ่านโค้ด </a:t>
            </a:r>
            <a:r>
              <a:rPr lang="en-US" sz="1600" b="0" u="none" strike="noStrike" dirty="0">
                <a:solidFill>
                  <a:srgbClr val="CBD5E1"/>
                </a:solidFill>
                <a:effectLst/>
                <a:uFillTx/>
                <a:latin typeface="Noto Sans Thai UI"/>
                <a:ea typeface="Noto Sans Thai UI"/>
              </a:rPr>
              <a:t>HLA </a:t>
            </a:r>
            <a:r>
              <a:rPr lang="hi-IN" sz="1600" b="0" u="none" strike="noStrike" dirty="0">
                <a:solidFill>
                  <a:srgbClr val="CBD5E1"/>
                </a:solidFill>
                <a:effectLst/>
                <a:uFillTx/>
                <a:latin typeface="Noto Sans Thai UI"/>
                <a:cs typeface="Noto Sans Thai UI"/>
              </a:rPr>
              <a:t>ที่มี </a:t>
            </a:r>
            <a:r>
              <a:rPr lang="en-US" sz="1600" b="0" u="none" strike="noStrike" dirty="0">
                <a:solidFill>
                  <a:srgbClr val="CBD5E1"/>
                </a:solidFill>
                <a:effectLst/>
                <a:uFillTx/>
                <a:latin typeface="Noto Sans Thai UI"/>
                <a:ea typeface="Noto Sans Thai UI"/>
              </a:rPr>
              <a:t>Handle, Map, byte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4096440"/>
            <a:ext cx="1599840" cy="6580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43160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ArrayList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422800" y="4425480"/>
            <a:ext cx="777600" cy="0"/>
          </a:xfrm>
          <a:prstGeom prst="line">
            <a:avLst/>
          </a:prstGeom>
          <a:ln w="12700">
            <a:solidFill>
              <a:srgbClr val="60A5F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200400" y="4096440"/>
            <a:ext cx="1599840" cy="6580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200400" y="43160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HashMap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800240" y="4425840"/>
            <a:ext cx="777600" cy="0"/>
          </a:xfrm>
          <a:prstGeom prst="line">
            <a:avLst/>
          </a:prstGeom>
          <a:ln w="12700">
            <a:solidFill>
              <a:srgbClr val="60A5F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577840" y="4096440"/>
            <a:ext cx="1599840" cy="6580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577840" y="43160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Package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177680" y="4425840"/>
            <a:ext cx="777600" cy="0"/>
          </a:xfrm>
          <a:prstGeom prst="line">
            <a:avLst/>
          </a:prstGeom>
          <a:ln w="12700">
            <a:solidFill>
              <a:srgbClr val="60A5F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955280" y="4096440"/>
            <a:ext cx="1599840" cy="6580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955280" y="43160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byte[]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9555120" y="4425840"/>
            <a:ext cx="503280" cy="0"/>
          </a:xfrm>
          <a:prstGeom prst="line">
            <a:avLst/>
          </a:prstGeom>
          <a:ln w="12700">
            <a:solidFill>
              <a:srgbClr val="60A5F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0058400" y="4096440"/>
            <a:ext cx="1599840" cy="6580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0058400" y="431604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Socket Example 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ภาพรวม </a:t>
            </a: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Day 3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จากข้อมูลหลายรายการ → จัดโค้ดเป็นระบบ → เชื่อมแนวคิดไป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 dirty="0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703906" y="1379999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786512" y="1449451"/>
            <a:ext cx="237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1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1188720" y="1252800"/>
            <a:ext cx="1014948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1417320" y="13806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Collections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3246120" y="1380600"/>
            <a:ext cx="7497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ArrayList / HashMap / For-Each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703906" y="2221319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786512" y="2290411"/>
            <a:ext cx="237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1188720" y="2094120"/>
            <a:ext cx="1014948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1417320" y="222192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Data Handling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3246120" y="2221920"/>
            <a:ext cx="7497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Object </a:t>
            </a:r>
            <a:r>
              <a:rPr lang="hi-IN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ใน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Collection, </a:t>
            </a:r>
            <a:r>
              <a:rPr lang="hi-IN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ค้นหา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, update, loop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703906" y="3062279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786512" y="3131731"/>
            <a:ext cx="237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1188720" y="2935080"/>
            <a:ext cx="1014948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1417320" y="306324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Code Structure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3246120" y="3063240"/>
            <a:ext cx="7497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Package, Import, </a:t>
            </a:r>
            <a:r>
              <a:rPr lang="hi-IN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แยก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Class </a:t>
            </a:r>
            <a:r>
              <a:rPr lang="hi-IN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ตามหน้าที่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703906" y="3903599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786512" y="3973051"/>
            <a:ext cx="237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1"/>
          <p:cNvSpPr/>
          <p:nvPr/>
        </p:nvSpPr>
        <p:spPr>
          <a:xfrm>
            <a:off x="1188720" y="3776400"/>
            <a:ext cx="1014948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1417320" y="3904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HLA Prep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3246120" y="3904560"/>
            <a:ext cx="7497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Handle→Value, byte[], Callback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4"/>
          <p:cNvSpPr/>
          <p:nvPr/>
        </p:nvSpPr>
        <p:spPr>
          <a:xfrm>
            <a:off x="703906" y="4744919"/>
            <a:ext cx="383760" cy="29232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786512" y="4814371"/>
            <a:ext cx="237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Thai UI"/>
                <a:ea typeface="Noto Sans Thai U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6"/>
          <p:cNvSpPr/>
          <p:nvPr/>
        </p:nvSpPr>
        <p:spPr>
          <a:xfrm>
            <a:off x="1188720" y="4617720"/>
            <a:ext cx="10149480" cy="5666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1417320" y="474588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Mini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8"/>
          <p:cNvSpPr/>
          <p:nvPr/>
        </p:nvSpPr>
        <p:spPr>
          <a:xfrm>
            <a:off x="3246120" y="4745880"/>
            <a:ext cx="7497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Package Tracking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2BB4AF-0404-287C-1B2C-A7F8D6310FB5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ทำไม </a:t>
            </a: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Day 3 </a:t>
            </a: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ต้องเรียน </a:t>
            </a: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Collections?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HLA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ไม่ได้ส่งข้อมูลแค่ตัวแปรเดี่ยว แต่เจอชุดข้อมูลและ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mapping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ตลอดเวลา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685800" y="1234440"/>
            <a:ext cx="3154320" cy="4480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60120" y="15544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ตัวแปรเดี่ยว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960120" y="2148840"/>
            <a:ext cx="2605680" cy="9140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161360" y="2331720"/>
            <a:ext cx="2203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String name = "PK001";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int count = 1;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987480" y="34290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เหมาะกับข้อมูลจำนวนน้อย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แต่ไม่พอสำหรับระบบจริง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4263281" y="1234440"/>
            <a:ext cx="3564033" cy="4480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491882" y="1554480"/>
            <a:ext cx="2697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ข้อมูลหลายรายการ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4500882" y="2148840"/>
            <a:ext cx="2975044" cy="100548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4702122" y="2331720"/>
            <a:ext cx="2576864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ArrayList</a:t>
            </a:r>
            <a:r>
              <a:rPr lang="en-US" sz="11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&lt;</a:t>
            </a:r>
            <a:r>
              <a:rPr lang="en-US" sz="115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PackageData</a:t>
            </a:r>
            <a:r>
              <a:rPr lang="en-US" sz="11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HashMap&lt;String, </a:t>
            </a:r>
            <a:r>
              <a:rPr lang="en-US" sz="115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PackageData</a:t>
            </a:r>
            <a:r>
              <a:rPr lang="en-US" sz="11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4574322" y="34563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เก็บหลาย 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Object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ค้นหาและวนลูปได้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8275320" y="1234440"/>
            <a:ext cx="3154320" cy="4480200"/>
          </a:xfrm>
          <a:prstGeom prst="roundRect">
            <a:avLst>
              <a:gd name="adj" fmla="val 2319"/>
            </a:avLst>
          </a:prstGeom>
          <a:solidFill>
            <a:srgbClr val="EEF2FF"/>
          </a:solidFill>
          <a:ln w="12700">
            <a:solidFill>
              <a:srgbClr val="C7D2F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8522280" y="155448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แนวคิดที่ต่อเข้า </a:t>
            </a: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HLA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8485560" y="2103120"/>
            <a:ext cx="2651400" cy="118836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8686800" y="2286000"/>
            <a:ext cx="22489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ParameterHandleValueMap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AttributeHandleValueMap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byte[] tag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8503920" y="352944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HLA </a:t>
            </a: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ใช้ </a:t>
            </a: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pattern </a:t>
            </a: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แบบ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Handle → Value </a:t>
            </a:r>
            <a:r>
              <a:rPr lang="hi-IN" sz="140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บ่อยมาก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3840120" y="3456360"/>
            <a:ext cx="422250" cy="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7828225" y="3456720"/>
            <a:ext cx="446185" cy="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AAB24E-BC36-7AAF-3E0C-778CE916AA90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ArrayList: </a:t>
            </a: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กล่องเก็บข้อมูลหลายรายการ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ใช้เมื่อจำนวนข้อมูลเปลี่ยนได้ และต้องการวนอ่านทีละรายการ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685800" y="1920240"/>
            <a:ext cx="5211720" cy="3702960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  <a:effectLst>
            <a:reflection stA="45000" endPos="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"A101"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"A102"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"A103"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th-TH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8B949E"/>
                </a:solidFill>
                <a:latin typeface="Consolas" panose="020B0609020204030204" pitchFamily="49" charset="0"/>
              </a:rPr>
              <a:t>//A102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2" name="Text 5"/>
          <p:cNvSpPr/>
          <p:nvPr/>
        </p:nvSpPr>
        <p:spPr>
          <a:xfrm>
            <a:off x="887040" y="1417320"/>
            <a:ext cx="4809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6400800" y="1234440"/>
            <a:ext cx="5074560" cy="4388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675120" y="15544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จำภาพง่าย ๆ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6812280" y="2194560"/>
            <a:ext cx="1051200" cy="68544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FFFF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6812280" y="244152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A101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6839640" y="296280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index 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8138160" y="2194560"/>
            <a:ext cx="1051200" cy="68544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FFFF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8138160" y="244152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A102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8165520" y="296280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index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9464040" y="2194560"/>
            <a:ext cx="105120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FFFFF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9464040" y="2441520"/>
            <a:ext cx="10512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A103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9491400" y="296280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index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6720840" y="384048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hi-IN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เพิ่มข้อมูลด้วย 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add()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hi-IN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อ่านตำแหน่งด้วย 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get(index)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hi-IN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นับจำนวนด้วย 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size()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hi-IN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ลบข้อมูลด้วย </a:t>
            </a: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remove()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55E6463-AB7B-B36C-A459-B410E25DD27C}"/>
              </a:ext>
            </a:extLst>
          </p:cNvPr>
          <p:cNvSpPr/>
          <p:nvPr/>
        </p:nvSpPr>
        <p:spPr>
          <a:xfrm>
            <a:off x="685800" y="1257300"/>
            <a:ext cx="5211720" cy="571500"/>
          </a:xfrm>
          <a:prstGeom prst="flowChartAlternateProcess">
            <a:avLst/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  <a:effectLst>
            <a:reflection stA="45000" endPos="0" dir="5400000" sy="-100000" algn="bl" rotWithShape="0"/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java.util.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E98FC-6047-9F67-73A9-2B794AB2EB1F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7ABF66E8-339C-0EA1-8B5D-B40C2DED8688}"/>
              </a:ext>
            </a:extLst>
          </p:cNvPr>
          <p:cNvSpPr/>
          <p:nvPr/>
        </p:nvSpPr>
        <p:spPr>
          <a:xfrm>
            <a:off x="685800" y="1257300"/>
            <a:ext cx="5410200" cy="571500"/>
          </a:xfrm>
          <a:prstGeom prst="flowChartAlternateProcess">
            <a:avLst/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  <a:effectLst>
            <a:reflection stA="45000" endPos="0" dir="5400000" sy="-100000" algn="bl" rotWithShape="0"/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java.util.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2C40D29-9942-B135-AC36-2D26FD39EEBD}"/>
              </a:ext>
            </a:extLst>
          </p:cNvPr>
          <p:cNvSpPr/>
          <p:nvPr/>
        </p:nvSpPr>
        <p:spPr>
          <a:xfrm>
            <a:off x="685800" y="1920240"/>
            <a:ext cx="5410200" cy="3702960"/>
          </a:xfrm>
          <a:prstGeom prst="roundRect">
            <a:avLst>
              <a:gd name="adj" fmla="val 1250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  <a:effectLst>
            <a:reflection stA="45000" endPos="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HelloWorld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2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locationMap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th-TH" sz="12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ct val="113095"/>
              </a:lnSpc>
              <a:buNone/>
            </a:pP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locationMap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"PK001"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"Bangkok"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locationMap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"PK002"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"Khon Kaen"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locationMap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"PK001"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5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HashMap: </a:t>
            </a: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ค้นหาด้วย </a:t>
            </a: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Key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เหมาะมากกับงานที่มีรหัสอ้างอิง เช่น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TrackingNumber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หรือ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Handle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6473880" y="1143000"/>
            <a:ext cx="4937400" cy="4571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6812280" y="14446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Key → Value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812280" y="201168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BFDBF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9235440" y="2011680"/>
            <a:ext cx="1554120" cy="50256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BBF7D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8275320" y="2267640"/>
            <a:ext cx="822960" cy="360"/>
          </a:xfrm>
          <a:prstGeom prst="line">
            <a:avLst/>
          </a:prstGeom>
          <a:ln w="127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812280" y="2176200"/>
            <a:ext cx="1371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PK001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9235440" y="2176200"/>
            <a:ext cx="1554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Bangkok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3"/>
          <p:cNvSpPr/>
          <p:nvPr/>
        </p:nvSpPr>
        <p:spPr>
          <a:xfrm>
            <a:off x="6812280" y="278892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BFDBF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4"/>
          <p:cNvSpPr/>
          <p:nvPr/>
        </p:nvSpPr>
        <p:spPr>
          <a:xfrm>
            <a:off x="9235440" y="2788920"/>
            <a:ext cx="1554120" cy="50256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BBF7D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8275320" y="3044880"/>
            <a:ext cx="822960" cy="360"/>
          </a:xfrm>
          <a:prstGeom prst="line">
            <a:avLst/>
          </a:prstGeom>
          <a:ln w="127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6812280" y="2953440"/>
            <a:ext cx="1371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PK002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9235440" y="2953440"/>
            <a:ext cx="1554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Khon Kaen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8"/>
          <p:cNvSpPr/>
          <p:nvPr/>
        </p:nvSpPr>
        <p:spPr>
          <a:xfrm>
            <a:off x="6812280" y="356616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BFDBF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9235440" y="3566160"/>
            <a:ext cx="1554120" cy="50256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BBF7D0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8275320" y="3822120"/>
            <a:ext cx="822960" cy="360"/>
          </a:xfrm>
          <a:prstGeom prst="line">
            <a:avLst/>
          </a:prstGeom>
          <a:ln w="12700">
            <a:solidFill>
              <a:srgbClr val="64748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6812280" y="3730680"/>
            <a:ext cx="1371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PK003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9235440" y="3730680"/>
            <a:ext cx="1554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Search...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6812280" y="468180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cs typeface="Noto Sans Thai UI"/>
              </a:rPr>
              <a:t>ใน </a:t>
            </a:r>
            <a:r>
              <a:rPr lang="en-US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ea typeface="Noto Sans Thai UI"/>
              </a:rPr>
              <a:t>HLA </a:t>
            </a:r>
            <a:r>
              <a:rPr lang="hi-IN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cs typeface="Noto Sans Thai UI"/>
              </a:rPr>
              <a:t>จะเจอแนวคิดคล้ายกัน</a:t>
            </a:r>
            <a:r>
              <a:rPr lang="en-US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ea typeface="Noto Sans Thai UI"/>
              </a:rPr>
              <a:t>: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ea typeface="Noto Sans Thai UI"/>
              </a:rPr>
              <a:t>Handle </a:t>
            </a:r>
            <a:r>
              <a:rPr lang="hi-IN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cs typeface="Noto Sans Thai UI"/>
              </a:rPr>
              <a:t>เป็นตัวระบุ → </a:t>
            </a:r>
            <a:r>
              <a:rPr lang="en-US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ea typeface="Noto Sans Thai UI"/>
              </a:rPr>
              <a:t>Value </a:t>
            </a:r>
            <a:r>
              <a:rPr lang="hi-IN" sz="1400" b="0" u="none" strike="noStrike" dirty="0">
                <a:solidFill>
                  <a:srgbClr val="7C3AED"/>
                </a:solidFill>
                <a:effectLst/>
                <a:uFillTx/>
                <a:latin typeface="Noto Sans Thai UI"/>
                <a:cs typeface="Noto Sans Thai UI"/>
              </a:rPr>
              <a:t>เป็นข้อมูลจริง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FFD0D4-0717-D294-5EC7-6D2D55D2C726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For-Each &amp; Collection Methods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อ่านข้อมูลทั้งหมดใน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Collection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โดยไม่ต้องจัดการ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index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เอง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685800" y="1234440"/>
            <a:ext cx="5211720" cy="2925720"/>
          </a:xfrm>
          <a:prstGeom prst="roundRect">
            <a:avLst>
              <a:gd name="adj" fmla="val 1875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</a:t>
            </a:r>
            <a:r>
              <a:rPr lang="en-US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rooms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room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PackageData</a:t>
            </a:r>
            <a:r>
              <a:rPr lang="en-US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packageList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pkg</a:t>
            </a:r>
            <a:r>
              <a:rPr lang="en-US" sz="16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printInfo</a:t>
            </a: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4" name="Text 5"/>
          <p:cNvSpPr/>
          <p:nvPr/>
        </p:nvSpPr>
        <p:spPr>
          <a:xfrm>
            <a:off x="887040" y="1417320"/>
            <a:ext cx="4809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6400800" y="1234440"/>
            <a:ext cx="507456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6720840" y="1536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Method </a:t>
            </a:r>
            <a:r>
              <a:rPr lang="hi-IN" sz="1800" b="1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ที่ใช้บ่อย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6748200" y="1938600"/>
            <a:ext cx="411444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250" b="1" u="none" strike="noStrike" dirty="0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add(value)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เพิ่มข้อมูล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get(index)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อ่านข้อมูลตามตำแหน่ง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put(key, value)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เพิ่มข้อมูลแบบ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Map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250" b="1" u="none" strike="noStrike" dirty="0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get(key)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ค้นหาด้วย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key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2563EB"/>
                </a:solidFill>
                <a:effectLst/>
                <a:uFillTx/>
                <a:latin typeface="Noto Sans Thai UI"/>
                <a:ea typeface="Noto Sans Thai UI"/>
              </a:rPr>
              <a:t>• </a:t>
            </a:r>
            <a:r>
              <a:rPr lang="en-US" sz="1250" b="0" u="none" strike="noStrike" dirty="0" err="1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containsKey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(key)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เช็คว่ามี 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key </a:t>
            </a:r>
            <a:r>
              <a:rPr lang="hi-IN" sz="125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หรือไม่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685800" y="4572000"/>
            <a:ext cx="10789560" cy="100548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960120" y="482796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Concept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สำคัญ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: Collection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ไม่ได้เก็บแค่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int/String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แต่สามารถเก็บ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Object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ที่เราสร้างเองได้ เช่น 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PackageData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, Student, Room, 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FederateInfo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4A00AA-0E4F-D5C4-1D70-A5BBD73B6FE2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Code Structuring: Package &amp; Import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พอโปรแกรมเริ่มใหญ่ ต้องแยกไฟล์ตามหน้าที่ ไม่เขียนทุกอย่างใน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Main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685800" y="1831516"/>
            <a:ext cx="3213274" cy="3611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960120" y="2124196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โครงสร้างไฟล์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960119" y="2608756"/>
            <a:ext cx="2610711" cy="1645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1161360" y="2791636"/>
            <a:ext cx="3030394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src</a:t>
            </a: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└─ workshop/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 ├─ Main.java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 ├─ PackageData.java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 └─ PackageManager.java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4150106" y="1831516"/>
            <a:ext cx="3382920" cy="3611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4451786" y="2124196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Package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4442786" y="2608756"/>
            <a:ext cx="2697120" cy="159984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644026" y="2791636"/>
            <a:ext cx="22946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package workshop;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public class </a:t>
            </a:r>
            <a:r>
              <a:rPr lang="en-US" sz="125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PackageData</a:t>
            </a: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...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2"/>
          <p:cNvSpPr/>
          <p:nvPr/>
        </p:nvSpPr>
        <p:spPr>
          <a:xfrm>
            <a:off x="7818120" y="1831516"/>
            <a:ext cx="361152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8110800" y="2124196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Import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8110800" y="2608756"/>
            <a:ext cx="2880000" cy="159984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8312040" y="2791636"/>
            <a:ext cx="247752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import </a:t>
            </a:r>
            <a:r>
              <a:rPr lang="en-US" sz="120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java.util.HashMap</a:t>
            </a: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import </a:t>
            </a:r>
            <a:r>
              <a:rPr lang="en-US" sz="1200" b="0" u="none" strike="noStrike" dirty="0" err="1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workshop.PackageData</a:t>
            </a: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;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public class Main {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  ...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960120" y="516636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A8CBF-F9ED-DB6F-FDC8-80B446514BBE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12191400" cy="12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02920" y="311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byte[] </a:t>
            </a: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เบื้องต้น</a:t>
            </a:r>
            <a:r>
              <a:rPr lang="en-US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: </a:t>
            </a:r>
            <a:r>
              <a:rPr lang="hi-IN" sz="23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ข้อมูลดิบก่อนแปลงเป็นค่าจริง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11920" y="704160"/>
            <a:ext cx="7131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HLA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มักส่งข้อมูลในรูปแบบ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encoded data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จึงควรรู้จัก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byte[] </a:t>
            </a:r>
            <a:r>
              <a:rPr lang="hi-IN" sz="1050" b="0" u="none" strike="noStrike">
                <a:solidFill>
                  <a:srgbClr val="64748B"/>
                </a:solidFill>
                <a:effectLst/>
                <a:uFillTx/>
                <a:latin typeface="Noto Sans Thai UI"/>
                <a:cs typeface="Noto Sans Thai UI"/>
              </a:rPr>
              <a:t>ไว้ก่อน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8549640" y="384120"/>
            <a:ext cx="3062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Noto Sans Thai UI"/>
                <a:ea typeface="Noto Sans Thai UI"/>
              </a:rPr>
              <a:t>Java Day 3 • Collections &amp; HLA Preparation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685800" y="1188720"/>
            <a:ext cx="5166000" cy="2239920"/>
          </a:xfrm>
          <a:prstGeom prst="roundRect">
            <a:avLst>
              <a:gd name="adj" fmla="val 2449"/>
            </a:avLst>
          </a:prstGeom>
          <a:solidFill>
            <a:srgbClr val="0F172A"/>
          </a:solidFill>
          <a:ln w="12700">
            <a:solidFill>
              <a:srgbClr val="1E29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ct val="113095"/>
              </a:lnSpc>
              <a:buNone/>
            </a:pPr>
            <a:b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HLA</a:t>
            </a: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887040" y="1371600"/>
            <a:ext cx="4763520" cy="187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6400800" y="1188720"/>
            <a:ext cx="4983120" cy="223992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6720840" y="14997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มองเป็นกล่องเลข 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8-bit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6812280" y="2057400"/>
            <a:ext cx="86832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6812280" y="2240280"/>
            <a:ext cx="8683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72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7955280" y="2057400"/>
            <a:ext cx="868320" cy="50256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7955280" y="2240280"/>
            <a:ext cx="8683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76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9098280" y="2057400"/>
            <a:ext cx="86832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CBD5E1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9098280" y="2240280"/>
            <a:ext cx="8683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827"/>
                </a:solidFill>
                <a:effectLst/>
                <a:uFillTx/>
                <a:latin typeface="Consolas"/>
                <a:ea typeface="Consolas"/>
              </a:rPr>
              <a:t>65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685800" y="4069080"/>
            <a:ext cx="10698120" cy="1142640"/>
          </a:xfrm>
          <a:prstGeom prst="roundRect">
            <a:avLst>
              <a:gd name="adj" fmla="val 6400"/>
            </a:avLst>
          </a:prstGeom>
          <a:solidFill>
            <a:srgbClr val="FEFCE8"/>
          </a:solidFill>
          <a:ln w="12700">
            <a:solidFill>
              <a:srgbClr val="FDE68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960120" y="43707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byte[]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คือข้อมูลดิบที่ต้อง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encode/decode </a:t>
            </a:r>
            <a:r>
              <a:rPr lang="hi-IN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cs typeface="Noto Sans Thai UI"/>
              </a:rPr>
              <a:t>ก่อนใช้งานจริง โดยเฉพาะตอนเข้า 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Noto Sans Thai UI"/>
                <a:ea typeface="Noto Sans Thai UI"/>
              </a:rPr>
              <a:t>HLA Callback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4D182-989D-D01E-650D-02E3539AC551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320040" y="2196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Argument Passing over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20040" y="612720"/>
            <a:ext cx="8777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 dirty="0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ส่งข้อมูลจากโปรแกรมหนึ่งไปยังอีกโปรแกรมหนึ่งผ่าน </a:t>
            </a:r>
            <a:r>
              <a:rPr lang="en-US" sz="1300" b="0" u="none" strike="noStrike" dirty="0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TCP/IP Socket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502920" y="1143000"/>
            <a:ext cx="4105080" cy="4297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7479720" y="1143000"/>
            <a:ext cx="4205880" cy="4297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098512" y="141768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Client A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098512" y="1783440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เปิด </a:t>
            </a: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Port </a:t>
            </a:r>
            <a:r>
              <a:rPr lang="hi-IN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และรอรับการเชื่อมต่อ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594360" y="2286000"/>
            <a:ext cx="3893696" cy="2331360"/>
          </a:xfrm>
          <a:prstGeom prst="roundRect">
            <a:avLst>
              <a:gd name="adj" fmla="val 16667"/>
            </a:avLst>
          </a:prstGeom>
          <a:solidFill>
            <a:srgbClr val="0E1628"/>
          </a:solidFill>
          <a:ln w="12700">
            <a:solidFill>
              <a:srgbClr val="0E16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th-TH" sz="1100" dirty="0">
                <a:solidFill>
                  <a:srgbClr val="C586C0"/>
                </a:solidFill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readUTF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8" name="Text 7"/>
          <p:cNvSpPr/>
          <p:nvPr/>
        </p:nvSpPr>
        <p:spPr>
          <a:xfrm>
            <a:off x="914400" y="2432160"/>
            <a:ext cx="3100252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664786" y="4928400"/>
            <a:ext cx="1508400" cy="347040"/>
          </a:xfrm>
          <a:prstGeom prst="rect">
            <a:avLst/>
          </a:prstGeom>
          <a:solidFill>
            <a:srgbClr val="EAF2FF"/>
          </a:solidFill>
          <a:ln w="0">
            <a:solidFill>
              <a:srgbClr val="BDD3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F73F3"/>
                </a:solidFill>
                <a:effectLst/>
                <a:uFillTx/>
                <a:latin typeface="Tahoma"/>
                <a:cs typeface="Tahoma"/>
              </a:rPr>
              <a:t>รับข้อมูล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8098977" y="1440299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Client 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8098977" y="1806059"/>
            <a:ext cx="265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Connect </a:t>
            </a:r>
            <a:r>
              <a:rPr lang="hi-IN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ไปยัง </a:t>
            </a: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Client A </a:t>
            </a:r>
            <a:r>
              <a:rPr lang="hi-IN" sz="16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แล้วส่งข้อมูล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7571160" y="2286000"/>
            <a:ext cx="3995640" cy="2331360"/>
          </a:xfrm>
          <a:prstGeom prst="roundRect">
            <a:avLst>
              <a:gd name="adj" fmla="val 16667"/>
            </a:avLst>
          </a:prstGeom>
          <a:solidFill>
            <a:srgbClr val="0E1628"/>
          </a:solidFill>
          <a:ln w="12700">
            <a:solidFill>
              <a:srgbClr val="0E16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 from </a:t>
            </a:r>
            <a:r>
              <a:rPr lang="en-US" sz="11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ClientB</a:t>
            </a:r>
            <a:r>
              <a:rPr lang="en-US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writeUTF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(msg);</a:t>
            </a:r>
          </a:p>
        </p:txBody>
      </p:sp>
      <p:sp>
        <p:nvSpPr>
          <p:cNvPr id="23" name="Text 12"/>
          <p:cNvSpPr/>
          <p:nvPr/>
        </p:nvSpPr>
        <p:spPr>
          <a:xfrm>
            <a:off x="7836480" y="2432160"/>
            <a:ext cx="3428640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8828460" y="4942800"/>
            <a:ext cx="1508400" cy="347040"/>
          </a:xfrm>
          <a:prstGeom prst="rect">
            <a:avLst/>
          </a:prstGeom>
          <a:solidFill>
            <a:srgbClr val="DFF7E8"/>
          </a:solidFill>
          <a:ln w="0">
            <a:solidFill>
              <a:srgbClr val="B6E7C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00" b="1" u="none" strike="noStrike">
                <a:solidFill>
                  <a:srgbClr val="227A43"/>
                </a:solidFill>
                <a:effectLst/>
                <a:uFillTx/>
                <a:latin typeface="Tahoma"/>
                <a:cs typeface="Tahoma"/>
              </a:rPr>
              <a:t>ส่งข้อมูล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4744016" y="2789280"/>
            <a:ext cx="2571184" cy="0"/>
          </a:xfrm>
          <a:prstGeom prst="line">
            <a:avLst/>
          </a:prstGeom>
          <a:ln w="27940">
            <a:solidFill>
              <a:srgbClr val="2F73F3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4983480" y="23317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73F3"/>
                </a:solidFill>
                <a:effectLst/>
                <a:uFillTx/>
                <a:latin typeface="Tahoma"/>
                <a:ea typeface="Tahoma"/>
              </a:rPr>
              <a:t>TCP/IP Socket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5074920" y="29534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onsolas"/>
                <a:ea typeface="Consolas"/>
              </a:rPr>
              <a:t>127.0.0.1 : 5000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5358240" y="3657600"/>
            <a:ext cx="1371240" cy="328680"/>
          </a:xfrm>
          <a:prstGeom prst="rect">
            <a:avLst/>
          </a:prstGeom>
          <a:solidFill>
            <a:srgbClr val="FFFFFF"/>
          </a:solidFill>
          <a:ln w="0">
            <a:solidFill>
              <a:srgbClr val="DDE3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1 </a:t>
            </a:r>
            <a:r>
              <a:rPr lang="hi-IN" sz="1100" b="1" u="none" strike="noStrike">
                <a:solidFill>
                  <a:srgbClr val="172033"/>
                </a:solidFill>
                <a:effectLst/>
                <a:uFillTx/>
                <a:latin typeface="Tahoma"/>
                <a:cs typeface="Tahoma"/>
              </a:rPr>
              <a:t>ต่อ </a:t>
            </a:r>
            <a:r>
              <a:rPr lang="en-US" sz="11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594360" y="5779080"/>
            <a:ext cx="10972440" cy="502560"/>
          </a:xfrm>
          <a:prstGeom prst="rect">
            <a:avLst/>
          </a:prstGeom>
          <a:solidFill>
            <a:srgbClr val="EDF4FF"/>
          </a:solidFill>
          <a:ln w="0">
            <a:solidFill>
              <a:srgbClr val="C8DAF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cs typeface="Angsana New"/>
              </a:rPr>
              <a:t>แนวคิดสำคัญ</a:t>
            </a:r>
            <a:r>
              <a:rPr lang="en-US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ea typeface="Angsana New"/>
              </a:rPr>
              <a:t>: </a:t>
            </a:r>
            <a:r>
              <a:rPr lang="hi-IN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cs typeface="Angsana New"/>
              </a:rPr>
              <a:t>ตัวแปร </a:t>
            </a:r>
            <a:r>
              <a:rPr lang="en-US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ea typeface="Angsana New"/>
              </a:rPr>
              <a:t>Java </a:t>
            </a:r>
            <a:r>
              <a:rPr lang="hi-IN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cs typeface="Angsana New"/>
              </a:rPr>
              <a:t>ไม่ได้ “วิ่งข้ามเครื่อง” โดยตรง แต่ค่าจะถูกเขียนลง </a:t>
            </a:r>
            <a:r>
              <a:rPr lang="en-US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ea typeface="Angsana New"/>
              </a:rPr>
              <a:t>Stream </a:t>
            </a:r>
            <a:r>
              <a:rPr lang="hi-IN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cs typeface="Angsana New"/>
              </a:rPr>
              <a:t>แล้วส่งผ่าน </a:t>
            </a:r>
            <a:r>
              <a:rPr lang="en-US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ea typeface="Angsana New"/>
              </a:rPr>
              <a:t>Socket </a:t>
            </a:r>
            <a:r>
              <a:rPr lang="hi-IN" sz="1700" b="0" u="none" strike="noStrike" dirty="0">
                <a:solidFill>
                  <a:srgbClr val="38506B"/>
                </a:solidFill>
                <a:effectLst/>
                <a:uFillTx/>
                <a:latin typeface="Angsana New"/>
                <a:cs typeface="Angsana New"/>
              </a:rPr>
              <a:t>ไปให้อีกฝั่งอ่านกลับมา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1175004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BEFD1E-74DE-4225-8DE1-89DA087BACAA}" type="slidenum">
              <a: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rPr>
              <a:t>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AE778B-C1A8-9987-D7F2-0876F4C897CA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320040" y="2196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TCP/IP Socket Example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320040" y="612720"/>
            <a:ext cx="8777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ตัวอย่าง </a:t>
            </a: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1-to-1: Client B </a:t>
            </a:r>
            <a:r>
              <a:rPr lang="hi-IN" sz="13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ส่งข้อความให้ </a:t>
            </a:r>
            <a:r>
              <a:rPr lang="en-US" sz="13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Client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411480" y="105156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Client A — Receive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411480" y="1417320"/>
            <a:ext cx="5486040" cy="4754520"/>
          </a:xfrm>
          <a:prstGeom prst="roundRect">
            <a:avLst>
              <a:gd name="adj" fmla="val 16667"/>
            </a:avLst>
          </a:prstGeom>
          <a:solidFill>
            <a:srgbClr val="0E1628"/>
          </a:solidFill>
          <a:ln w="12700">
            <a:solidFill>
              <a:srgbClr val="0E16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86600" y="1563480"/>
            <a:ext cx="515700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h-TH" sz="889" dirty="0">
              <a:solidFill>
                <a:srgbClr val="F8FAFC"/>
              </a:solidFill>
              <a:latin typeface="Consolas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network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java.io.DataInputStream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java.net.ServerSocket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java.net.Socket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ClientA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(port);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"[A] waiting.."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"[A] connected.."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DataInputStream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DataInputStream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getInputStream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readUTF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"[A] Received: 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msg);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6291000" y="1051560"/>
            <a:ext cx="5440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Client B — Send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6291000" y="1417320"/>
            <a:ext cx="5467680" cy="4754520"/>
          </a:xfrm>
          <a:prstGeom prst="roundRect">
            <a:avLst>
              <a:gd name="adj" fmla="val 16667"/>
            </a:avLst>
          </a:prstGeom>
          <a:solidFill>
            <a:srgbClr val="0E1628"/>
          </a:solidFill>
          <a:ln w="12700">
            <a:solidFill>
              <a:srgbClr val="0E16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6820920" y="1780670"/>
            <a:ext cx="51386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network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java.io.DataOutputStream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java.net.Socket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ClientB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aIp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aIp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port);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DataOutputStream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DataOutputStream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getOutputStream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 from </a:t>
            </a:r>
            <a:r>
              <a:rPr lang="en-US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ClientB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writeUTF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(msg);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flush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printStackTrace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th-TH" sz="889" dirty="0">
              <a:solidFill>
                <a:srgbClr val="F8FAFC"/>
              </a:solidFill>
              <a:latin typeface="Consola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279320" y="4572000"/>
            <a:ext cx="1096920" cy="273960"/>
          </a:xfrm>
          <a:prstGeom prst="rect">
            <a:avLst/>
          </a:prstGeom>
          <a:solidFill>
            <a:srgbClr val="2F73F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readUTF()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10104120" y="4389120"/>
            <a:ext cx="1142640" cy="273960"/>
          </a:xfrm>
          <a:prstGeom prst="rect">
            <a:avLst/>
          </a:prstGeom>
          <a:solidFill>
            <a:srgbClr val="2AA6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writeUTF()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6"/>
          </p:nvPr>
        </p:nvSpPr>
        <p:spPr>
          <a:xfrm>
            <a:off x="1175004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0C6B62-6C0A-4C5C-AD15-57D434ECA790}" type="slidenum">
              <a: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rPr>
              <a:t>10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FA992-CABF-3790-D526-1AF9D93DE6DB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320040" y="2196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Data Flow: Client B → Client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20040" y="612720"/>
            <a:ext cx="8777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มองให้ออกว่า “ข้อมูล” เปลี่ยนผ่านจุดใดบ้าง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548640" y="1993320"/>
            <a:ext cx="1874160" cy="1965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658440" y="235908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033"/>
                </a:solidFill>
                <a:effectLst/>
                <a:uFillTx/>
                <a:latin typeface="Consolas"/>
                <a:ea typeface="Consolas"/>
              </a:rPr>
              <a:t>String msg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67440" y="290772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onsolas"/>
                <a:ea typeface="Consolas"/>
              </a:rPr>
              <a:t>"hello world from ClientB"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2422800" y="2971800"/>
            <a:ext cx="274680" cy="0"/>
          </a:xfrm>
          <a:prstGeom prst="line">
            <a:avLst/>
          </a:prstGeom>
          <a:ln w="22860">
            <a:solidFill>
              <a:srgbClr val="2F73F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2697480" y="1993320"/>
            <a:ext cx="1874160" cy="1965600"/>
          </a:xfrm>
          <a:prstGeom prst="roundRect">
            <a:avLst>
              <a:gd name="adj" fmla="val 3902"/>
            </a:avLst>
          </a:prstGeom>
          <a:solidFill>
            <a:srgbClr val="EAF2FF"/>
          </a:solidFill>
          <a:ln w="12700">
            <a:solidFill>
              <a:srgbClr val="BDD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2807280" y="235908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writeUTF(msg)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2816280" y="290772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เขียนค่า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String </a:t>
            </a: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ลง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Output Stream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4571640" y="2972160"/>
            <a:ext cx="320400" cy="0"/>
          </a:xfrm>
          <a:prstGeom prst="line">
            <a:avLst/>
          </a:prstGeom>
          <a:ln w="22860">
            <a:solidFill>
              <a:srgbClr val="2F73F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4892040" y="1993320"/>
            <a:ext cx="1874160" cy="1965600"/>
          </a:xfrm>
          <a:prstGeom prst="roundRect">
            <a:avLst>
              <a:gd name="adj" fmla="val 3902"/>
            </a:avLst>
          </a:prstGeom>
          <a:solidFill>
            <a:srgbClr val="FFF4CC"/>
          </a:solidFill>
          <a:ln w="12700">
            <a:solidFill>
              <a:srgbClr val="F0D9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5001840" y="235908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TCP/IP Socket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5010840" y="290772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ส่งข้อมูลผ่าน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Connection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6766200" y="2972160"/>
            <a:ext cx="347760" cy="0"/>
          </a:xfrm>
          <a:prstGeom prst="line">
            <a:avLst/>
          </a:prstGeom>
          <a:ln w="22860">
            <a:solidFill>
              <a:srgbClr val="2F73F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7113960" y="1993320"/>
            <a:ext cx="1874160" cy="1965600"/>
          </a:xfrm>
          <a:prstGeom prst="roundRect">
            <a:avLst>
              <a:gd name="adj" fmla="val 3902"/>
            </a:avLst>
          </a:prstGeom>
          <a:solidFill>
            <a:srgbClr val="DFF7E8"/>
          </a:solidFill>
          <a:ln w="12700">
            <a:solidFill>
              <a:srgbClr val="B6E7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7223760" y="235908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033"/>
                </a:solidFill>
                <a:effectLst/>
                <a:uFillTx/>
                <a:latin typeface="Tahoma"/>
                <a:ea typeface="Tahoma"/>
              </a:rPr>
              <a:t>readUTF()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7232760" y="290772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อ่านข้อมูลจาก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Input Stream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8988120" y="2972160"/>
            <a:ext cx="384480" cy="0"/>
          </a:xfrm>
          <a:prstGeom prst="line">
            <a:avLst/>
          </a:prstGeom>
          <a:ln w="22860">
            <a:solidFill>
              <a:srgbClr val="2F73F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9372600" y="1993320"/>
            <a:ext cx="1874160" cy="1965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9482400" y="235908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72033"/>
                </a:solidFill>
                <a:effectLst/>
                <a:uFillTx/>
                <a:latin typeface="Consolas"/>
                <a:ea typeface="Consolas"/>
              </a:rPr>
              <a:t>String msg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9491400" y="290772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ค่าที่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Client A </a:t>
            </a: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ได้รับ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548640" y="137160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27A43"/>
                </a:solidFill>
                <a:effectLst/>
                <a:uFillTx/>
                <a:latin typeface="Tahoma"/>
                <a:ea typeface="Tahoma"/>
              </a:rPr>
              <a:t>Client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4892040" y="137160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A6A00"/>
                </a:solidFill>
                <a:effectLst/>
                <a:uFillTx/>
                <a:latin typeface="Tahoma"/>
                <a:ea typeface="Tahoma"/>
              </a:rPr>
              <a:t>Network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7113960" y="1371600"/>
            <a:ext cx="41328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73F3"/>
                </a:solidFill>
                <a:effectLst/>
                <a:uFillTx/>
                <a:latin typeface="Tahoma"/>
                <a:ea typeface="Tahoma"/>
              </a:rPr>
              <a:t>Client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4"/>
          <p:cNvSpPr/>
          <p:nvPr/>
        </p:nvSpPr>
        <p:spPr>
          <a:xfrm>
            <a:off x="658440" y="4572000"/>
            <a:ext cx="5211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5"/>
          <p:cNvSpPr/>
          <p:nvPr/>
        </p:nvSpPr>
        <p:spPr>
          <a:xfrm>
            <a:off x="868680" y="47732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227A43"/>
                </a:solidFill>
                <a:effectLst/>
                <a:uFillTx/>
                <a:latin typeface="Tahoma"/>
                <a:cs typeface="Tahoma"/>
              </a:rPr>
              <a:t>ฝั่งส่ง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1783080" y="47548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2033"/>
                </a:solidFill>
                <a:effectLst/>
                <a:uFillTx/>
                <a:latin typeface="Consolas"/>
                <a:ea typeface="Consolas"/>
              </a:rPr>
              <a:t>output.writeUTF(msg);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1783080" y="510228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นำค่าจากตัวแปร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msg </a:t>
            </a: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เขียนลง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Stream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8"/>
          <p:cNvSpPr/>
          <p:nvPr/>
        </p:nvSpPr>
        <p:spPr>
          <a:xfrm>
            <a:off x="6263640" y="4572000"/>
            <a:ext cx="521172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6473880" y="477324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1" u="none" strike="noStrike">
                <a:solidFill>
                  <a:srgbClr val="2F73F3"/>
                </a:solidFill>
                <a:effectLst/>
                <a:uFillTx/>
                <a:latin typeface="Tahoma"/>
                <a:cs typeface="Tahoma"/>
              </a:rPr>
              <a:t>ฝั่งรับ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7360920" y="4754880"/>
            <a:ext cx="3611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2033"/>
                </a:solidFill>
                <a:effectLst/>
                <a:uFillTx/>
                <a:latin typeface="Consolas"/>
                <a:ea typeface="Consolas"/>
              </a:rPr>
              <a:t>String msg = input.readUTF();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1"/>
          <p:cNvSpPr/>
          <p:nvPr/>
        </p:nvSpPr>
        <p:spPr>
          <a:xfrm>
            <a:off x="7360920" y="510228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อ่านค่าจาก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Stream </a:t>
            </a: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แล้วสร้างตัวแปร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msg </a:t>
            </a:r>
            <a:r>
              <a:rPr lang="hi-IN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cs typeface="Angsana New"/>
              </a:rPr>
              <a:t>ของ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ngsana New"/>
                <a:ea typeface="Angsana New"/>
              </a:rPr>
              <a:t>Client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3337560" y="5870520"/>
            <a:ext cx="5486040" cy="365400"/>
          </a:xfrm>
          <a:prstGeom prst="rect">
            <a:avLst/>
          </a:prstGeom>
          <a:solidFill>
            <a:srgbClr val="F1F4F8"/>
          </a:solidFill>
          <a:ln w="0">
            <a:solidFill>
              <a:srgbClr val="DDE3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2033"/>
                </a:solidFill>
                <a:effectLst/>
                <a:uFillTx/>
                <a:latin typeface="Consolas"/>
                <a:ea typeface="Consolas"/>
              </a:rPr>
              <a:t>[A] Received: hello world from ClientB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Num" idx="7"/>
          </p:nvPr>
        </p:nvSpPr>
        <p:spPr>
          <a:xfrm>
            <a:off x="1175004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287BF1-CD3A-4ADC-90F9-D53B647EF5E7}" type="slidenum">
              <a:rPr lang="en-US" sz="700" b="0" u="none" strike="noStrike">
                <a:solidFill>
                  <a:srgbClr val="B0B7C3"/>
                </a:solidFill>
                <a:effectLst/>
                <a:uFillTx/>
                <a:latin typeface="Tahoma"/>
                <a:ea typeface="Tahoma"/>
              </a:rPr>
              <a:t>11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3059A5-A833-000B-809E-790FAAE58D92}"/>
              </a:ext>
            </a:extLst>
          </p:cNvPr>
          <p:cNvSpPr/>
          <p:nvPr/>
        </p:nvSpPr>
        <p:spPr>
          <a:xfrm>
            <a:off x="9279800" y="299324"/>
            <a:ext cx="2553077" cy="401760"/>
          </a:xfrm>
          <a:prstGeom prst="rect">
            <a:avLst/>
          </a:prstGeom>
          <a:solidFill>
            <a:srgbClr val="F7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ea typeface="Noto Sans Thai UI"/>
              </a:rPr>
              <a:t>Java </a:t>
            </a:r>
            <a:r>
              <a:rPr lang="th-TH" sz="900" dirty="0">
                <a:solidFill>
                  <a:srgbClr val="64748B"/>
                </a:solidFill>
                <a:ea typeface="Noto Sans Thai UI"/>
              </a:rPr>
              <a:t>บทที่ </a:t>
            </a:r>
            <a:r>
              <a:rPr lang="en-US" sz="900" dirty="0">
                <a:solidFill>
                  <a:srgbClr val="64748B"/>
                </a:solidFill>
                <a:ea typeface="Noto Sans Thai UI"/>
              </a:rPr>
              <a:t>3 • Collections &amp; HLA Preparation</a:t>
            </a:r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</a:majorFont>
      <a:minorFont>
        <a:latin typeface="Noto Sans Thai U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1431</Words>
  <Application>Microsoft Office PowerPoint</Application>
  <PresentationFormat>Widescreen</PresentationFormat>
  <Paragraphs>279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Angsana New</vt:lpstr>
      <vt:lpstr>Arial</vt:lpstr>
      <vt:lpstr>Consolas</vt:lpstr>
      <vt:lpstr>Noto Sans Thai UI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chattrakul</dc:creator>
  <cp:lastModifiedBy>จิรเมธ แสนทอง</cp:lastModifiedBy>
  <cp:revision>5</cp:revision>
  <dcterms:modified xsi:type="dcterms:W3CDTF">2026-10-15T10:20:44Z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2026-09-11T10:19:46Z</dcterms:created>
  <dc:creator>OpenAI</dc:creator>
  <dc:description/>
  <dc:language>en-US</dc:language>
  <cp:lastModifiedBy>OpenAI</cp:lastModifiedBy>
  <dcterms:modified xsi:type="dcterms:W3CDTF">2026-09-11T10:19:46Z</dcterms:modified>
  <cp:revision>1</cp:revision>
  <dc:subject>Day 3 Java Collections &amp; HLA Preparation</dc:subject>
  <dc:title>Day 3 Java Collections &amp; Data Handling for HLA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