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66" r:id="rId1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65" autoAdjust="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51F75ED-161A-48F5-BE24-8536B2A7ACA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B46FB0-7117-433D-AFC6-9E957988F1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557BA-B2FE-45DC-B1AF-F83FD60BBB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19DC85-84A4-44BD-A2DF-9E1571DA56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7C9412-2937-4041-A74E-7FB2FAC836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27E776-E3F8-4009-8975-B73D0DA81A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4923D9-D228-43DF-BC6A-08DE83D2BE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517F46-8073-42CA-A387-324BEAB84F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484FD8-B2A5-44BA-A122-BD786B83CB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F259C4-8251-490A-B4B1-B2E3AC1F9F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E8D964-4992-4DA3-B3CF-D6EB7BC97D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B51564-CD7E-4F26-8254-C5A46DE764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A95295-0591-458C-8E71-E0C5529378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A8CE2D-979C-4EAA-9E8F-0C3D223675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8118C8-CFEC-4064-B005-AFF2AEC635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713160" y="64008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th-TH" sz="2200" b="1" dirty="0">
                <a:solidFill>
                  <a:srgbClr val="06B6D4"/>
                </a:solidFill>
                <a:latin typeface="Tahoma"/>
                <a:ea typeface="Tahoma"/>
              </a:rPr>
              <a:t>บทที่ </a:t>
            </a:r>
            <a:r>
              <a:rPr lang="en-US" sz="2200" b="1" u="none" strike="noStrike" dirty="0">
                <a:solidFill>
                  <a:srgbClr val="06B6D4"/>
                </a:solidFill>
                <a:effectLst/>
                <a:uFillTx/>
                <a:latin typeface="Tahoma"/>
                <a:ea typeface="Tahoma"/>
              </a:rPr>
              <a:t>2</a:t>
            </a:r>
            <a:endParaRPr lang="en-US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13160" y="13258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Tahoma"/>
                <a:ea typeface="Tahoma"/>
              </a:rPr>
              <a:t>Java OOP Foundation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49880" y="1993320"/>
            <a:ext cx="71319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CBD5E1"/>
                </a:solidFill>
                <a:effectLst/>
                <a:uFillTx/>
                <a:latin typeface="Tahoma"/>
                <a:ea typeface="Tahoma"/>
              </a:rPr>
              <a:t>Class • Object • Encapsulation • Inheritance • Interface • Exception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8412480" y="1051560"/>
            <a:ext cx="1416960" cy="65808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600">
            <a:solidFill>
              <a:srgbClr val="06B6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503920" y="128016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B6D4"/>
                </a:solidFill>
                <a:effectLst/>
                <a:uFillTx/>
                <a:latin typeface="Tahoma"/>
                <a:ea typeface="Tahoma"/>
              </a:rPr>
              <a:t>Class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9646920" y="2286000"/>
            <a:ext cx="1554120" cy="65808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9738360" y="251460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B981"/>
                </a:solidFill>
                <a:effectLst/>
                <a:uFillTx/>
                <a:latin typeface="Tahoma"/>
                <a:ea typeface="Tahoma"/>
              </a:rPr>
              <a:t>Object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955280" y="3703320"/>
            <a:ext cx="2011320" cy="65808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60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8046720" y="393192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97316"/>
                </a:solidFill>
                <a:effectLst/>
                <a:uFillTx/>
                <a:latin typeface="Tahoma"/>
                <a:ea typeface="Tahoma"/>
              </a:rPr>
              <a:t>HLA Code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10058400" y="4480560"/>
            <a:ext cx="1691280" cy="65808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0149840" y="4709160"/>
            <a:ext cx="15084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7C3AED"/>
                </a:solidFill>
                <a:effectLst/>
                <a:uFillTx/>
                <a:latin typeface="Tahoma"/>
                <a:ea typeface="Tahoma"/>
              </a:rPr>
              <a:t>Callback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9098280" y="1719000"/>
            <a:ext cx="777240" cy="567000"/>
          </a:xfrm>
          <a:prstGeom prst="line">
            <a:avLst/>
          </a:prstGeom>
          <a:ln w="1260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 flipH="1">
            <a:off x="9052560" y="2944080"/>
            <a:ext cx="640080" cy="759240"/>
          </a:xfrm>
          <a:prstGeom prst="line">
            <a:avLst/>
          </a:prstGeom>
          <a:ln w="1260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11201400" y="649224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1/13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C51839A-DD73-588D-B593-4FDFC7BADC66}"/>
              </a:ext>
            </a:extLst>
          </p:cNvPr>
          <p:cNvSpPr/>
          <p:nvPr/>
        </p:nvSpPr>
        <p:spPr>
          <a:xfrm>
            <a:off x="749880" y="2322720"/>
            <a:ext cx="71319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CBD5E1"/>
                </a:solidFill>
                <a:effectLst/>
                <a:uFillTx/>
                <a:latin typeface="Tahoma"/>
                <a:ea typeface="Tahoma"/>
              </a:rPr>
              <a:t>Call by </a:t>
            </a:r>
            <a:r>
              <a:rPr lang="en-US" sz="1400" dirty="0">
                <a:solidFill>
                  <a:srgbClr val="CBD5E1"/>
                </a:solidFill>
                <a:latin typeface="Tahoma"/>
                <a:ea typeface="Tahoma"/>
              </a:rPr>
              <a:t>Value •</a:t>
            </a:r>
            <a:r>
              <a:rPr lang="en-US" sz="1400" b="0" u="none" strike="noStrike" dirty="0">
                <a:solidFill>
                  <a:srgbClr val="CBD5E1"/>
                </a:solidFill>
                <a:effectLst/>
                <a:uFillTx/>
                <a:latin typeface="Tahoma"/>
                <a:ea typeface="Tahoma"/>
              </a:rPr>
              <a:t> Call by Reference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>
            <a:extLst>
              <a:ext uri="{FF2B5EF4-FFF2-40B4-BE49-F238E27FC236}">
                <a16:creationId xmlns:a16="http://schemas.microsoft.com/office/drawing/2014/main" id="{366287E2-925C-90D9-6F4F-979791D24609}"/>
              </a:ext>
            </a:extLst>
          </p:cNvPr>
          <p:cNvSpPr/>
          <p:nvPr/>
        </p:nvSpPr>
        <p:spPr>
          <a:xfrm>
            <a:off x="9485736" y="2382960"/>
            <a:ext cx="1005840" cy="0"/>
          </a:xfrm>
          <a:prstGeom prst="line">
            <a:avLst/>
          </a:prstGeom>
          <a:ln w="1260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0"/>
          <p:cNvSpPr/>
          <p:nvPr/>
        </p:nvSpPr>
        <p:spPr>
          <a:xfrm>
            <a:off x="594360" y="347400"/>
            <a:ext cx="7497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th-TH" sz="2400" b="1" dirty="0">
                <a:solidFill>
                  <a:srgbClr val="0B1220"/>
                </a:solidFill>
                <a:latin typeface="Tahoma"/>
                <a:ea typeface="Tahoma"/>
                <a:cs typeface="Tahoma"/>
              </a:rPr>
              <a:t>บทที่ </a:t>
            </a:r>
            <a:r>
              <a:rPr lang="en-US" sz="2400" b="1" dirty="0">
                <a:solidFill>
                  <a:srgbClr val="0B1220"/>
                </a:solidFill>
                <a:latin typeface="Tahoma"/>
                <a:ea typeface="Tahoma"/>
                <a:cs typeface="Tahoma"/>
              </a:rPr>
              <a:t>2 </a:t>
            </a:r>
            <a:r>
              <a:rPr lang="hi-IN" sz="2400" b="1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ทำอะไรบ้าง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621720" y="78624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50" b="0" u="none" strike="noStrike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จาก “เขียน </a:t>
            </a: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logic </a:t>
            </a:r>
            <a:r>
              <a:rPr lang="hi-IN" sz="950" b="0" u="none" strike="noStrike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ได้” → “อ่านโครงสร้างโปรแกรมจริงได้”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1060704" y="2395440"/>
            <a:ext cx="1005840" cy="0"/>
          </a:xfrm>
          <a:prstGeom prst="line">
            <a:avLst/>
          </a:prstGeom>
          <a:ln w="1260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3236976" y="2395440"/>
            <a:ext cx="868680" cy="0"/>
          </a:xfrm>
          <a:prstGeom prst="line">
            <a:avLst/>
          </a:prstGeom>
          <a:ln w="1260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5184648" y="2395440"/>
            <a:ext cx="1005840" cy="0"/>
          </a:xfrm>
          <a:prstGeom prst="line">
            <a:avLst/>
          </a:prstGeom>
          <a:ln w="1260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5"/>
          <p:cNvSpPr/>
          <p:nvPr/>
        </p:nvSpPr>
        <p:spPr>
          <a:xfrm>
            <a:off x="7242048" y="2395440"/>
            <a:ext cx="1005840" cy="0"/>
          </a:xfrm>
          <a:prstGeom prst="line">
            <a:avLst/>
          </a:prstGeom>
          <a:ln w="1260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6"/>
          <p:cNvSpPr/>
          <p:nvPr/>
        </p:nvSpPr>
        <p:spPr>
          <a:xfrm>
            <a:off x="91440" y="2011680"/>
            <a:ext cx="1554120" cy="74952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182880" y="228600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effectLst/>
                <a:uFillTx/>
                <a:latin typeface="Tahoma"/>
                <a:ea typeface="Tahoma"/>
              </a:rPr>
              <a:t>Class / Object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2066544" y="2011680"/>
            <a:ext cx="1554120" cy="74952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2157984" y="228600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Tahoma"/>
                <a:ea typeface="Tahoma"/>
              </a:rPr>
              <a:t>Constructor / this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0"/>
          <p:cNvSpPr/>
          <p:nvPr/>
        </p:nvSpPr>
        <p:spPr>
          <a:xfrm>
            <a:off x="4105656" y="2011680"/>
            <a:ext cx="1554120" cy="74952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60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4197096" y="228600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97316"/>
                </a:solidFill>
                <a:effectLst/>
                <a:uFillTx/>
                <a:latin typeface="Tahoma"/>
                <a:ea typeface="Tahoma"/>
              </a:rPr>
              <a:t>Encapsulation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2"/>
          <p:cNvSpPr/>
          <p:nvPr/>
        </p:nvSpPr>
        <p:spPr>
          <a:xfrm>
            <a:off x="6190488" y="2011680"/>
            <a:ext cx="1554120" cy="74952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6281928" y="228600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Tahoma"/>
                <a:ea typeface="Tahoma"/>
              </a:rPr>
              <a:t>Inheritance / Interface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777240" y="342900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ผลลัพธ์หลังจบวันนี้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868680" y="3886200"/>
            <a:ext cx="5211720" cy="131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30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สร้าง</a:t>
            </a: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class/object </a:t>
            </a:r>
            <a:r>
              <a:rPr lang="hi-IN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เองได้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30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อ่านโค้ด</a:t>
            </a: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extends, @Override, interface </a:t>
            </a:r>
            <a:r>
              <a:rPr lang="hi-IN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ได้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30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เข้าใจ</a:t>
            </a: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private/getter/setter </a:t>
            </a:r>
            <a:r>
              <a:rPr lang="hi-IN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และ </a:t>
            </a: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exception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30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พร้อมเปิด</a:t>
            </a: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HLA Federate code </a:t>
            </a:r>
            <a:r>
              <a:rPr lang="hi-IN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โดยไม่หลง </a:t>
            </a: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syntax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8"/>
          <p:cNvSpPr/>
          <p:nvPr/>
        </p:nvSpPr>
        <p:spPr>
          <a:xfrm>
            <a:off x="6446520" y="3246120"/>
            <a:ext cx="4983120" cy="2148480"/>
          </a:xfrm>
          <a:prstGeom prst="roundRect">
            <a:avLst>
              <a:gd name="adj" fmla="val 2979"/>
            </a:avLst>
          </a:prstGeom>
          <a:solidFill>
            <a:srgbClr val="111827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trackingNumber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trackingNumber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trackingNumber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trackingNumber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4" name="Text 19"/>
          <p:cNvSpPr/>
          <p:nvPr/>
        </p:nvSpPr>
        <p:spPr>
          <a:xfrm>
            <a:off x="6611040" y="3410640"/>
            <a:ext cx="4654080" cy="185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0"/>
          <p:cNvSpPr/>
          <p:nvPr/>
        </p:nvSpPr>
        <p:spPr>
          <a:xfrm>
            <a:off x="713160" y="1124640"/>
            <a:ext cx="1005480" cy="328680"/>
          </a:xfrm>
          <a:prstGeom prst="roundRect">
            <a:avLst>
              <a:gd name="adj" fmla="val 22222"/>
            </a:avLst>
          </a:prstGeom>
          <a:solidFill>
            <a:srgbClr val="2563EB">
              <a:alpha val="14000"/>
            </a:srgbClr>
          </a:solidFill>
          <a:ln w="12600">
            <a:solidFill>
              <a:srgbClr val="2563EB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786240" y="1197720"/>
            <a:ext cx="859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2563EB"/>
                </a:solidFill>
                <a:effectLst/>
                <a:uFillTx/>
                <a:latin typeface="Tahoma"/>
                <a:ea typeface="Tahoma"/>
              </a:rPr>
              <a:t>OOP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1810440" y="1124640"/>
            <a:ext cx="1371240" cy="328680"/>
          </a:xfrm>
          <a:prstGeom prst="roundRect">
            <a:avLst>
              <a:gd name="adj" fmla="val 22222"/>
            </a:avLst>
          </a:prstGeom>
          <a:solidFill>
            <a:srgbClr val="F97316">
              <a:alpha val="14000"/>
            </a:srgbClr>
          </a:solidFill>
          <a:ln w="12600">
            <a:solidFill>
              <a:srgbClr val="F97316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1883520" y="1197720"/>
            <a:ext cx="1225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F97316"/>
                </a:solidFill>
                <a:effectLst/>
                <a:uFillTx/>
                <a:latin typeface="Tahoma"/>
                <a:ea typeface="Tahoma"/>
              </a:rPr>
              <a:t>HLA Prep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6"/>
          <p:cNvSpPr/>
          <p:nvPr/>
        </p:nvSpPr>
        <p:spPr>
          <a:xfrm>
            <a:off x="502920" y="649224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Java Foundation for HLA  | </a:t>
            </a:r>
            <a:r>
              <a:rPr lang="th-TH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บทที่ </a:t>
            </a: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2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7"/>
          <p:cNvSpPr/>
          <p:nvPr/>
        </p:nvSpPr>
        <p:spPr>
          <a:xfrm>
            <a:off x="11201400" y="649224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2/13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4">
            <a:extLst>
              <a:ext uri="{FF2B5EF4-FFF2-40B4-BE49-F238E27FC236}">
                <a16:creationId xmlns:a16="http://schemas.microsoft.com/office/drawing/2014/main" id="{F3B34637-D33D-B528-C9FB-66EF72680866}"/>
              </a:ext>
            </a:extLst>
          </p:cNvPr>
          <p:cNvSpPr/>
          <p:nvPr/>
        </p:nvSpPr>
        <p:spPr>
          <a:xfrm>
            <a:off x="10491576" y="1993392"/>
            <a:ext cx="1554120" cy="74952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6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5">
            <a:extLst>
              <a:ext uri="{FF2B5EF4-FFF2-40B4-BE49-F238E27FC236}">
                <a16:creationId xmlns:a16="http://schemas.microsoft.com/office/drawing/2014/main" id="{FA29B201-1984-29EC-2561-4015D575E541}"/>
              </a:ext>
            </a:extLst>
          </p:cNvPr>
          <p:cNvSpPr/>
          <p:nvPr/>
        </p:nvSpPr>
        <p:spPr>
          <a:xfrm>
            <a:off x="10583016" y="2267712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EF4444"/>
                </a:solidFill>
                <a:effectLst/>
                <a:uFillTx/>
                <a:latin typeface="Tahoma"/>
                <a:ea typeface="Tahoma"/>
              </a:rPr>
              <a:t>Exception / HLA bridge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50C32E7-83A2-E763-57AF-369F100B72E5}"/>
              </a:ext>
            </a:extLst>
          </p:cNvPr>
          <p:cNvSpPr/>
          <p:nvPr/>
        </p:nvSpPr>
        <p:spPr>
          <a:xfrm>
            <a:off x="8247888" y="1990344"/>
            <a:ext cx="1554120" cy="74952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DB33DA1-6788-F56C-6A75-FD12C7E90C4C}"/>
              </a:ext>
            </a:extLst>
          </p:cNvPr>
          <p:cNvSpPr/>
          <p:nvPr/>
        </p:nvSpPr>
        <p:spPr>
          <a:xfrm>
            <a:off x="8339328" y="2264664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2563EB"/>
                </a:solidFill>
                <a:effectLst/>
                <a:uFillTx/>
                <a:latin typeface="Tahoma"/>
                <a:ea typeface="Tahoma"/>
              </a:rPr>
              <a:t>Call by Value /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2563EB"/>
                </a:solidFill>
                <a:effectLst/>
                <a:uFillTx/>
                <a:latin typeface="Tahoma"/>
                <a:ea typeface="Tahoma"/>
              </a:rPr>
              <a:t>Call by Reference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2">
            <a:extLst>
              <a:ext uri="{FF2B5EF4-FFF2-40B4-BE49-F238E27FC236}">
                <a16:creationId xmlns:a16="http://schemas.microsoft.com/office/drawing/2014/main" id="{7330BBB9-0ABF-D76E-70DD-02021A631D95}"/>
              </a:ext>
            </a:extLst>
          </p:cNvPr>
          <p:cNvSpPr/>
          <p:nvPr/>
        </p:nvSpPr>
        <p:spPr>
          <a:xfrm>
            <a:off x="685800" y="1234440"/>
            <a:ext cx="5394600" cy="3474360"/>
          </a:xfrm>
          <a:prstGeom prst="roundRect">
            <a:avLst>
              <a:gd name="adj" fmla="val 1842"/>
            </a:avLst>
          </a:prstGeom>
          <a:solidFill>
            <a:srgbClr val="111827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1">
              <a:lnSpc>
                <a:spcPct val="113095"/>
              </a:lnSpc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lvl="1">
              <a:lnSpc>
                <a:spcPct val="113095"/>
              </a:lnSpc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trackingNumber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ct val="113095"/>
              </a:lnSpc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ct val="113095"/>
              </a:lnSpc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lvl="1">
              <a:lnSpc>
                <a:spcPct val="113095"/>
              </a:lnSpc>
            </a:pP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</a:pP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lvl="1">
              <a:lnSpc>
                <a:spcPct val="113095"/>
              </a:lnSpc>
            </a:pP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53" name="Text 0"/>
          <p:cNvSpPr/>
          <p:nvPr/>
        </p:nvSpPr>
        <p:spPr>
          <a:xfrm>
            <a:off x="594360" y="347400"/>
            <a:ext cx="7497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Class </a:t>
            </a:r>
            <a:r>
              <a:rPr lang="hi-IN" sz="2400" b="1" u="none" strike="noStrike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และ </a:t>
            </a:r>
            <a:r>
              <a:rPr lang="en-US" sz="2400" b="1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Object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621720" y="78624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Class </a:t>
            </a:r>
            <a:r>
              <a:rPr lang="hi-IN" sz="950" b="0" u="none" strike="noStrike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คือแม่แบบ </a:t>
            </a: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/ Object </a:t>
            </a:r>
            <a:r>
              <a:rPr lang="hi-IN" sz="950" b="0" u="none" strike="noStrike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คือของจริงที่ถูกสร้างขึ้น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896040" y="1581840"/>
            <a:ext cx="4836960" cy="254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6499860" y="1554480"/>
            <a:ext cx="182844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6591300" y="1746540"/>
            <a:ext cx="1737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dirty="0">
                <a:solidFill>
                  <a:srgbClr val="2563EB"/>
                </a:solidFill>
                <a:latin typeface="Tahoma"/>
                <a:ea typeface="Tahoma"/>
              </a:rPr>
              <a:t>p</a:t>
            </a:r>
            <a:r>
              <a:rPr lang="en-US" sz="1000" b="1" u="none" strike="noStrike" dirty="0">
                <a:solidFill>
                  <a:srgbClr val="2563EB"/>
                </a:solidFill>
                <a:effectLst/>
                <a:uFillTx/>
                <a:latin typeface="Tahoma"/>
                <a:ea typeface="Tahoma"/>
              </a:rPr>
              <a:t>1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dirty="0" err="1">
                <a:solidFill>
                  <a:srgbClr val="2563EB"/>
                </a:solidFill>
                <a:latin typeface="Tahoma"/>
                <a:ea typeface="Tahoma"/>
              </a:rPr>
              <a:t>trakingNumber</a:t>
            </a:r>
            <a:r>
              <a:rPr lang="en-US" sz="1000" b="1" dirty="0">
                <a:solidFill>
                  <a:srgbClr val="2563EB"/>
                </a:solidFill>
                <a:latin typeface="Tahoma"/>
                <a:ea typeface="Tahoma"/>
              </a:rPr>
              <a:t> = </a:t>
            </a:r>
            <a:r>
              <a:rPr lang="en-US" sz="1000" b="1" u="none" strike="noStrike" dirty="0">
                <a:solidFill>
                  <a:srgbClr val="2563EB"/>
                </a:solidFill>
                <a:effectLst/>
                <a:uFillTx/>
                <a:latin typeface="Tahoma"/>
                <a:ea typeface="Tahoma"/>
              </a:rPr>
              <a:t>PK001</a:t>
            </a:r>
            <a:br>
              <a:rPr lang="en-US" sz="1000" b="1" u="none" strike="noStrike" dirty="0">
                <a:solidFill>
                  <a:srgbClr val="2563EB"/>
                </a:solidFill>
                <a:effectLst/>
                <a:uFillTx/>
                <a:latin typeface="Tahoma"/>
                <a:ea typeface="Tahoma"/>
              </a:rPr>
            </a:br>
            <a:r>
              <a:rPr lang="en-US" sz="1000" b="1" u="none" strike="noStrike" dirty="0">
                <a:solidFill>
                  <a:srgbClr val="2563EB"/>
                </a:solidFill>
                <a:effectLst/>
                <a:uFillTx/>
                <a:latin typeface="Tahoma"/>
                <a:ea typeface="Tahoma"/>
              </a:rPr>
              <a:t>location = Bangkok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8"/>
          <p:cNvSpPr/>
          <p:nvPr/>
        </p:nvSpPr>
        <p:spPr>
          <a:xfrm>
            <a:off x="6499860" y="2587680"/>
            <a:ext cx="182844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6591300" y="2767260"/>
            <a:ext cx="1645560" cy="42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dirty="0">
                <a:solidFill>
                  <a:srgbClr val="10B981"/>
                </a:solidFill>
                <a:latin typeface="Tahoma"/>
                <a:ea typeface="Tahoma"/>
              </a:rPr>
              <a:t>p2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dirty="0" err="1">
                <a:solidFill>
                  <a:srgbClr val="10B981"/>
                </a:solidFill>
                <a:effectLst/>
                <a:uFillTx/>
                <a:latin typeface="Tahoma"/>
                <a:ea typeface="Tahoma"/>
              </a:rPr>
              <a:t>trackingNumber</a:t>
            </a:r>
            <a:r>
              <a:rPr lang="en-US" sz="1000" b="1" u="none" strike="noStrike" dirty="0">
                <a:solidFill>
                  <a:srgbClr val="10B981"/>
                </a:solidFill>
                <a:effectLst/>
                <a:uFillTx/>
                <a:latin typeface="Tahoma"/>
                <a:ea typeface="Tahoma"/>
              </a:rPr>
              <a:t> = PK002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dirty="0">
                <a:solidFill>
                  <a:srgbClr val="10B981"/>
                </a:solidFill>
                <a:effectLst/>
                <a:uFillTx/>
                <a:latin typeface="Tahoma"/>
                <a:ea typeface="Tahoma"/>
              </a:rPr>
              <a:t>location = London</a:t>
            </a:r>
          </a:p>
        </p:txBody>
      </p:sp>
      <p:sp>
        <p:nvSpPr>
          <p:cNvPr id="63" name="Shape 10"/>
          <p:cNvSpPr/>
          <p:nvPr/>
        </p:nvSpPr>
        <p:spPr>
          <a:xfrm>
            <a:off x="6499860" y="3575340"/>
            <a:ext cx="1828440" cy="7128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60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6591300" y="3831300"/>
            <a:ext cx="1662188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97316"/>
                </a:solidFill>
                <a:effectLst/>
                <a:uFillTx/>
                <a:latin typeface="Tahoma"/>
                <a:ea typeface="Tahoma"/>
              </a:rPr>
              <a:t>Object </a:t>
            </a:r>
            <a:r>
              <a:rPr lang="hi-IN" sz="1050" b="1" u="none" strike="noStrike">
                <a:solidFill>
                  <a:srgbClr val="F97316"/>
                </a:solidFill>
                <a:effectLst/>
                <a:uFillTx/>
                <a:latin typeface="Tahoma"/>
                <a:cs typeface="Tahoma"/>
              </a:rPr>
              <a:t>มีข้อมูลของตัวเอง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868680" y="4800600"/>
            <a:ext cx="804636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r>
              <a:rPr lang="en-US" sz="1300" b="0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HLA </a:t>
            </a:r>
            <a:r>
              <a:rPr lang="hi-IN" sz="1300" b="0" u="none" strike="noStrike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จะมี </a:t>
            </a:r>
            <a:r>
              <a:rPr lang="en-US" sz="1300" b="0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Object Instance </a:t>
            </a:r>
            <a:r>
              <a:rPr lang="hi-IN" sz="1300" b="0" u="none" strike="noStrike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หลายตัว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Class </a:t>
            </a:r>
            <a:r>
              <a:rPr lang="hi-IN" sz="1300" b="0" u="none" strike="noStrike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ช่วยให้จัดข้อมูลเป็นรูปแบบเดียวกัน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Object </a:t>
            </a:r>
            <a:r>
              <a:rPr lang="hi-IN" sz="1300" b="0" u="none" strike="noStrike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แต่ละตัวมี </a:t>
            </a:r>
            <a:r>
              <a:rPr lang="en-US" sz="1300" b="0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state </a:t>
            </a:r>
            <a:r>
              <a:rPr lang="hi-IN" sz="1300" b="0" u="none" strike="noStrike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ของตัวเอง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502920" y="649224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Java Foundation for HLA  | </a:t>
            </a:r>
            <a:r>
              <a:rPr lang="th-TH" sz="750" dirty="0">
                <a:solidFill>
                  <a:srgbClr val="94A3B8"/>
                </a:solidFill>
                <a:latin typeface="Tahoma"/>
                <a:ea typeface="Tahoma"/>
              </a:rPr>
              <a:t>บทที่</a:t>
            </a: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 2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11201400" y="649224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3/13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642D444B-7100-0917-5505-0EA5A24B681E}"/>
              </a:ext>
            </a:extLst>
          </p:cNvPr>
          <p:cNvCxnSpPr>
            <a:cxnSpLocks/>
            <a:endCxn id="59" idx="1"/>
          </p:cNvCxnSpPr>
          <p:nvPr/>
        </p:nvCxnSpPr>
        <p:spPr>
          <a:xfrm flipV="1">
            <a:off x="4227968" y="1965780"/>
            <a:ext cx="2271892" cy="1544183"/>
          </a:xfrm>
          <a:prstGeom prst="bentConnector3">
            <a:avLst>
              <a:gd name="adj1" fmla="val 40357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9236424-50FD-B13E-60E1-34FA3B2838DF}"/>
              </a:ext>
            </a:extLst>
          </p:cNvPr>
          <p:cNvCxnSpPr>
            <a:cxnSpLocks/>
            <a:endCxn id="61" idx="1"/>
          </p:cNvCxnSpPr>
          <p:nvPr/>
        </p:nvCxnSpPr>
        <p:spPr>
          <a:xfrm flipV="1">
            <a:off x="4227968" y="2998980"/>
            <a:ext cx="2271892" cy="71294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94360" y="347400"/>
            <a:ext cx="7497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Attributes </a:t>
            </a:r>
            <a:r>
              <a:rPr lang="hi-IN" sz="2400" b="1" u="none" strike="noStrike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และ </a:t>
            </a:r>
            <a:r>
              <a:rPr lang="en-US" sz="2400" b="1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Methods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621720" y="78624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50" b="0" u="none" strike="noStrike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ข้อมูลอยู่ใน </a:t>
            </a: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Attribute / </a:t>
            </a:r>
            <a:r>
              <a:rPr lang="hi-IN" sz="950" b="0" u="none" strike="noStrike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พฤติกรรมอยู่ใน </a:t>
            </a: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Method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685800" y="1234440"/>
            <a:ext cx="5394600" cy="3474360"/>
          </a:xfrm>
          <a:prstGeom prst="roundRect">
            <a:avLst>
              <a:gd name="adj" fmla="val 1842"/>
            </a:avLst>
          </a:prstGeom>
          <a:solidFill>
            <a:srgbClr val="111827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trackingNumber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updateLocation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newLocation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location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newLocation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71" name="Text 3"/>
          <p:cNvSpPr/>
          <p:nvPr/>
        </p:nvSpPr>
        <p:spPr>
          <a:xfrm>
            <a:off x="850320" y="1398960"/>
            <a:ext cx="5065560" cy="318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4"/>
          <p:cNvSpPr/>
          <p:nvPr/>
        </p:nvSpPr>
        <p:spPr>
          <a:xfrm>
            <a:off x="7673340" y="2026920"/>
            <a:ext cx="1919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7764780" y="233796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Tahoma"/>
                <a:ea typeface="Tahoma"/>
              </a:rPr>
              <a:t>Attribute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2563EB"/>
                </a:solidFill>
                <a:effectLst/>
                <a:uFillTx/>
                <a:latin typeface="Tahoma"/>
                <a:cs typeface="Tahoma"/>
              </a:rPr>
              <a:t>เก็บข้อมูล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6"/>
          <p:cNvSpPr/>
          <p:nvPr/>
        </p:nvSpPr>
        <p:spPr>
          <a:xfrm>
            <a:off x="7673340" y="3840480"/>
            <a:ext cx="1919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00B0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7764780" y="415152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Tahoma"/>
                <a:ea typeface="Tahoma"/>
              </a:rPr>
              <a:t>Method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10B981"/>
                </a:solidFill>
                <a:effectLst/>
                <a:uFillTx/>
                <a:latin typeface="Tahoma"/>
                <a:cs typeface="Tahoma"/>
              </a:rPr>
              <a:t>สั่งให้ทำงาน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8"/>
          <p:cNvSpPr/>
          <p:nvPr/>
        </p:nvSpPr>
        <p:spPr>
          <a:xfrm flipV="1">
            <a:off x="3385996" y="2422980"/>
            <a:ext cx="4287344" cy="1240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502920" y="649224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Java Foundation for HLA  | </a:t>
            </a:r>
            <a:r>
              <a:rPr lang="th-TH" sz="750" dirty="0">
                <a:solidFill>
                  <a:srgbClr val="94A3B8"/>
                </a:solidFill>
                <a:latin typeface="Tahoma"/>
                <a:ea typeface="Tahoma"/>
              </a:rPr>
              <a:t>บทที่</a:t>
            </a: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 2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3"/>
          <p:cNvSpPr/>
          <p:nvPr/>
        </p:nvSpPr>
        <p:spPr>
          <a:xfrm>
            <a:off x="11201400" y="649224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4/13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BCA029C4-FFDC-DBF7-EBDF-CEDAFF199F42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4952246" y="3186820"/>
            <a:ext cx="2721094" cy="106496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594360" y="347400"/>
            <a:ext cx="7497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Constructor </a:t>
            </a:r>
            <a:r>
              <a:rPr lang="hi-IN" sz="2400" b="1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และ </a:t>
            </a:r>
            <a:r>
              <a:rPr lang="en-US" sz="2400" b="1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this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621720" y="78624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Constructor </a:t>
            </a:r>
            <a:r>
              <a:rPr lang="hi-IN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ทำงานตอน 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new Object / this </a:t>
            </a:r>
            <a:r>
              <a:rPr lang="hi-IN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หมายถึง 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object </a:t>
            </a:r>
            <a:r>
              <a:rPr lang="hi-IN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ตัวปัจจุบัน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685800" y="1234440"/>
            <a:ext cx="5440320" cy="3108600"/>
          </a:xfrm>
          <a:prstGeom prst="roundRect">
            <a:avLst>
              <a:gd name="adj" fmla="val 2059"/>
            </a:avLst>
          </a:prstGeom>
          <a:solidFill>
            <a:srgbClr val="111827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trackingNumber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SetPackageData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trackingNumber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trackingNumber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trackingNumber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5" name="Text 3"/>
          <p:cNvSpPr/>
          <p:nvPr/>
        </p:nvSpPr>
        <p:spPr>
          <a:xfrm>
            <a:off x="850320" y="1398960"/>
            <a:ext cx="5111280" cy="281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6629400" y="1417320"/>
            <a:ext cx="2605680" cy="6397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60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6720840" y="1636920"/>
            <a:ext cx="2422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97316"/>
                </a:solidFill>
                <a:effectLst/>
                <a:uFillTx/>
                <a:latin typeface="Tahoma"/>
                <a:ea typeface="Tahoma"/>
              </a:rPr>
              <a:t>new PackageData("PK001")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7909560" y="2057400"/>
            <a:ext cx="360" cy="731520"/>
          </a:xfrm>
          <a:prstGeom prst="line">
            <a:avLst/>
          </a:prstGeom>
          <a:ln w="1260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6812280" y="2788920"/>
            <a:ext cx="2239920" cy="6397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6903720" y="300852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Tahoma"/>
                <a:ea typeface="Tahoma"/>
              </a:rPr>
              <a:t>Constructor </a:t>
            </a:r>
            <a:r>
              <a:rPr lang="hi-IN" sz="1100" b="1" u="none" strike="noStrike">
                <a:solidFill>
                  <a:srgbClr val="10B981"/>
                </a:solidFill>
                <a:effectLst/>
                <a:uFillTx/>
                <a:latin typeface="Tahoma"/>
                <a:cs typeface="Tahoma"/>
              </a:rPr>
              <a:t>ถูกเรียก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7909560" y="3429000"/>
            <a:ext cx="360" cy="731520"/>
          </a:xfrm>
          <a:prstGeom prst="line">
            <a:avLst/>
          </a:prstGeom>
          <a:ln w="1260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6446520" y="4160520"/>
            <a:ext cx="2971440" cy="6397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6537960" y="438012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effectLst/>
                <a:uFillTx/>
                <a:latin typeface="Tahoma"/>
                <a:ea typeface="Tahoma"/>
              </a:rPr>
              <a:t>this.trackingNumber = "PK001"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822960" y="5074920"/>
            <a:ext cx="777204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30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ใช้กำหนดค่าเริ่มต้นให้</a:t>
            </a: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Object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30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ช่วยลด</a:t>
            </a: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Object </a:t>
            </a:r>
            <a:r>
              <a:rPr lang="hi-IN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ที่ข้อมูลว่าง</a:t>
            </a: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/</a:t>
            </a:r>
            <a:r>
              <a:rPr lang="hi-IN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ไม่สมบูรณ์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30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ใน</a:t>
            </a: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HLA </a:t>
            </a:r>
            <a:r>
              <a:rPr lang="hi-IN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มักมี </a:t>
            </a: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constructor </a:t>
            </a:r>
            <a:r>
              <a:rPr lang="hi-IN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เตรียม </a:t>
            </a: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ambassador / config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502920" y="649224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Java Foundation for HLA  | </a:t>
            </a:r>
            <a:r>
              <a:rPr lang="th-TH" sz="750" dirty="0">
                <a:solidFill>
                  <a:srgbClr val="94A3B8"/>
                </a:solidFill>
                <a:latin typeface="Tahoma"/>
                <a:ea typeface="Tahoma"/>
              </a:rPr>
              <a:t>บทที่</a:t>
            </a: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 2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11201400" y="649224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5/13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594360" y="347400"/>
            <a:ext cx="7497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Encapsulation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621720" y="78624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50" b="0" u="none" strike="noStrike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ปกป้องข้อมูลด้วย </a:t>
            </a: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private </a:t>
            </a:r>
            <a:r>
              <a:rPr lang="hi-IN" sz="950" b="0" u="none" strike="noStrike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แล้วเปิดทางเข้าผ่าน </a:t>
            </a: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method </a:t>
            </a:r>
            <a:r>
              <a:rPr lang="hi-IN" sz="950" b="0" u="none" strike="noStrike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ที่ควบคุมได้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685800" y="1143000"/>
            <a:ext cx="4845960" cy="4114440"/>
          </a:xfrm>
          <a:prstGeom prst="roundRect">
            <a:avLst>
              <a:gd name="adj" fmla="val 1556"/>
            </a:avLst>
          </a:prstGeom>
          <a:solidFill>
            <a:srgbClr val="111827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>
              <a:buNone/>
            </a:pPr>
            <a:r>
              <a:rPr lang="en-US" sz="11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1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66E1F8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1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1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1EB540"/>
                </a:solidFill>
                <a:effectLst/>
                <a:latin typeface="Consolas" panose="020B0609020204030204" pitchFamily="49" charset="0"/>
              </a:rPr>
              <a:t>getLocation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1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	return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66E1F8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1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1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1EB540"/>
                </a:solidFill>
                <a:effectLst/>
                <a:latin typeface="Consolas" panose="020B0609020204030204" pitchFamily="49" charset="0"/>
              </a:rPr>
              <a:t>setLocation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1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100" dirty="0" err="1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100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dirty="0" err="1">
                <a:solidFill>
                  <a:srgbClr val="66E1F8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1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1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HelloWorld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1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1EB54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2"/>
            <a:r>
              <a:rPr lang="en-US" sz="1100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F2F200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1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2"/>
            <a:r>
              <a:rPr lang="en-US" sz="1100" dirty="0" err="1">
                <a:solidFill>
                  <a:srgbClr val="F3EC79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packageData</a:t>
            </a:r>
            <a:r>
              <a:rPr lang="en-US" sz="1100" dirty="0" err="1">
                <a:solidFill>
                  <a:srgbClr val="E6E6FA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.</a:t>
            </a:r>
            <a:r>
              <a:rPr lang="en-US" sz="1100" u="sng" dirty="0" err="1">
                <a:solidFill>
                  <a:srgbClr val="66E1F8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location</a:t>
            </a:r>
            <a:r>
              <a:rPr lang="en-US" sz="1100" dirty="0">
                <a:solidFill>
                  <a:srgbClr val="D9E8F7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E6E6FA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=</a:t>
            </a:r>
            <a:r>
              <a:rPr lang="en-US" sz="1100" dirty="0">
                <a:solidFill>
                  <a:srgbClr val="D9E8F7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17C6A3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"Bangkok"</a:t>
            </a:r>
            <a:r>
              <a:rPr lang="en-US" sz="1100" dirty="0">
                <a:solidFill>
                  <a:srgbClr val="E6E6FA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;</a:t>
            </a:r>
            <a:r>
              <a:rPr lang="en-US" sz="1100" dirty="0">
                <a:solidFill>
                  <a:srgbClr val="D9E8F7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//Error</a:t>
            </a:r>
          </a:p>
          <a:p>
            <a:pPr lvl="2"/>
            <a:r>
              <a:rPr lang="en-US" sz="1100" dirty="0" err="1">
                <a:solidFill>
                  <a:srgbClr val="F3EC79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100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setLocation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"Bangkok"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1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2"/>
            <a:r>
              <a:rPr lang="en-US" sz="1100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100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100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F3EC79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100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getLocation</a:t>
            </a: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US" sz="11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en-US" sz="11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//Bangkok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1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850320" y="1307520"/>
            <a:ext cx="4516920" cy="38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6355080" y="1828800"/>
            <a:ext cx="1828440" cy="7311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6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6446520" y="209412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F4444"/>
                </a:solidFill>
                <a:effectLst/>
                <a:uFillTx/>
                <a:latin typeface="Tahoma"/>
                <a:ea typeface="Tahoma"/>
              </a:rPr>
              <a:t>private field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6"/>
          <p:cNvSpPr/>
          <p:nvPr/>
        </p:nvSpPr>
        <p:spPr>
          <a:xfrm>
            <a:off x="8961120" y="1828800"/>
            <a:ext cx="2011320" cy="7311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9052560" y="209412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Tahoma"/>
                <a:ea typeface="Tahoma"/>
              </a:rPr>
              <a:t>getter / setter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8"/>
          <p:cNvSpPr/>
          <p:nvPr/>
        </p:nvSpPr>
        <p:spPr>
          <a:xfrm>
            <a:off x="8183880" y="2194560"/>
            <a:ext cx="777240" cy="360"/>
          </a:xfrm>
          <a:prstGeom prst="line">
            <a:avLst/>
          </a:prstGeom>
          <a:ln w="1260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6446520" y="3154680"/>
            <a:ext cx="438876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30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ห้ามแก้ข้อมูลจากข้างนอกมั่ว</a:t>
            </a: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ๆ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30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ควบคุม</a:t>
            </a: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validation </a:t>
            </a:r>
            <a:r>
              <a:rPr lang="hi-IN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ได้ภายหลัง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30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ทำให้</a:t>
            </a:r>
            <a:r>
              <a:rPr lang="en-US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code </a:t>
            </a:r>
            <a:r>
              <a:rPr lang="hi-IN" sz="130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ใหญ่ ๆ อ่านง่ายขึ้น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502920" y="649224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Java Foundation for HLA  | </a:t>
            </a:r>
            <a:r>
              <a:rPr lang="th-TH" sz="750" dirty="0">
                <a:solidFill>
                  <a:srgbClr val="94A3B8"/>
                </a:solidFill>
                <a:latin typeface="Tahoma"/>
                <a:ea typeface="Tahoma"/>
              </a:rPr>
              <a:t>บทที่</a:t>
            </a: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 2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11201400" y="649224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6/13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594360" y="347400"/>
            <a:ext cx="7497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static </a:t>
            </a:r>
            <a:r>
              <a:rPr lang="hi-IN" sz="2400" b="1" u="none" strike="noStrike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และ </a:t>
            </a:r>
            <a:r>
              <a:rPr lang="en-US" sz="2400" b="1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final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621720" y="78624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731520" y="1325880"/>
            <a:ext cx="5394600" cy="1828440"/>
          </a:xfrm>
          <a:prstGeom prst="roundRect">
            <a:avLst>
              <a:gd name="adj" fmla="val 3500"/>
            </a:avLst>
          </a:prstGeom>
          <a:solidFill>
            <a:srgbClr val="111827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packageCount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FEDERATION_NAME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"HLA_DEMO"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2" name="Text 3"/>
          <p:cNvSpPr/>
          <p:nvPr/>
        </p:nvSpPr>
        <p:spPr>
          <a:xfrm>
            <a:off x="896040" y="1490400"/>
            <a:ext cx="5065560" cy="153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7482840" y="1407120"/>
            <a:ext cx="1919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7574280" y="172716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Tahoma"/>
                <a:ea typeface="Tahoma"/>
              </a:rPr>
              <a:t>static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2563EB"/>
                </a:solidFill>
                <a:effectLst/>
                <a:uFillTx/>
                <a:latin typeface="Tahoma"/>
                <a:cs typeface="Tahoma"/>
              </a:rPr>
              <a:t>เป็นของ </a:t>
            </a: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Tahoma"/>
                <a:ea typeface="Tahoma"/>
              </a:rPr>
              <a:t>Class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6"/>
          <p:cNvSpPr/>
          <p:nvPr/>
        </p:nvSpPr>
        <p:spPr>
          <a:xfrm>
            <a:off x="7482840" y="2385240"/>
            <a:ext cx="1919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60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7574280" y="270528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97316"/>
                </a:solidFill>
                <a:effectLst/>
                <a:uFillTx/>
                <a:latin typeface="Tahoma"/>
                <a:ea typeface="Tahoma"/>
              </a:rPr>
              <a:t>final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 dirty="0">
                <a:solidFill>
                  <a:srgbClr val="F97316"/>
                </a:solidFill>
                <a:effectLst/>
                <a:uFillTx/>
                <a:latin typeface="Tahoma"/>
                <a:cs typeface="Tahoma"/>
              </a:rPr>
              <a:t>เปลี่ยนค่าไม่ได้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822960" y="370332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ตัวอย่างที่คล้าย </a:t>
            </a:r>
            <a:r>
              <a:rPr lang="en-US" sz="1100" b="1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HLA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1"/>
          <p:cNvSpPr/>
          <p:nvPr/>
        </p:nvSpPr>
        <p:spPr>
          <a:xfrm>
            <a:off x="731520" y="4023360"/>
            <a:ext cx="7131960" cy="1427520"/>
          </a:xfrm>
          <a:prstGeom prst="roundRect">
            <a:avLst>
              <a:gd name="adj" fmla="val 5600"/>
            </a:avLst>
          </a:prstGeom>
          <a:solidFill>
            <a:srgbClr val="111827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>
              <a:buNone/>
            </a:pPr>
            <a:r>
              <a:rPr lang="en-US" sz="12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HelloWorld</a:t>
            </a:r>
            <a:r>
              <a:rPr lang="en-US" sz="12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2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2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i="1" dirty="0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READY_TO_RUN</a:t>
            </a:r>
            <a:r>
              <a:rPr lang="en-US" sz="12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ReadyToRun</a:t>
            </a:r>
            <a:r>
              <a:rPr lang="en-US" sz="1200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2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EB54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sz="12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20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จุดเริ่มโปรแกรม</a:t>
            </a:r>
            <a:endParaRPr lang="th-TH" sz="120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en-US" sz="1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2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2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896040" y="4187880"/>
            <a:ext cx="6802920" cy="8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8366760" y="3886200"/>
            <a:ext cx="292572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static main() </a:t>
            </a:r>
            <a:r>
              <a:rPr lang="hi-IN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คือจุดเริ่มโปรแกรม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25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ค่าคงที่ใช้</a:t>
            </a:r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static final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25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ลด</a:t>
            </a:r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magic text </a:t>
            </a:r>
            <a:r>
              <a:rPr lang="hi-IN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ในโค้ด </a:t>
            </a:r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HLA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502920" y="649224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Java Foundation for HLA  | </a:t>
            </a:r>
            <a:r>
              <a:rPr lang="th-TH" sz="750" dirty="0">
                <a:solidFill>
                  <a:srgbClr val="94A3B8"/>
                </a:solidFill>
                <a:latin typeface="Tahoma"/>
                <a:ea typeface="Tahoma"/>
              </a:rPr>
              <a:t>บทที่</a:t>
            </a: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 2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5"/>
          <p:cNvSpPr/>
          <p:nvPr/>
        </p:nvSpPr>
        <p:spPr>
          <a:xfrm>
            <a:off x="11201400" y="649224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7/13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8E7BB60-78DA-1BAC-831F-9450D8844F5E}"/>
              </a:ext>
            </a:extLst>
          </p:cNvPr>
          <p:cNvCxnSpPr>
            <a:cxnSpLocks/>
            <a:endCxn id="113" idx="1"/>
          </p:cNvCxnSpPr>
          <p:nvPr/>
        </p:nvCxnSpPr>
        <p:spPr>
          <a:xfrm flipV="1">
            <a:off x="3589020" y="1827600"/>
            <a:ext cx="3893820" cy="327300"/>
          </a:xfrm>
          <a:prstGeom prst="bentConnector3">
            <a:avLst>
              <a:gd name="adj1" fmla="val 72701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C5F7C6D-C176-3347-BCA5-822443DDA387}"/>
              </a:ext>
            </a:extLst>
          </p:cNvPr>
          <p:cNvCxnSpPr>
            <a:cxnSpLocks/>
            <a:endCxn id="115" idx="1"/>
          </p:cNvCxnSpPr>
          <p:nvPr/>
        </p:nvCxnSpPr>
        <p:spPr>
          <a:xfrm>
            <a:off x="5356860" y="2377080"/>
            <a:ext cx="2125980" cy="42864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594360" y="347400"/>
            <a:ext cx="7497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Inheritance: extends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621720" y="78624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Class </a:t>
            </a:r>
            <a:r>
              <a:rPr lang="hi-IN" sz="950" b="0" u="none" strike="noStrike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ลูกสืบทอดความสามารถจาก </a:t>
            </a: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Class </a:t>
            </a:r>
            <a:r>
              <a:rPr lang="hi-IN" sz="950" b="0" u="none" strike="noStrike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แม่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6"/>
          <p:cNvSpPr/>
          <p:nvPr/>
        </p:nvSpPr>
        <p:spPr>
          <a:xfrm>
            <a:off x="4443910" y="1714140"/>
            <a:ext cx="228564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4520110" y="202518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Base Class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Vehicle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8"/>
          <p:cNvSpPr/>
          <p:nvPr/>
        </p:nvSpPr>
        <p:spPr>
          <a:xfrm>
            <a:off x="2852820" y="3635100"/>
            <a:ext cx="1645560" cy="7311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2944260" y="39004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563EB"/>
                </a:solidFill>
                <a:effectLst/>
                <a:uFillTx/>
                <a:latin typeface="Tahoma"/>
                <a:ea typeface="Tahoma"/>
              </a:rPr>
              <a:t>Car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0"/>
          <p:cNvSpPr/>
          <p:nvPr/>
        </p:nvSpPr>
        <p:spPr>
          <a:xfrm>
            <a:off x="4770300" y="3635100"/>
            <a:ext cx="1645560" cy="7311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1"/>
          <p:cNvSpPr/>
          <p:nvPr/>
        </p:nvSpPr>
        <p:spPr>
          <a:xfrm>
            <a:off x="4861740" y="39004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B981"/>
                </a:solidFill>
                <a:effectLst/>
                <a:uFillTx/>
                <a:latin typeface="Tahoma"/>
                <a:ea typeface="Tahoma"/>
              </a:rPr>
              <a:t>Train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2"/>
          <p:cNvSpPr/>
          <p:nvPr/>
        </p:nvSpPr>
        <p:spPr>
          <a:xfrm>
            <a:off x="6693300" y="3635100"/>
            <a:ext cx="1645560" cy="7311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60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3"/>
          <p:cNvSpPr/>
          <p:nvPr/>
        </p:nvSpPr>
        <p:spPr>
          <a:xfrm>
            <a:off x="6784740" y="39004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97316"/>
                </a:solidFill>
                <a:effectLst/>
                <a:uFillTx/>
                <a:latin typeface="Tahoma"/>
                <a:ea typeface="Tahoma"/>
              </a:rPr>
              <a:t>Ship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6"/>
          <p:cNvSpPr/>
          <p:nvPr/>
        </p:nvSpPr>
        <p:spPr>
          <a:xfrm>
            <a:off x="822960" y="5074920"/>
            <a:ext cx="4937400" cy="91404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7"/>
          <p:cNvSpPr/>
          <p:nvPr/>
        </p:nvSpPr>
        <p:spPr>
          <a:xfrm>
            <a:off x="987480" y="5239440"/>
            <a:ext cx="46083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class </a:t>
            </a:r>
            <a:r>
              <a:rPr lang="en-US" sz="1020" b="0" u="none" strike="noStrike" dirty="0" err="1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MyFederateAmbassador</a:t>
            </a:r>
            <a:endParaRPr lang="en-US" sz="10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   extends </a:t>
            </a:r>
            <a:r>
              <a:rPr lang="en-US" sz="1020" b="0" u="none" strike="noStrike" dirty="0" err="1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NullFederateAmbassador</a:t>
            </a:r>
            <a:r>
              <a:rPr lang="en-US" sz="102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{</a:t>
            </a:r>
            <a:endParaRPr lang="en-US" sz="10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   ...</a:t>
            </a:r>
            <a:endParaRPr lang="en-US" sz="10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0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8"/>
          <p:cNvSpPr/>
          <p:nvPr/>
        </p:nvSpPr>
        <p:spPr>
          <a:xfrm>
            <a:off x="6400800" y="4956120"/>
            <a:ext cx="466308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extends = </a:t>
            </a:r>
            <a:r>
              <a:rPr lang="hi-IN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เอาความสามารถพื้นฐานมาใช้ต่อ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25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ช่วยให้</a:t>
            </a:r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Override </a:t>
            </a:r>
            <a:r>
              <a:rPr lang="hi-IN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เฉพาะสิ่งที่ต้องการ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25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แนวนี้พบเยอะในตัวอย่าง</a:t>
            </a:r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HLA </a:t>
            </a:r>
            <a:r>
              <a:rPr lang="en-US" sz="125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FederateAmbassador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9"/>
          <p:cNvSpPr/>
          <p:nvPr/>
        </p:nvSpPr>
        <p:spPr>
          <a:xfrm>
            <a:off x="502920" y="649224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Java Foundation for HLA  | </a:t>
            </a:r>
            <a:r>
              <a:rPr lang="th-TH" sz="750" dirty="0">
                <a:solidFill>
                  <a:srgbClr val="94A3B8"/>
                </a:solidFill>
                <a:latin typeface="Tahoma"/>
                <a:ea typeface="Tahoma"/>
              </a:rPr>
              <a:t>บทที่</a:t>
            </a: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 2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0"/>
          <p:cNvSpPr/>
          <p:nvPr/>
        </p:nvSpPr>
        <p:spPr>
          <a:xfrm>
            <a:off x="11201400" y="649224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8/13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2CC25D05-C71D-51C4-2885-F36AD60D4627}"/>
              </a:ext>
            </a:extLst>
          </p:cNvPr>
          <p:cNvCxnSpPr>
            <a:cxnSpLocks/>
            <a:stCxn id="131" idx="2"/>
            <a:endCxn id="137" idx="0"/>
          </p:cNvCxnSpPr>
          <p:nvPr/>
        </p:nvCxnSpPr>
        <p:spPr>
          <a:xfrm rot="16200000" flipH="1">
            <a:off x="6002225" y="2121245"/>
            <a:ext cx="1098360" cy="192935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B84FD4F-3A71-A56A-78D4-A480FB941F3D}"/>
              </a:ext>
            </a:extLst>
          </p:cNvPr>
          <p:cNvCxnSpPr>
            <a:cxnSpLocks/>
            <a:stCxn id="131" idx="2"/>
            <a:endCxn id="135" idx="0"/>
          </p:cNvCxnSpPr>
          <p:nvPr/>
        </p:nvCxnSpPr>
        <p:spPr>
          <a:xfrm rot="16200000" flipH="1">
            <a:off x="5040725" y="3082745"/>
            <a:ext cx="1098360" cy="635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CE1FB77-00D9-BF53-469D-DBC328F10218}"/>
              </a:ext>
            </a:extLst>
          </p:cNvPr>
          <p:cNvCxnSpPr>
            <a:cxnSpLocks/>
            <a:stCxn id="131" idx="2"/>
            <a:endCxn id="133" idx="0"/>
          </p:cNvCxnSpPr>
          <p:nvPr/>
        </p:nvCxnSpPr>
        <p:spPr>
          <a:xfrm rot="5400000">
            <a:off x="4081985" y="2130355"/>
            <a:ext cx="1098360" cy="191113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594360" y="347400"/>
            <a:ext cx="7497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Polymorphism </a:t>
            </a:r>
            <a:r>
              <a:rPr lang="hi-IN" sz="2400" b="1" u="none" strike="noStrike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และ </a:t>
            </a:r>
            <a:r>
              <a:rPr lang="en-US" sz="2400" b="1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@Override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621720" y="78624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Method </a:t>
            </a:r>
            <a:r>
              <a:rPr lang="hi-IN" sz="950" b="0" u="none" strike="noStrike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ชื่อเดียวกัน แต่ </a:t>
            </a: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class </a:t>
            </a:r>
            <a:r>
              <a:rPr lang="hi-IN" sz="950" b="0" u="none" strike="noStrike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ลูกสามารถกำหนดพฤติกรรมใหม่ได้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685800" y="1143000"/>
            <a:ext cx="4983120" cy="3794400"/>
          </a:xfrm>
          <a:prstGeom prst="roundRect">
            <a:avLst>
              <a:gd name="adj" fmla="val 1687"/>
            </a:avLst>
          </a:prstGeom>
          <a:solidFill>
            <a:srgbClr val="111827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speak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 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"..."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ct val="113095"/>
              </a:lnSpc>
              <a:buNone/>
            </a:pPr>
            <a:r>
              <a:rPr lang="en-US" sz="1200" dirty="0">
                <a:solidFill>
                  <a:srgbClr val="BBBEBF"/>
                </a:solidFill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Dog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speak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 </a:t>
            </a:r>
          </a:p>
          <a:p>
            <a:pPr>
              <a:lnSpc>
                <a:spcPct val="113095"/>
              </a:lnSpc>
              <a:buNone/>
            </a:pPr>
            <a:r>
              <a:rPr lang="en-US" sz="1200" dirty="0">
                <a:solidFill>
                  <a:srgbClr val="BBBEBF"/>
                </a:solidFill>
                <a:latin typeface="Consolas" panose="020B0609020204030204" pitchFamily="49" charset="0"/>
              </a:rPr>
              <a:t>     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"Bark"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ct val="113095"/>
              </a:lnSpc>
              <a:buNone/>
            </a:pPr>
            <a:r>
              <a:rPr lang="en-US" sz="1200" dirty="0">
                <a:solidFill>
                  <a:srgbClr val="BBBEBF"/>
                </a:solidFill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9" name="Text 3"/>
          <p:cNvSpPr/>
          <p:nvPr/>
        </p:nvSpPr>
        <p:spPr>
          <a:xfrm>
            <a:off x="850320" y="1307520"/>
            <a:ext cx="4654080" cy="350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6400800" y="1554480"/>
            <a:ext cx="2194200" cy="6854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60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6492240" y="179676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97316"/>
                </a:solidFill>
                <a:effectLst/>
                <a:uFillTx/>
                <a:latin typeface="Tahoma"/>
                <a:ea typeface="Tahoma"/>
              </a:rPr>
              <a:t>RTI </a:t>
            </a:r>
            <a:r>
              <a:rPr lang="hi-IN" sz="1100" b="1" u="none" strike="noStrike">
                <a:solidFill>
                  <a:srgbClr val="F97316"/>
                </a:solidFill>
                <a:effectLst/>
                <a:uFillTx/>
                <a:latin typeface="Tahoma"/>
                <a:cs typeface="Tahoma"/>
              </a:rPr>
              <a:t>เรียก </a:t>
            </a:r>
            <a:r>
              <a:rPr lang="en-US" sz="1100" b="1" u="none" strike="noStrike">
                <a:solidFill>
                  <a:srgbClr val="F97316"/>
                </a:solidFill>
                <a:effectLst/>
                <a:uFillTx/>
                <a:latin typeface="Tahoma"/>
                <a:ea typeface="Tahoma"/>
              </a:rPr>
              <a:t>callback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6"/>
          <p:cNvSpPr/>
          <p:nvPr/>
        </p:nvSpPr>
        <p:spPr>
          <a:xfrm>
            <a:off x="8961120" y="1554480"/>
            <a:ext cx="2194200" cy="6854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9052560" y="179676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C3AED"/>
                </a:solidFill>
                <a:effectLst/>
                <a:uFillTx/>
                <a:latin typeface="Tahoma"/>
                <a:ea typeface="Tahoma"/>
              </a:rPr>
              <a:t>FederateAmbassador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8"/>
          <p:cNvSpPr/>
          <p:nvPr/>
        </p:nvSpPr>
        <p:spPr>
          <a:xfrm>
            <a:off x="8595360" y="1901880"/>
            <a:ext cx="365760" cy="360"/>
          </a:xfrm>
          <a:prstGeom prst="line">
            <a:avLst/>
          </a:prstGeom>
          <a:ln w="1260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9"/>
          <p:cNvSpPr/>
          <p:nvPr/>
        </p:nvSpPr>
        <p:spPr>
          <a:xfrm>
            <a:off x="6400800" y="2880360"/>
            <a:ext cx="4754520" cy="1416960"/>
          </a:xfrm>
          <a:prstGeom prst="roundRect">
            <a:avLst>
              <a:gd name="adj" fmla="val 4516"/>
            </a:avLst>
          </a:prstGeom>
          <a:solidFill>
            <a:srgbClr val="111827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receiveInteraction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(...)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code </a:t>
            </a:r>
            <a:r>
              <a:rPr lang="en-US" sz="1200" b="0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ที่เราต้องการให้ทำ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6" name="Text 10"/>
          <p:cNvSpPr/>
          <p:nvPr/>
        </p:nvSpPr>
        <p:spPr>
          <a:xfrm>
            <a:off x="6565320" y="3044880"/>
            <a:ext cx="4425480" cy="112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6675300" y="4443840"/>
            <a:ext cx="475452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@Override </a:t>
            </a:r>
            <a:r>
              <a:rPr lang="hi-IN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ช่วยบอกว่าเรากำลังเขียนทับ </a:t>
            </a:r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method </a:t>
            </a:r>
            <a:r>
              <a:rPr lang="hi-IN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เดิม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25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ถ้าชื่อ</a:t>
            </a:r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method/parameter </a:t>
            </a:r>
            <a:r>
              <a:rPr lang="hi-IN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ผิด </a:t>
            </a:r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IDE </a:t>
            </a:r>
            <a:r>
              <a:rPr lang="hi-IN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cs typeface="Tahoma"/>
              </a:rPr>
              <a:t>จะเตือน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• </a:t>
            </a:r>
            <a:r>
              <a:rPr lang="en-US" sz="1250" b="0" u="none" strike="noStrike" dirty="0" err="1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สำคัญมากตอนเขียน</a:t>
            </a:r>
            <a:r>
              <a:rPr lang="en-US" sz="1250" b="0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 HLA callback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2"/>
          <p:cNvSpPr/>
          <p:nvPr/>
        </p:nvSpPr>
        <p:spPr>
          <a:xfrm>
            <a:off x="502920" y="649224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Java Foundation for HLA  | </a:t>
            </a:r>
            <a:r>
              <a:rPr lang="th-TH" sz="750" dirty="0">
                <a:solidFill>
                  <a:srgbClr val="94A3B8"/>
                </a:solidFill>
                <a:latin typeface="Tahoma"/>
                <a:ea typeface="Tahoma"/>
              </a:rPr>
              <a:t>บทที่</a:t>
            </a: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 2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11201400" y="649224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9/13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594360" y="347400"/>
            <a:ext cx="7497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Interface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621720" y="78624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Interface </a:t>
            </a:r>
            <a:r>
              <a:rPr lang="hi-IN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คือ “</a:t>
            </a:r>
            <a:r>
              <a:rPr lang="th-TH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ข้อกำหนด</a:t>
            </a:r>
            <a:r>
              <a:rPr lang="hi-IN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” ว่า 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class </a:t>
            </a:r>
            <a:r>
              <a:rPr lang="hi-IN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นี้ต้องมี 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method </a:t>
            </a:r>
            <a:r>
              <a:rPr lang="hi-IN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อะไรบ้าง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685800" y="1170360"/>
            <a:ext cx="5257440" cy="4352760"/>
          </a:xfrm>
          <a:prstGeom prst="roundRect">
            <a:avLst>
              <a:gd name="adj" fmla="val 1795"/>
            </a:avLst>
          </a:prstGeom>
          <a:solidFill>
            <a:srgbClr val="111827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Trackable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updateLocation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addLocation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Trackable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updateLocation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...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addLocation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...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3" name="Text 3"/>
          <p:cNvSpPr/>
          <p:nvPr/>
        </p:nvSpPr>
        <p:spPr>
          <a:xfrm>
            <a:off x="850320" y="1334880"/>
            <a:ext cx="4928400" cy="327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4"/>
          <p:cNvSpPr/>
          <p:nvPr/>
        </p:nvSpPr>
        <p:spPr>
          <a:xfrm>
            <a:off x="6537960" y="1508760"/>
            <a:ext cx="205704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6629400" y="1819800"/>
            <a:ext cx="1874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Tahoma"/>
                <a:ea typeface="Tahoma"/>
              </a:rPr>
              <a:t>Interface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2563EB"/>
                </a:solidFill>
                <a:effectLst/>
                <a:uFillTx/>
                <a:latin typeface="Tahoma"/>
                <a:cs typeface="Tahoma"/>
              </a:rPr>
              <a:t>กำหนดข้อตกลง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6"/>
          <p:cNvSpPr/>
          <p:nvPr/>
        </p:nvSpPr>
        <p:spPr>
          <a:xfrm>
            <a:off x="9098280" y="1508760"/>
            <a:ext cx="205704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9189720" y="1819800"/>
            <a:ext cx="1874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10B981"/>
                </a:solidFill>
                <a:effectLst/>
                <a:uFillTx/>
                <a:latin typeface="Tahoma"/>
                <a:ea typeface="Tahoma"/>
              </a:rPr>
              <a:t>Class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 dirty="0">
                <a:solidFill>
                  <a:srgbClr val="10B981"/>
                </a:solidFill>
                <a:effectLst/>
                <a:uFillTx/>
                <a:latin typeface="Tahoma"/>
                <a:cs typeface="Tahoma"/>
              </a:rPr>
              <a:t>ทำตามข้อตกลง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8"/>
          <p:cNvSpPr/>
          <p:nvPr/>
        </p:nvSpPr>
        <p:spPr>
          <a:xfrm>
            <a:off x="8595360" y="1920240"/>
            <a:ext cx="502920" cy="360"/>
          </a:xfrm>
          <a:prstGeom prst="line">
            <a:avLst/>
          </a:prstGeom>
          <a:ln w="1260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1"/>
          <p:cNvSpPr/>
          <p:nvPr/>
        </p:nvSpPr>
        <p:spPr>
          <a:xfrm>
            <a:off x="502920" y="649224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Java Foundation for HLA  | </a:t>
            </a:r>
            <a:r>
              <a:rPr lang="th-TH" sz="750" dirty="0">
                <a:solidFill>
                  <a:srgbClr val="94A3B8"/>
                </a:solidFill>
                <a:latin typeface="Tahoma"/>
                <a:ea typeface="Tahoma"/>
              </a:rPr>
              <a:t>บทที่</a:t>
            </a: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 2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11201400" y="649224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10/13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19AD7-8409-304B-8912-1A321FEC7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965" y="3796939"/>
            <a:ext cx="4587355" cy="9536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CAC02198-2892-9122-EBDD-F79EB2B99182}"/>
              </a:ext>
            </a:extLst>
          </p:cNvPr>
          <p:cNvSpPr/>
          <p:nvPr/>
        </p:nvSpPr>
        <p:spPr>
          <a:xfrm>
            <a:off x="6629400" y="438876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71F8F32A-E359-ADD0-0B1E-A344378D2FA7}"/>
              </a:ext>
            </a:extLst>
          </p:cNvPr>
          <p:cNvSpPr/>
          <p:nvPr/>
        </p:nvSpPr>
        <p:spPr>
          <a:xfrm>
            <a:off x="6537960" y="4922630"/>
            <a:ext cx="4663440" cy="583260"/>
          </a:xfrm>
          <a:prstGeom prst="roundRect">
            <a:avLst>
              <a:gd name="adj" fmla="val 1795"/>
            </a:avLst>
          </a:prstGeom>
          <a:solidFill>
            <a:srgbClr val="111827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th-TH" sz="1200" dirty="0">
                <a:solidFill>
                  <a:schemeClr val="bg1"/>
                </a:solidFill>
                <a:latin typeface="Tahoma"/>
                <a:ea typeface="Tahoma"/>
              </a:rPr>
              <a:t>ถ้าเรียกใช้ </a:t>
            </a:r>
            <a:r>
              <a:rPr lang="en-US" sz="1200" dirty="0">
                <a:solidFill>
                  <a:schemeClr val="bg1"/>
                </a:solidFill>
                <a:latin typeface="Tahoma"/>
                <a:ea typeface="Tahoma"/>
              </a:rPr>
              <a:t>Method </a:t>
            </a:r>
            <a:r>
              <a:rPr lang="th-TH" sz="1200" dirty="0">
                <a:solidFill>
                  <a:schemeClr val="bg1"/>
                </a:solidFill>
                <a:latin typeface="Tahoma"/>
                <a:ea typeface="Tahoma"/>
              </a:rPr>
              <a:t>ไม่ครบตามที่กำหนด จะมี </a:t>
            </a:r>
            <a:r>
              <a:rPr lang="en-US" sz="1200" dirty="0">
                <a:solidFill>
                  <a:schemeClr val="bg1"/>
                </a:solidFill>
                <a:latin typeface="Tahoma"/>
                <a:ea typeface="Tahoma"/>
              </a:rPr>
              <a:t>Error </a:t>
            </a:r>
            <a:r>
              <a:rPr lang="th-TH" sz="1200" dirty="0">
                <a:solidFill>
                  <a:schemeClr val="bg1"/>
                </a:solidFill>
                <a:latin typeface="Tahoma"/>
                <a:ea typeface="Tahoma"/>
              </a:rPr>
              <a:t>แจ้งเตือน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329040" y="22860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111827"/>
                </a:solidFill>
                <a:effectLst/>
                <a:uFillTx/>
                <a:latin typeface="Tahoma"/>
                <a:ea typeface="Tahoma"/>
              </a:rPr>
              <a:t>Call by Value &amp; Call by Reference in Java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338400" y="594360"/>
            <a:ext cx="868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650" b="0" u="none" strike="noStrike">
                <a:solidFill>
                  <a:srgbClr val="6B7280"/>
                </a:solidFill>
                <a:effectLst/>
                <a:uFillTx/>
                <a:latin typeface="Tahoma"/>
                <a:cs typeface="Tahoma"/>
              </a:rPr>
              <a:t>ภาพรวม</a:t>
            </a:r>
            <a:r>
              <a:rPr lang="en-US" sz="650" b="0" u="none" strike="noStrike">
                <a:solidFill>
                  <a:srgbClr val="6B7280"/>
                </a:solidFill>
                <a:effectLst/>
                <a:uFillTx/>
                <a:latin typeface="Tahoma"/>
                <a:ea typeface="Tahoma"/>
              </a:rPr>
              <a:t>: </a:t>
            </a:r>
            <a:r>
              <a:rPr lang="hi-IN" sz="650" b="0" u="none" strike="noStrike">
                <a:solidFill>
                  <a:srgbClr val="6B7280"/>
                </a:solidFill>
                <a:effectLst/>
                <a:uFillTx/>
                <a:latin typeface="Tahoma"/>
                <a:cs typeface="Tahoma"/>
              </a:rPr>
              <a:t>วิธีส่งข้อมูลเข้า </a:t>
            </a:r>
            <a:r>
              <a:rPr lang="en-US" sz="650" b="0" u="none" strike="noStrike">
                <a:solidFill>
                  <a:srgbClr val="6B7280"/>
                </a:solidFill>
                <a:effectLst/>
                <a:uFillTx/>
                <a:latin typeface="Tahoma"/>
                <a:ea typeface="Tahoma"/>
              </a:rPr>
              <a:t>Method </a:t>
            </a:r>
            <a:r>
              <a:rPr lang="hi-IN" sz="650" b="0" u="none" strike="noStrike">
                <a:solidFill>
                  <a:srgbClr val="6B7280"/>
                </a:solidFill>
                <a:effectLst/>
                <a:uFillTx/>
                <a:latin typeface="Tahoma"/>
                <a:cs typeface="Tahoma"/>
              </a:rPr>
              <a:t>และผลกระทบต่อค่าต้นทาง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29040" y="6537960"/>
            <a:ext cx="22856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430" b="0" u="none" strike="noStrike" dirty="0">
                <a:solidFill>
                  <a:srgbClr val="A8B0BD"/>
                </a:solidFill>
                <a:effectLst/>
                <a:uFillTx/>
                <a:latin typeface="Tahoma"/>
                <a:ea typeface="Tahoma"/>
              </a:rPr>
              <a:t>Java Foundation for HLA  | </a:t>
            </a:r>
            <a:r>
              <a:rPr lang="th-TH" sz="700" dirty="0">
                <a:solidFill>
                  <a:srgbClr val="94A3B8"/>
                </a:solidFill>
                <a:latin typeface="Tahoma"/>
                <a:ea typeface="Tahoma"/>
              </a:rPr>
              <a:t>บทที่</a:t>
            </a:r>
            <a:r>
              <a:rPr lang="en-US" sz="430" b="0" u="none" strike="noStrike" dirty="0">
                <a:solidFill>
                  <a:srgbClr val="A8B0BD"/>
                </a:solidFill>
                <a:effectLst/>
                <a:uFillTx/>
                <a:latin typeface="Tahoma"/>
                <a:ea typeface="Tahoma"/>
              </a:rPr>
              <a:t> 2</a:t>
            </a:r>
            <a:endParaRPr lang="en-US" sz="4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1521440" y="6537960"/>
            <a:ext cx="3196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30" b="0" u="none" strike="noStrike">
                <a:solidFill>
                  <a:srgbClr val="A8B0BD"/>
                </a:solidFill>
                <a:effectLst/>
                <a:uFillTx/>
                <a:latin typeface="Tahoma"/>
                <a:ea typeface="Tahoma"/>
              </a:rPr>
              <a:t>1/3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40080" y="1097280"/>
            <a:ext cx="1371240" cy="41112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397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13160" y="1202400"/>
            <a:ext cx="12250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3B82F6"/>
                </a:solidFill>
                <a:effectLst/>
                <a:uFillTx/>
                <a:latin typeface="Tahoma"/>
                <a:ea typeface="Tahoma"/>
              </a:rPr>
              <a:t>Caller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2011320" y="1288800"/>
            <a:ext cx="914760" cy="0"/>
          </a:xfrm>
          <a:prstGeom prst="line">
            <a:avLst/>
          </a:prstGeom>
          <a:ln w="1397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2926080" y="1097280"/>
            <a:ext cx="1416960" cy="411120"/>
          </a:xfrm>
          <a:prstGeom prst="roundRect">
            <a:avLst>
              <a:gd name="adj" fmla="val 17778"/>
            </a:avLst>
          </a:prstGeom>
          <a:solidFill>
            <a:srgbClr val="ECFDF5"/>
          </a:solidFill>
          <a:ln w="1397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2999160" y="1202400"/>
            <a:ext cx="12708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Tahoma"/>
                <a:ea typeface="Tahoma"/>
              </a:rPr>
              <a:t>Method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658440" y="1719000"/>
            <a:ext cx="37486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Method </a:t>
            </a:r>
            <a:r>
              <a:rPr lang="hi-IN" sz="14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คือพื้นที่ทำงานย่อย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ที่รับข้อมูลผ่าน </a:t>
            </a:r>
            <a:r>
              <a:rPr lang="en-US" sz="14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parameter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640080" y="2880360"/>
            <a:ext cx="2057040" cy="4384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397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713160" y="2999160"/>
            <a:ext cx="19108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B82F6"/>
                </a:solidFill>
                <a:effectLst/>
                <a:uFillTx/>
                <a:latin typeface="Tahoma"/>
                <a:ea typeface="Tahoma"/>
              </a:rPr>
              <a:t>Call by Value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1664280" y="3314160"/>
            <a:ext cx="0" cy="617760"/>
          </a:xfrm>
          <a:prstGeom prst="line">
            <a:avLst/>
          </a:prstGeom>
          <a:ln w="13970">
            <a:solidFill>
              <a:srgbClr val="3B82F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868680" y="3950280"/>
            <a:ext cx="1599840" cy="41112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97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941760" y="4055400"/>
            <a:ext cx="14536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B82F6"/>
                </a:solidFill>
                <a:effectLst/>
                <a:uFillTx/>
                <a:latin typeface="Tahoma"/>
                <a:ea typeface="Tahoma"/>
              </a:rPr>
              <a:t>copy value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13160" y="4572000"/>
            <a:ext cx="28342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เหมาะกับ 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primitive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เช่น 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int, double, boolean, char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3931920" y="2880360"/>
            <a:ext cx="2239920" cy="43848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397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4005000" y="2999160"/>
            <a:ext cx="20937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97316"/>
                </a:solidFill>
                <a:effectLst/>
                <a:uFillTx/>
                <a:latin typeface="Tahoma"/>
                <a:ea typeface="Tahoma"/>
              </a:rPr>
              <a:t>Call by Reference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5047200" y="3314160"/>
            <a:ext cx="359" cy="617760"/>
          </a:xfrm>
          <a:prstGeom prst="line">
            <a:avLst/>
          </a:prstGeom>
          <a:ln w="13970">
            <a:solidFill>
              <a:srgbClr val="F9731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4224600" y="3950280"/>
            <a:ext cx="1645560" cy="41112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97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4297680" y="4055400"/>
            <a:ext cx="14994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97316"/>
                </a:solidFill>
                <a:effectLst/>
                <a:uFillTx/>
                <a:latin typeface="Tahoma"/>
                <a:ea typeface="Tahoma"/>
              </a:rPr>
              <a:t>same object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3977640" y="457200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ใช้กรณี </a:t>
            </a:r>
            <a:r>
              <a:rPr lang="en-US" sz="14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object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ตัวแปรหลายตัวชี้ข้อมูลก้อนเดียวกัน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7315200" y="1143000"/>
            <a:ext cx="4343040" cy="132552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7443360" y="1261800"/>
            <a:ext cx="408708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static void update(...){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// parameter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update(argument);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7360920" y="27889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Arial"/>
              </a:rPr>
              <a:t>Wording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7360920" y="3337560"/>
            <a:ext cx="1645560" cy="402120"/>
          </a:xfrm>
          <a:prstGeom prst="roundRect">
            <a:avLst>
              <a:gd name="adj" fmla="val 18182"/>
            </a:avLst>
          </a:prstGeom>
          <a:solidFill>
            <a:srgbClr val="F5F3FF"/>
          </a:solidFill>
          <a:ln w="1397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7434000" y="3438000"/>
            <a:ext cx="14994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B5CF6"/>
                </a:solidFill>
                <a:effectLst/>
                <a:uFillTx/>
                <a:latin typeface="Tahoma"/>
                <a:ea typeface="Tahoma"/>
              </a:rPr>
              <a:t>Parameter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9189720" y="33832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ตัวแปรที่ประกาศใน 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method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7360920" y="4041720"/>
            <a:ext cx="1645560" cy="402120"/>
          </a:xfrm>
          <a:prstGeom prst="roundRect">
            <a:avLst>
              <a:gd name="adj" fmla="val 18182"/>
            </a:avLst>
          </a:prstGeom>
          <a:solidFill>
            <a:srgbClr val="FEF2F2"/>
          </a:solidFill>
          <a:ln w="1397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7434000" y="4142160"/>
            <a:ext cx="14994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F4444"/>
                </a:solidFill>
                <a:effectLst/>
                <a:uFillTx/>
                <a:latin typeface="Tahoma"/>
                <a:ea typeface="Tahoma"/>
              </a:rPr>
              <a:t>Argument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9189720" y="40964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ค่าที่ส่งเข้า </a:t>
            </a:r>
            <a:r>
              <a:rPr lang="en-US" sz="14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method </a:t>
            </a:r>
            <a:r>
              <a:rPr lang="hi-IN" sz="14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ตอนเรียกใช้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7406640" y="507492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329040" y="22860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11827"/>
                </a:solidFill>
                <a:effectLst/>
                <a:uFillTx/>
                <a:latin typeface="Tahoma"/>
                <a:ea typeface="Tahoma"/>
              </a:rPr>
              <a:t>Call by Value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338400" y="594360"/>
            <a:ext cx="868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7280"/>
                </a:solidFill>
                <a:effectLst/>
                <a:uFillTx/>
                <a:latin typeface="Tahoma"/>
                <a:ea typeface="Tahoma"/>
              </a:rPr>
              <a:t>Primitive + diagram + code: Method </a:t>
            </a:r>
            <a:r>
              <a:rPr lang="hi-IN" sz="650" b="0" u="none" strike="noStrike">
                <a:solidFill>
                  <a:srgbClr val="6B7280"/>
                </a:solidFill>
                <a:effectLst/>
                <a:uFillTx/>
                <a:latin typeface="Tahoma"/>
                <a:cs typeface="Tahoma"/>
              </a:rPr>
              <a:t>ได้สำเนาของค่าไปทำงาน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329040" y="6537960"/>
            <a:ext cx="22856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430" b="0" u="none" strike="noStrike" dirty="0">
                <a:solidFill>
                  <a:srgbClr val="A8B0BD"/>
                </a:solidFill>
                <a:effectLst/>
                <a:uFillTx/>
                <a:latin typeface="Tahoma"/>
                <a:ea typeface="Tahoma"/>
              </a:rPr>
              <a:t>Java Foundation for HLA  | </a:t>
            </a:r>
            <a:r>
              <a:rPr lang="th-TH" sz="700" dirty="0">
                <a:solidFill>
                  <a:srgbClr val="94A3B8"/>
                </a:solidFill>
                <a:latin typeface="Tahoma"/>
                <a:ea typeface="Tahoma"/>
              </a:rPr>
              <a:t>บทที่</a:t>
            </a:r>
            <a:r>
              <a:rPr lang="en-US" sz="430" b="0" u="none" strike="noStrike" dirty="0">
                <a:solidFill>
                  <a:srgbClr val="A8B0BD"/>
                </a:solidFill>
                <a:effectLst/>
                <a:uFillTx/>
                <a:latin typeface="Tahoma"/>
                <a:ea typeface="Tahoma"/>
              </a:rPr>
              <a:t> 2</a:t>
            </a:r>
            <a:endParaRPr lang="en-US" sz="4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11521440" y="6537960"/>
            <a:ext cx="3196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30" b="0" u="none" strike="noStrike">
                <a:solidFill>
                  <a:srgbClr val="A8B0BD"/>
                </a:solidFill>
                <a:effectLst/>
                <a:uFillTx/>
                <a:latin typeface="Tahoma"/>
                <a:ea typeface="Tahoma"/>
              </a:rPr>
              <a:t>2/3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4"/>
          <p:cNvSpPr/>
          <p:nvPr/>
        </p:nvSpPr>
        <p:spPr>
          <a:xfrm>
            <a:off x="685800" y="1051560"/>
            <a:ext cx="4983120" cy="3108600"/>
          </a:xfrm>
          <a:prstGeom prst="roundRect">
            <a:avLst>
              <a:gd name="adj" fmla="val 1471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x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System.out.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6" name="Text 6"/>
          <p:cNvSpPr/>
          <p:nvPr/>
        </p:nvSpPr>
        <p:spPr>
          <a:xfrm>
            <a:off x="713160" y="44348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111827"/>
                </a:solidFill>
                <a:effectLst/>
                <a:uFillTx/>
                <a:latin typeface="Tahoma"/>
                <a:cs typeface="Tahoma"/>
              </a:rPr>
              <a:t>แนวคิดสำคัญ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731520" y="484632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• number </a:t>
            </a:r>
            <a:r>
              <a:rPr lang="hi-IN" sz="15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เดิมอยู่ฝั่ง 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caller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• x </a:t>
            </a:r>
            <a:r>
              <a:rPr lang="hi-IN" sz="15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คือ 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parameter </a:t>
            </a:r>
            <a:r>
              <a:rPr lang="hi-IN" sz="15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ที่รับค่า 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copy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• </a:t>
            </a:r>
            <a:r>
              <a:rPr lang="en-US" sz="1500" b="0" u="none" strike="noStrike" dirty="0" err="1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เปลี่ยน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 x </a:t>
            </a:r>
            <a:r>
              <a:rPr lang="hi-IN" sz="15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ไม่กระทบ 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number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6400800" y="1051560"/>
            <a:ext cx="1416960" cy="41112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397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6473880" y="1156680"/>
            <a:ext cx="12708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B82F6"/>
                </a:solidFill>
                <a:effectLst/>
                <a:uFillTx/>
                <a:latin typeface="Tahoma"/>
                <a:ea typeface="Tahoma"/>
              </a:rPr>
              <a:t>Caller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9281160" y="1051560"/>
            <a:ext cx="2011320" cy="411120"/>
          </a:xfrm>
          <a:prstGeom prst="roundRect">
            <a:avLst>
              <a:gd name="adj" fmla="val 17778"/>
            </a:avLst>
          </a:prstGeom>
          <a:solidFill>
            <a:srgbClr val="ECFDF5"/>
          </a:solidFill>
          <a:ln w="1397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9354240" y="1156680"/>
            <a:ext cx="18651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Tahoma"/>
                <a:ea typeface="Tahoma"/>
              </a:rPr>
              <a:t>Method change()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6400800" y="1965960"/>
            <a:ext cx="1782720" cy="50256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6473880" y="2116800"/>
            <a:ext cx="1636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B82F6"/>
                </a:solidFill>
                <a:effectLst/>
                <a:uFillTx/>
                <a:latin typeface="Tahoma"/>
                <a:ea typeface="Tahoma"/>
              </a:rPr>
              <a:t>number = 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4"/>
          <p:cNvSpPr/>
          <p:nvPr/>
        </p:nvSpPr>
        <p:spPr>
          <a:xfrm>
            <a:off x="8183520" y="2212976"/>
            <a:ext cx="1097640" cy="0"/>
          </a:xfrm>
          <a:prstGeom prst="line">
            <a:avLst/>
          </a:prstGeom>
          <a:ln w="1397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8266320" y="190188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B7280"/>
                </a:solidFill>
                <a:effectLst/>
                <a:uFillTx/>
                <a:latin typeface="Tahoma"/>
                <a:ea typeface="Tahoma"/>
              </a:rPr>
              <a:t>copy value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6"/>
          <p:cNvSpPr/>
          <p:nvPr/>
        </p:nvSpPr>
        <p:spPr>
          <a:xfrm>
            <a:off x="9281160" y="1965960"/>
            <a:ext cx="1599840" cy="50256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9354240" y="2116800"/>
            <a:ext cx="14536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Tahoma"/>
                <a:ea typeface="Tahoma"/>
              </a:rPr>
              <a:t>x = 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8"/>
          <p:cNvSpPr/>
          <p:nvPr/>
        </p:nvSpPr>
        <p:spPr>
          <a:xfrm>
            <a:off x="10076399" y="2477520"/>
            <a:ext cx="1" cy="809640"/>
          </a:xfrm>
          <a:prstGeom prst="line">
            <a:avLst/>
          </a:prstGeom>
          <a:ln w="13970">
            <a:solidFill>
              <a:srgbClr val="10B98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9"/>
          <p:cNvSpPr/>
          <p:nvPr/>
        </p:nvSpPr>
        <p:spPr>
          <a:xfrm>
            <a:off x="9281160" y="3291840"/>
            <a:ext cx="1599840" cy="50256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397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9354240" y="3442680"/>
            <a:ext cx="14536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Tahoma"/>
                <a:ea typeface="Tahoma"/>
              </a:rPr>
              <a:t>x = 100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1"/>
          <p:cNvSpPr/>
          <p:nvPr/>
        </p:nvSpPr>
        <p:spPr>
          <a:xfrm>
            <a:off x="6400800" y="4251960"/>
            <a:ext cx="1782720" cy="50256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397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2"/>
          <p:cNvSpPr/>
          <p:nvPr/>
        </p:nvSpPr>
        <p:spPr>
          <a:xfrm>
            <a:off x="6473880" y="4402800"/>
            <a:ext cx="1636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B82F6"/>
                </a:solidFill>
                <a:effectLst/>
                <a:uFillTx/>
                <a:latin typeface="Tahoma"/>
                <a:ea typeface="Tahoma"/>
              </a:rPr>
              <a:t>number = 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3"/>
          <p:cNvSpPr/>
          <p:nvPr/>
        </p:nvSpPr>
        <p:spPr>
          <a:xfrm>
            <a:off x="7292160" y="2459880"/>
            <a:ext cx="0" cy="1801080"/>
          </a:xfrm>
          <a:prstGeom prst="line">
            <a:avLst/>
          </a:prstGeom>
          <a:ln w="13970">
            <a:solidFill>
              <a:srgbClr val="3B82F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4"/>
          <p:cNvSpPr/>
          <p:nvPr/>
        </p:nvSpPr>
        <p:spPr>
          <a:xfrm>
            <a:off x="6446520" y="49561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3B82F6"/>
                </a:solidFill>
                <a:effectLst/>
                <a:uFillTx/>
                <a:latin typeface="Angsana New"/>
                <a:cs typeface="Angsana New"/>
              </a:rPr>
              <a:t>ค่าเดิมไม่เปลี่ยน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5"/>
          <p:cNvSpPr/>
          <p:nvPr/>
        </p:nvSpPr>
        <p:spPr>
          <a:xfrm>
            <a:off x="6400800" y="571500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Primitive </a:t>
            </a:r>
            <a:r>
              <a:rPr lang="hi-IN" sz="15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ที่ควรรู้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: int, double, boolean, char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12"/>
          <p:cNvSpPr/>
          <p:nvPr/>
        </p:nvSpPr>
        <p:spPr>
          <a:xfrm>
            <a:off x="7286625" y="2048400"/>
            <a:ext cx="1445895" cy="0"/>
          </a:xfrm>
          <a:prstGeom prst="line">
            <a:avLst/>
          </a:prstGeom>
          <a:ln w="13970">
            <a:solidFill>
              <a:srgbClr val="3B82F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0"/>
          <p:cNvSpPr/>
          <p:nvPr/>
        </p:nvSpPr>
        <p:spPr>
          <a:xfrm>
            <a:off x="329040" y="22860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11827"/>
                </a:solidFill>
                <a:effectLst/>
                <a:uFillTx/>
                <a:latin typeface="Tahoma"/>
                <a:ea typeface="Tahoma"/>
              </a:rPr>
              <a:t>Call by Reference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338400" y="594360"/>
            <a:ext cx="868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7280"/>
                </a:solidFill>
                <a:effectLst/>
                <a:uFillTx/>
                <a:latin typeface="Tahoma"/>
                <a:ea typeface="Tahoma"/>
              </a:rPr>
              <a:t>Object + diagram + code: </a:t>
            </a:r>
            <a:r>
              <a:rPr lang="hi-IN" sz="650" b="0" u="none" strike="noStrike">
                <a:solidFill>
                  <a:srgbClr val="6B7280"/>
                </a:solidFill>
                <a:effectLst/>
                <a:uFillTx/>
                <a:latin typeface="Tahoma"/>
                <a:cs typeface="Tahoma"/>
              </a:rPr>
              <a:t>ตัวแปรหลายตัวชี้ไปยัง </a:t>
            </a:r>
            <a:r>
              <a:rPr lang="en-US" sz="650" b="0" u="none" strike="noStrike">
                <a:solidFill>
                  <a:srgbClr val="6B7280"/>
                </a:solidFill>
                <a:effectLst/>
                <a:uFillTx/>
                <a:latin typeface="Tahoma"/>
                <a:ea typeface="Tahoma"/>
              </a:rPr>
              <a:t>Object </a:t>
            </a:r>
            <a:r>
              <a:rPr lang="hi-IN" sz="650" b="0" u="none" strike="noStrike">
                <a:solidFill>
                  <a:srgbClr val="6B7280"/>
                </a:solidFill>
                <a:effectLst/>
                <a:uFillTx/>
                <a:latin typeface="Tahoma"/>
                <a:cs typeface="Tahoma"/>
              </a:rPr>
              <a:t>เดียวกัน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329040" y="6537960"/>
            <a:ext cx="22856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30" b="0" u="none" strike="noStrike" dirty="0">
                <a:solidFill>
                  <a:srgbClr val="A8B0BD"/>
                </a:solidFill>
                <a:effectLst/>
                <a:uFillTx/>
                <a:latin typeface="Tahoma"/>
                <a:ea typeface="Tahoma"/>
              </a:rPr>
              <a:t>Java Foundation for HLA  |  </a:t>
            </a:r>
            <a:r>
              <a:rPr lang="th-TH" sz="430" b="0" u="none" strike="noStrike" dirty="0">
                <a:solidFill>
                  <a:srgbClr val="A8B0BD"/>
                </a:solidFill>
                <a:effectLst/>
                <a:uFillTx/>
                <a:latin typeface="Tahoma"/>
                <a:ea typeface="Tahoma"/>
              </a:rPr>
              <a:t>บทที่</a:t>
            </a:r>
            <a:r>
              <a:rPr lang="en-US" sz="430" b="0" u="none" strike="noStrike" dirty="0">
                <a:solidFill>
                  <a:srgbClr val="A8B0BD"/>
                </a:solidFill>
                <a:effectLst/>
                <a:uFillTx/>
                <a:latin typeface="Tahoma"/>
                <a:ea typeface="Tahoma"/>
              </a:rPr>
              <a:t> 2</a:t>
            </a:r>
            <a:endParaRPr lang="en-US" sz="4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11521440" y="6537960"/>
            <a:ext cx="3196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30" b="0" u="none" strike="noStrike">
                <a:solidFill>
                  <a:srgbClr val="A8B0BD"/>
                </a:solidFill>
                <a:effectLst/>
                <a:uFillTx/>
                <a:latin typeface="Tahoma"/>
                <a:ea typeface="Tahoma"/>
              </a:rPr>
              <a:t>3/3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685800" y="1005840"/>
            <a:ext cx="5257440" cy="3977280"/>
          </a:xfrm>
          <a:prstGeom prst="roundRect">
            <a:avLst>
              <a:gd name="adj" fmla="val 1149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Aircraft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HelloWorld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  <a:endParaRPr lang="th-T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Aircraft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aircraft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"Before: "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aircraft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1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//Gripen</a:t>
            </a:r>
            <a:endParaRPr lang="en-US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aircraft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"F-16"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  <a:endParaRPr lang="th-T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Aircraft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Aircraft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"Gripen"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(a);</a:t>
            </a:r>
          </a:p>
          <a:p>
            <a:pPr>
              <a:lnSpc>
                <a:spcPct val="113095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"After: 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//F-16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1" name="Text 5"/>
          <p:cNvSpPr/>
          <p:nvPr/>
        </p:nvSpPr>
        <p:spPr>
          <a:xfrm>
            <a:off x="813960" y="1124640"/>
            <a:ext cx="5001480" cy="373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713160" y="52851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111827"/>
                </a:solidFill>
                <a:effectLst/>
                <a:uFillTx/>
                <a:latin typeface="Tahoma"/>
                <a:cs typeface="Tahoma"/>
              </a:rPr>
              <a:t>ผลลัพธ์ที่เห็น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731520" y="566928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เปลี่ยนผ่าน </a:t>
            </a: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parameter </a:t>
            </a:r>
            <a:r>
              <a:rPr lang="hi-IN" sz="1500" b="0" u="none" strike="noStrike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แล้ว </a:t>
            </a: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caller </a:t>
            </a:r>
            <a:r>
              <a:rPr lang="hi-IN" sz="1500" b="0" u="none" strike="noStrike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เห็นค่าที่เปลี่ยน เพราะชี้ </a:t>
            </a: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ngsana New"/>
                <a:ea typeface="Angsana New"/>
              </a:rPr>
              <a:t>Object </a:t>
            </a:r>
            <a:r>
              <a:rPr lang="hi-IN" sz="1500" b="0" u="none" strike="noStrike">
                <a:solidFill>
                  <a:srgbClr val="111827"/>
                </a:solidFill>
                <a:effectLst/>
                <a:uFillTx/>
                <a:latin typeface="Angsana New"/>
                <a:cs typeface="Angsana New"/>
              </a:rPr>
              <a:t>เดียวกัน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6629400" y="1874520"/>
            <a:ext cx="685440" cy="41112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397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6702480" y="1979640"/>
            <a:ext cx="5392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B82F6"/>
                </a:solidFill>
                <a:effectLst/>
                <a:uFillTx/>
                <a:latin typeface="Tahoma"/>
                <a:ea typeface="Tahoma"/>
              </a:rPr>
              <a:t>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0"/>
          <p:cNvSpPr/>
          <p:nvPr/>
        </p:nvSpPr>
        <p:spPr>
          <a:xfrm>
            <a:off x="6629400" y="2880360"/>
            <a:ext cx="1142640" cy="411120"/>
          </a:xfrm>
          <a:prstGeom prst="roundRect">
            <a:avLst>
              <a:gd name="adj" fmla="val 17778"/>
            </a:avLst>
          </a:prstGeom>
          <a:solidFill>
            <a:srgbClr val="FFF7ED"/>
          </a:solidFill>
          <a:ln w="1397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6702480" y="2985480"/>
            <a:ext cx="9964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97316"/>
                </a:solidFill>
                <a:effectLst/>
                <a:uFillTx/>
                <a:latin typeface="Tahoma"/>
                <a:ea typeface="Tahoma"/>
              </a:rPr>
              <a:t>aircraft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3"/>
          <p:cNvSpPr/>
          <p:nvPr/>
        </p:nvSpPr>
        <p:spPr>
          <a:xfrm flipV="1">
            <a:off x="7772039" y="3089271"/>
            <a:ext cx="960481" cy="3"/>
          </a:xfrm>
          <a:prstGeom prst="line">
            <a:avLst/>
          </a:prstGeom>
          <a:ln w="13970">
            <a:solidFill>
              <a:srgbClr val="F9731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4"/>
          <p:cNvSpPr/>
          <p:nvPr/>
        </p:nvSpPr>
        <p:spPr>
          <a:xfrm>
            <a:off x="8732520" y="1874520"/>
            <a:ext cx="2422800" cy="141696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397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8897040" y="204840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5CF6"/>
                </a:solidFill>
                <a:effectLst/>
                <a:uFillTx/>
                <a:latin typeface="Tahoma"/>
                <a:ea typeface="Tahoma"/>
              </a:rPr>
              <a:t>Aircraft Object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8979480" y="257868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11827"/>
                </a:solidFill>
                <a:effectLst/>
                <a:uFillTx/>
                <a:latin typeface="Consolas"/>
                <a:ea typeface="Consolas"/>
              </a:rPr>
              <a:t>name = "Gripen"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7"/>
          <p:cNvSpPr/>
          <p:nvPr/>
        </p:nvSpPr>
        <p:spPr>
          <a:xfrm>
            <a:off x="9937750" y="3291480"/>
            <a:ext cx="6350" cy="768600"/>
          </a:xfrm>
          <a:prstGeom prst="line">
            <a:avLst/>
          </a:prstGeom>
          <a:ln w="13970">
            <a:solidFill>
              <a:srgbClr val="10B98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8"/>
          <p:cNvSpPr/>
          <p:nvPr/>
        </p:nvSpPr>
        <p:spPr>
          <a:xfrm>
            <a:off x="8732520" y="4069080"/>
            <a:ext cx="2422800" cy="731160"/>
          </a:xfrm>
          <a:prstGeom prst="roundRect">
            <a:avLst>
              <a:gd name="adj" fmla="val 8750"/>
            </a:avLst>
          </a:prstGeom>
          <a:solidFill>
            <a:srgbClr val="ECFDF5"/>
          </a:solidFill>
          <a:ln w="1397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9"/>
          <p:cNvSpPr/>
          <p:nvPr/>
        </p:nvSpPr>
        <p:spPr>
          <a:xfrm>
            <a:off x="8979480" y="4316040"/>
            <a:ext cx="1874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name = "F-16"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0"/>
          <p:cNvSpPr/>
          <p:nvPr/>
        </p:nvSpPr>
        <p:spPr>
          <a:xfrm>
            <a:off x="6492240" y="51022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ทั้ง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a </a:t>
            </a:r>
            <a:r>
              <a:rPr lang="hi-IN" sz="15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และ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aircraft </a:t>
            </a:r>
            <a:r>
              <a:rPr lang="hi-IN" sz="15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ชี้ไปยัง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Object </a:t>
            </a:r>
            <a:r>
              <a:rPr lang="hi-IN" sz="15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ก้อนเดียวกัน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1"/>
          <p:cNvSpPr/>
          <p:nvPr/>
        </p:nvSpPr>
        <p:spPr>
          <a:xfrm>
            <a:off x="6400800" y="5715000"/>
            <a:ext cx="507456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9CA3A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2"/>
          <p:cNvSpPr/>
          <p:nvPr/>
        </p:nvSpPr>
        <p:spPr>
          <a:xfrm>
            <a:off x="6528960" y="5824800"/>
            <a:ext cx="4800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dirty="0">
                <a:solidFill>
                  <a:srgbClr val="6B7280"/>
                </a:solidFill>
                <a:effectLst/>
                <a:uFillTx/>
                <a:latin typeface="Tahoma"/>
                <a:ea typeface="Tahoma"/>
              </a:rPr>
              <a:t>Tip: Strictly speaking, Java is always Pass by Value. </a:t>
            </a:r>
            <a:r>
              <a:rPr lang="hi-IN" sz="740" b="0" u="none" strike="noStrike" dirty="0">
                <a:solidFill>
                  <a:srgbClr val="6B7280"/>
                </a:solidFill>
                <a:effectLst/>
                <a:uFillTx/>
                <a:latin typeface="Tahoma"/>
                <a:cs typeface="Tahoma"/>
              </a:rPr>
              <a:t>สำหรับ </a:t>
            </a:r>
            <a:r>
              <a:rPr lang="en-US" sz="740" b="0" u="none" strike="noStrike" dirty="0">
                <a:solidFill>
                  <a:srgbClr val="6B7280"/>
                </a:solidFill>
                <a:effectLst/>
                <a:uFillTx/>
                <a:latin typeface="Tahoma"/>
                <a:ea typeface="Tahoma"/>
              </a:rPr>
              <a:t>Object </a:t>
            </a:r>
            <a:r>
              <a:rPr lang="hi-IN" sz="740" b="0" u="none" strike="noStrike" dirty="0">
                <a:solidFill>
                  <a:srgbClr val="6B7280"/>
                </a:solidFill>
                <a:effectLst/>
                <a:uFillTx/>
                <a:latin typeface="Tahoma"/>
                <a:cs typeface="Tahoma"/>
              </a:rPr>
              <a:t>ค่าที่ส่งคือสำเนาของ </a:t>
            </a:r>
            <a:r>
              <a:rPr lang="en-US" sz="740" b="0" u="none" strike="noStrike" dirty="0">
                <a:solidFill>
                  <a:srgbClr val="6B7280"/>
                </a:solidFill>
                <a:effectLst/>
                <a:uFillTx/>
                <a:latin typeface="Tahoma"/>
                <a:ea typeface="Tahoma"/>
              </a:rPr>
              <a:t>Reference </a:t>
            </a:r>
            <a:r>
              <a:rPr lang="hi-IN" sz="740" b="0" u="none" strike="noStrike" dirty="0">
                <a:solidFill>
                  <a:srgbClr val="6B7280"/>
                </a:solidFill>
                <a:effectLst/>
                <a:uFillTx/>
                <a:latin typeface="Tahoma"/>
                <a:cs typeface="Tahoma"/>
              </a:rPr>
              <a:t>ที่ชี้ไป </a:t>
            </a:r>
            <a:r>
              <a:rPr lang="en-US" sz="740" b="0" u="none" strike="noStrike" dirty="0">
                <a:solidFill>
                  <a:srgbClr val="6B7280"/>
                </a:solidFill>
                <a:effectLst/>
                <a:uFillTx/>
                <a:latin typeface="Tahoma"/>
                <a:ea typeface="Tahoma"/>
              </a:rPr>
              <a:t>Object </a:t>
            </a:r>
            <a:r>
              <a:rPr lang="hi-IN" sz="740" b="0" u="none" strike="noStrike" dirty="0">
                <a:solidFill>
                  <a:srgbClr val="6B7280"/>
                </a:solidFill>
                <a:effectLst/>
                <a:uFillTx/>
                <a:latin typeface="Tahoma"/>
                <a:cs typeface="Tahoma"/>
              </a:rPr>
              <a:t>เดียวกัน</a:t>
            </a:r>
            <a:endParaRPr lang="en-US" sz="7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/>
          <p:nvPr/>
        </p:nvSpPr>
        <p:spPr>
          <a:xfrm>
            <a:off x="594360" y="347400"/>
            <a:ext cx="7497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1220"/>
                </a:solidFill>
                <a:effectLst/>
                <a:uFillTx/>
                <a:latin typeface="Tahoma"/>
                <a:ea typeface="Tahoma"/>
              </a:rPr>
              <a:t>Exception Handling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621720" y="78624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try-catch </a:t>
            </a:r>
            <a:r>
              <a:rPr lang="hi-IN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ช่วยให้โปรแกรมรับมือ 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ea typeface="Tahoma"/>
              </a:rPr>
              <a:t>error </a:t>
            </a:r>
            <a:r>
              <a:rPr lang="hi-IN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โดยไม่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 Error </a:t>
            </a:r>
            <a:r>
              <a:rPr lang="th-TH" sz="950" b="0" u="none" strike="noStrike" dirty="0">
                <a:solidFill>
                  <a:srgbClr val="64748B"/>
                </a:solidFill>
                <a:effectLst/>
                <a:uFillTx/>
                <a:latin typeface="Tahoma"/>
                <a:cs typeface="Tahoma"/>
              </a:rPr>
              <a:t>จบหยุดการทำงานไป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"/>
          <p:cNvSpPr/>
          <p:nvPr/>
        </p:nvSpPr>
        <p:spPr>
          <a:xfrm>
            <a:off x="685800" y="1188720"/>
            <a:ext cx="5303160" cy="2514240"/>
          </a:xfrm>
          <a:prstGeom prst="roundRect">
            <a:avLst>
              <a:gd name="adj" fmla="val 2545"/>
            </a:avLst>
          </a:prstGeom>
          <a:solidFill>
            <a:srgbClr val="111827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NumberFormatException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"Invalid number"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176" name="Text 3"/>
          <p:cNvSpPr/>
          <p:nvPr/>
        </p:nvSpPr>
        <p:spPr>
          <a:xfrm>
            <a:off x="850320" y="1353240"/>
            <a:ext cx="4974120" cy="222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6"/>
          <p:cNvSpPr/>
          <p:nvPr/>
        </p:nvSpPr>
        <p:spPr>
          <a:xfrm>
            <a:off x="7543800" y="1188720"/>
            <a:ext cx="1737000" cy="6854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7635240" y="143100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10B981"/>
                </a:solidFill>
                <a:effectLst/>
                <a:uFillTx/>
                <a:latin typeface="Tahoma"/>
                <a:cs typeface="Tahoma"/>
              </a:rPr>
              <a:t>ปกติ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10B981"/>
                </a:solidFill>
                <a:effectLst/>
                <a:uFillTx/>
                <a:latin typeface="Tahoma"/>
                <a:cs typeface="Tahoma"/>
              </a:rPr>
              <a:t>ทำงานต่อ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8"/>
          <p:cNvSpPr/>
          <p:nvPr/>
        </p:nvSpPr>
        <p:spPr>
          <a:xfrm>
            <a:off x="7543800" y="2377440"/>
            <a:ext cx="1737000" cy="6854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6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7635240" y="261972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EF4444"/>
                </a:solidFill>
                <a:effectLst/>
                <a:uFillTx/>
                <a:latin typeface="Tahoma"/>
                <a:cs typeface="Tahoma"/>
              </a:rPr>
              <a:t>ผิดพลาด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EF4444"/>
                </a:solidFill>
                <a:effectLst/>
                <a:uFillTx/>
                <a:latin typeface="Tahoma"/>
                <a:cs typeface="Tahoma"/>
              </a:rPr>
              <a:t>เข้า </a:t>
            </a:r>
            <a:r>
              <a:rPr lang="en-US" sz="1100" b="1" u="none" strike="noStrike">
                <a:solidFill>
                  <a:srgbClr val="EF4444"/>
                </a:solidFill>
                <a:effectLst/>
                <a:uFillTx/>
                <a:latin typeface="Tahoma"/>
                <a:ea typeface="Tahoma"/>
              </a:rPr>
              <a:t>catch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0"/>
          <p:cNvSpPr/>
          <p:nvPr/>
        </p:nvSpPr>
        <p:spPr>
          <a:xfrm>
            <a:off x="685800" y="4137840"/>
            <a:ext cx="5303160" cy="95976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runFederate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HLA code </a:t>
            </a:r>
            <a:r>
              <a:rPr lang="en-US" sz="1200" b="0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หลายส่วนโยน</a:t>
            </a:r>
            <a:r>
              <a:rPr lang="en-US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exception </a:t>
            </a:r>
            <a:r>
              <a:rPr lang="en-US" sz="1200" b="0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ได้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184" name="Text 11"/>
          <p:cNvSpPr/>
          <p:nvPr/>
        </p:nvSpPr>
        <p:spPr>
          <a:xfrm>
            <a:off x="850319" y="4302360"/>
            <a:ext cx="4921469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502920" y="649224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Java Foundation for HLA  | </a:t>
            </a:r>
            <a:r>
              <a:rPr lang="th-TH" sz="750" dirty="0">
                <a:solidFill>
                  <a:srgbClr val="94A3B8"/>
                </a:solidFill>
                <a:latin typeface="Tahoma"/>
                <a:ea typeface="Tahoma"/>
              </a:rPr>
              <a:t>บทที่</a:t>
            </a:r>
            <a:r>
              <a:rPr lang="en-US" sz="750" b="0" u="none" strike="noStrike" dirty="0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 2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4"/>
          <p:cNvSpPr/>
          <p:nvPr/>
        </p:nvSpPr>
        <p:spPr>
          <a:xfrm>
            <a:off x="11201400" y="649224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Tahoma"/>
                <a:ea typeface="Tahoma"/>
              </a:rPr>
              <a:t>11/13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084D684B-DE2E-B317-195D-5373724DAE84}"/>
              </a:ext>
            </a:extLst>
          </p:cNvPr>
          <p:cNvCxnSpPr>
            <a:cxnSpLocks/>
            <a:endCxn id="181" idx="1"/>
          </p:cNvCxnSpPr>
          <p:nvPr/>
        </p:nvCxnSpPr>
        <p:spPr>
          <a:xfrm>
            <a:off x="4451350" y="2377440"/>
            <a:ext cx="3092450" cy="342720"/>
          </a:xfrm>
          <a:prstGeom prst="bentConnector3">
            <a:avLst>
              <a:gd name="adj1" fmla="val 58008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B2807D0-D803-9E0C-1E97-A58AC43EDBFD}"/>
              </a:ext>
            </a:extLst>
          </p:cNvPr>
          <p:cNvCxnSpPr>
            <a:cxnSpLocks/>
            <a:endCxn id="179" idx="1"/>
          </p:cNvCxnSpPr>
          <p:nvPr/>
        </p:nvCxnSpPr>
        <p:spPr>
          <a:xfrm flipV="1">
            <a:off x="4959350" y="1531440"/>
            <a:ext cx="2584450" cy="41112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579</TotalTime>
  <Words>1424</Words>
  <Application>Microsoft Office PowerPoint</Application>
  <PresentationFormat>Widescreen</PresentationFormat>
  <Paragraphs>320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Angsana New</vt:lpstr>
      <vt:lpstr>Arial</vt:lpstr>
      <vt:lpstr>Consolas</vt:lpstr>
      <vt:lpstr>Symbol</vt:lpstr>
      <vt:lpstr>Tahoma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Java OOP for HLA</dc:title>
  <dc:subject>Day 2 Java OOP for HLA</dc:subject>
  <dc:creator>OpenAI</dc:creator>
  <dc:description/>
  <cp:lastModifiedBy>จิรเมธ แสนทอง</cp:lastModifiedBy>
  <cp:revision>9</cp:revision>
  <dcterms:created xsi:type="dcterms:W3CDTF">2026-09-11T07:57:41Z</dcterms:created>
  <dcterms:modified xsi:type="dcterms:W3CDTF">2026-10-16T04:50:03Z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