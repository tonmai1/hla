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9" r:id="rId10"/>
    <p:sldMasterId id="2147483660" r:id="rId11"/>
  </p:sldMasterIdLst>
  <p:notesMasterIdLst>
    <p:notesMasterId r:id="rId188"/>
  </p:notesMasterIdLst>
  <p:sldIdLst>
    <p:sldId id="269" r:id="rId12"/>
    <p:sldId id="256" r:id="rId13"/>
    <p:sldId id="275" r:id="rId14"/>
    <p:sldId id="276" r:id="rId15"/>
    <p:sldId id="273" r:id="rId16"/>
    <p:sldId id="272" r:id="rId17"/>
    <p:sldId id="278" r:id="rId18"/>
    <p:sldId id="346" r:id="rId19"/>
    <p:sldId id="423" r:id="rId20"/>
    <p:sldId id="336" r:id="rId21"/>
    <p:sldId id="258" r:id="rId22"/>
    <p:sldId id="285" r:id="rId23"/>
    <p:sldId id="286" r:id="rId24"/>
    <p:sldId id="287" r:id="rId25"/>
    <p:sldId id="288" r:id="rId26"/>
    <p:sldId id="337" r:id="rId27"/>
    <p:sldId id="289" r:id="rId28"/>
    <p:sldId id="290" r:id="rId29"/>
    <p:sldId id="338" r:id="rId30"/>
    <p:sldId id="339" r:id="rId31"/>
    <p:sldId id="301" r:id="rId32"/>
    <p:sldId id="340" r:id="rId33"/>
    <p:sldId id="26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41" r:id="rId42"/>
    <p:sldId id="262" r:id="rId43"/>
    <p:sldId id="317" r:id="rId44"/>
    <p:sldId id="342" r:id="rId45"/>
    <p:sldId id="318" r:id="rId46"/>
    <p:sldId id="320" r:id="rId47"/>
    <p:sldId id="319" r:id="rId48"/>
    <p:sldId id="263" r:id="rId49"/>
    <p:sldId id="325" r:id="rId50"/>
    <p:sldId id="326" r:id="rId51"/>
    <p:sldId id="327" r:id="rId52"/>
    <p:sldId id="329" r:id="rId53"/>
    <p:sldId id="330" r:id="rId54"/>
    <p:sldId id="331" r:id="rId55"/>
    <p:sldId id="332" r:id="rId56"/>
    <p:sldId id="333" r:id="rId57"/>
    <p:sldId id="343" r:id="rId58"/>
    <p:sldId id="344" r:id="rId59"/>
    <p:sldId id="345" r:id="rId60"/>
    <p:sldId id="347" r:id="rId61"/>
    <p:sldId id="348" r:id="rId62"/>
    <p:sldId id="349" r:id="rId63"/>
    <p:sldId id="352" r:id="rId64"/>
    <p:sldId id="350" r:id="rId65"/>
    <p:sldId id="351" r:id="rId66"/>
    <p:sldId id="354" r:id="rId67"/>
    <p:sldId id="355" r:id="rId68"/>
    <p:sldId id="356" r:id="rId69"/>
    <p:sldId id="359" r:id="rId70"/>
    <p:sldId id="357" r:id="rId71"/>
    <p:sldId id="360" r:id="rId72"/>
    <p:sldId id="361" r:id="rId73"/>
    <p:sldId id="364" r:id="rId74"/>
    <p:sldId id="365" r:id="rId75"/>
    <p:sldId id="366" r:id="rId76"/>
    <p:sldId id="367" r:id="rId77"/>
    <p:sldId id="369" r:id="rId78"/>
    <p:sldId id="368" r:id="rId79"/>
    <p:sldId id="370" r:id="rId80"/>
    <p:sldId id="376" r:id="rId81"/>
    <p:sldId id="371" r:id="rId82"/>
    <p:sldId id="363" r:id="rId83"/>
    <p:sldId id="372" r:id="rId84"/>
    <p:sldId id="373" r:id="rId85"/>
    <p:sldId id="374" r:id="rId86"/>
    <p:sldId id="375" r:id="rId87"/>
    <p:sldId id="377" r:id="rId88"/>
    <p:sldId id="362" r:id="rId89"/>
    <p:sldId id="379" r:id="rId90"/>
    <p:sldId id="380" r:id="rId91"/>
    <p:sldId id="381" r:id="rId92"/>
    <p:sldId id="382" r:id="rId93"/>
    <p:sldId id="383" r:id="rId94"/>
    <p:sldId id="386" r:id="rId95"/>
    <p:sldId id="384" r:id="rId96"/>
    <p:sldId id="378" r:id="rId97"/>
    <p:sldId id="392" r:id="rId98"/>
    <p:sldId id="391" r:id="rId99"/>
    <p:sldId id="387" r:id="rId100"/>
    <p:sldId id="393" r:id="rId101"/>
    <p:sldId id="388" r:id="rId102"/>
    <p:sldId id="394" r:id="rId103"/>
    <p:sldId id="389" r:id="rId104"/>
    <p:sldId id="396" r:id="rId105"/>
    <p:sldId id="390" r:id="rId106"/>
    <p:sldId id="402" r:id="rId107"/>
    <p:sldId id="395" r:id="rId108"/>
    <p:sldId id="403" r:id="rId109"/>
    <p:sldId id="397" r:id="rId110"/>
    <p:sldId id="398" r:id="rId111"/>
    <p:sldId id="399" r:id="rId112"/>
    <p:sldId id="405" r:id="rId113"/>
    <p:sldId id="404" r:id="rId114"/>
    <p:sldId id="400" r:id="rId115"/>
    <p:sldId id="401" r:id="rId116"/>
    <p:sldId id="406" r:id="rId117"/>
    <p:sldId id="408" r:id="rId118"/>
    <p:sldId id="409" r:id="rId119"/>
    <p:sldId id="407" r:id="rId120"/>
    <p:sldId id="410" r:id="rId121"/>
    <p:sldId id="414" r:id="rId122"/>
    <p:sldId id="418" r:id="rId123"/>
    <p:sldId id="411" r:id="rId124"/>
    <p:sldId id="415" r:id="rId125"/>
    <p:sldId id="412" r:id="rId126"/>
    <p:sldId id="413" r:id="rId127"/>
    <p:sldId id="416" r:id="rId128"/>
    <p:sldId id="417" r:id="rId129"/>
    <p:sldId id="419" r:id="rId130"/>
    <p:sldId id="420" r:id="rId131"/>
    <p:sldId id="422" r:id="rId132"/>
    <p:sldId id="421" r:id="rId133"/>
    <p:sldId id="424" r:id="rId134"/>
    <p:sldId id="426" r:id="rId135"/>
    <p:sldId id="425" r:id="rId136"/>
    <p:sldId id="429" r:id="rId137"/>
    <p:sldId id="427" r:id="rId138"/>
    <p:sldId id="430" r:id="rId139"/>
    <p:sldId id="431" r:id="rId140"/>
    <p:sldId id="433" r:id="rId141"/>
    <p:sldId id="436" r:id="rId142"/>
    <p:sldId id="432" r:id="rId143"/>
    <p:sldId id="434" r:id="rId144"/>
    <p:sldId id="439" r:id="rId145"/>
    <p:sldId id="435" r:id="rId146"/>
    <p:sldId id="437" r:id="rId147"/>
    <p:sldId id="440" r:id="rId148"/>
    <p:sldId id="441" r:id="rId149"/>
    <p:sldId id="443" r:id="rId150"/>
    <p:sldId id="442" r:id="rId151"/>
    <p:sldId id="438" r:id="rId152"/>
    <p:sldId id="444" r:id="rId153"/>
    <p:sldId id="446" r:id="rId154"/>
    <p:sldId id="445" r:id="rId155"/>
    <p:sldId id="448" r:id="rId156"/>
    <p:sldId id="447" r:id="rId157"/>
    <p:sldId id="449" r:id="rId158"/>
    <p:sldId id="452" r:id="rId159"/>
    <p:sldId id="451" r:id="rId160"/>
    <p:sldId id="453" r:id="rId161"/>
    <p:sldId id="428" r:id="rId162"/>
    <p:sldId id="456" r:id="rId163"/>
    <p:sldId id="457" r:id="rId164"/>
    <p:sldId id="454" r:id="rId165"/>
    <p:sldId id="455" r:id="rId166"/>
    <p:sldId id="458" r:id="rId167"/>
    <p:sldId id="459" r:id="rId168"/>
    <p:sldId id="460" r:id="rId169"/>
    <p:sldId id="462" r:id="rId170"/>
    <p:sldId id="463" r:id="rId171"/>
    <p:sldId id="461" r:id="rId172"/>
    <p:sldId id="464" r:id="rId173"/>
    <p:sldId id="465" r:id="rId174"/>
    <p:sldId id="467" r:id="rId175"/>
    <p:sldId id="468" r:id="rId176"/>
    <p:sldId id="469" r:id="rId177"/>
    <p:sldId id="470" r:id="rId178"/>
    <p:sldId id="472" r:id="rId179"/>
    <p:sldId id="473" r:id="rId180"/>
    <p:sldId id="475" r:id="rId181"/>
    <p:sldId id="474" r:id="rId182"/>
    <p:sldId id="477" r:id="rId183"/>
    <p:sldId id="476" r:id="rId184"/>
    <p:sldId id="471" r:id="rId185"/>
    <p:sldId id="478" r:id="rId186"/>
    <p:sldId id="335" r:id="rId18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455"/>
    <a:srgbClr val="F5F7FA"/>
    <a:srgbClr val="50F273"/>
    <a:srgbClr val="3D76E3"/>
    <a:srgbClr val="DCE6F2"/>
    <a:srgbClr val="7E65DB"/>
    <a:srgbClr val="E3E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00" autoAdjust="0"/>
  </p:normalViewPr>
  <p:slideViewPr>
    <p:cSldViewPr snapToGrid="0">
      <p:cViewPr varScale="1">
        <p:scale>
          <a:sx n="154" d="100"/>
          <a:sy n="154" d="100"/>
        </p:scale>
        <p:origin x="52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6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63" Type="http://schemas.openxmlformats.org/officeDocument/2006/relationships/slide" Target="slides/slide52.xml"/><Relationship Id="rId84" Type="http://schemas.openxmlformats.org/officeDocument/2006/relationships/slide" Target="slides/slide73.xml"/><Relationship Id="rId138" Type="http://schemas.openxmlformats.org/officeDocument/2006/relationships/slide" Target="slides/slide127.xml"/><Relationship Id="rId159" Type="http://schemas.openxmlformats.org/officeDocument/2006/relationships/slide" Target="slides/slide148.xml"/><Relationship Id="rId170" Type="http://schemas.openxmlformats.org/officeDocument/2006/relationships/slide" Target="slides/slide159.xml"/><Relationship Id="rId191" Type="http://schemas.openxmlformats.org/officeDocument/2006/relationships/theme" Target="theme/theme1.xml"/><Relationship Id="rId107" Type="http://schemas.openxmlformats.org/officeDocument/2006/relationships/slide" Target="slides/slide9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53" Type="http://schemas.openxmlformats.org/officeDocument/2006/relationships/slide" Target="slides/slide42.xml"/><Relationship Id="rId74" Type="http://schemas.openxmlformats.org/officeDocument/2006/relationships/slide" Target="slides/slide63.xml"/><Relationship Id="rId128" Type="http://schemas.openxmlformats.org/officeDocument/2006/relationships/slide" Target="slides/slide117.xml"/><Relationship Id="rId149" Type="http://schemas.openxmlformats.org/officeDocument/2006/relationships/slide" Target="slides/slide138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4.xml"/><Relationship Id="rId160" Type="http://schemas.openxmlformats.org/officeDocument/2006/relationships/slide" Target="slides/slide149.xml"/><Relationship Id="rId181" Type="http://schemas.openxmlformats.org/officeDocument/2006/relationships/slide" Target="slides/slide170.xml"/><Relationship Id="rId22" Type="http://schemas.openxmlformats.org/officeDocument/2006/relationships/slide" Target="slides/slide11.xml"/><Relationship Id="rId43" Type="http://schemas.openxmlformats.org/officeDocument/2006/relationships/slide" Target="slides/slide32.xml"/><Relationship Id="rId64" Type="http://schemas.openxmlformats.org/officeDocument/2006/relationships/slide" Target="slides/slide53.xml"/><Relationship Id="rId118" Type="http://schemas.openxmlformats.org/officeDocument/2006/relationships/slide" Target="slides/slide107.xml"/><Relationship Id="rId139" Type="http://schemas.openxmlformats.org/officeDocument/2006/relationships/slide" Target="slides/slide128.xml"/><Relationship Id="rId85" Type="http://schemas.openxmlformats.org/officeDocument/2006/relationships/slide" Target="slides/slide74.xml"/><Relationship Id="rId150" Type="http://schemas.openxmlformats.org/officeDocument/2006/relationships/slide" Target="slides/slide139.xml"/><Relationship Id="rId171" Type="http://schemas.openxmlformats.org/officeDocument/2006/relationships/slide" Target="slides/slide160.xml"/><Relationship Id="rId192" Type="http://schemas.openxmlformats.org/officeDocument/2006/relationships/tableStyles" Target="tableStyles.xml"/><Relationship Id="rId12" Type="http://schemas.openxmlformats.org/officeDocument/2006/relationships/slide" Target="slides/slide1.xml"/><Relationship Id="rId33" Type="http://schemas.openxmlformats.org/officeDocument/2006/relationships/slide" Target="slides/slide22.xml"/><Relationship Id="rId108" Type="http://schemas.openxmlformats.org/officeDocument/2006/relationships/slide" Target="slides/slide97.xml"/><Relationship Id="rId129" Type="http://schemas.openxmlformats.org/officeDocument/2006/relationships/slide" Target="slides/slide118.xml"/><Relationship Id="rId54" Type="http://schemas.openxmlformats.org/officeDocument/2006/relationships/slide" Target="slides/slide43.xml"/><Relationship Id="rId75" Type="http://schemas.openxmlformats.org/officeDocument/2006/relationships/slide" Target="slides/slide64.xml"/><Relationship Id="rId96" Type="http://schemas.openxmlformats.org/officeDocument/2006/relationships/slide" Target="slides/slide85.xml"/><Relationship Id="rId140" Type="http://schemas.openxmlformats.org/officeDocument/2006/relationships/slide" Target="slides/slide129.xml"/><Relationship Id="rId161" Type="http://schemas.openxmlformats.org/officeDocument/2006/relationships/slide" Target="slides/slide150.xml"/><Relationship Id="rId182" Type="http://schemas.openxmlformats.org/officeDocument/2006/relationships/slide" Target="slides/slide17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2.xml"/><Relationship Id="rId119" Type="http://schemas.openxmlformats.org/officeDocument/2006/relationships/slide" Target="slides/slide108.xml"/><Relationship Id="rId44" Type="http://schemas.openxmlformats.org/officeDocument/2006/relationships/slide" Target="slides/slide33.xml"/><Relationship Id="rId65" Type="http://schemas.openxmlformats.org/officeDocument/2006/relationships/slide" Target="slides/slide54.xml"/><Relationship Id="rId86" Type="http://schemas.openxmlformats.org/officeDocument/2006/relationships/slide" Target="slides/slide75.xml"/><Relationship Id="rId130" Type="http://schemas.openxmlformats.org/officeDocument/2006/relationships/slide" Target="slides/slide119.xml"/><Relationship Id="rId151" Type="http://schemas.openxmlformats.org/officeDocument/2006/relationships/slide" Target="slides/slide140.xml"/><Relationship Id="rId172" Type="http://schemas.openxmlformats.org/officeDocument/2006/relationships/slide" Target="slides/slide161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slide" Target="slides/slide9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120" Type="http://schemas.openxmlformats.org/officeDocument/2006/relationships/slide" Target="slides/slide109.xml"/><Relationship Id="rId125" Type="http://schemas.openxmlformats.org/officeDocument/2006/relationships/slide" Target="slides/slide114.xml"/><Relationship Id="rId141" Type="http://schemas.openxmlformats.org/officeDocument/2006/relationships/slide" Target="slides/slide130.xml"/><Relationship Id="rId146" Type="http://schemas.openxmlformats.org/officeDocument/2006/relationships/slide" Target="slides/slide135.xml"/><Relationship Id="rId167" Type="http://schemas.openxmlformats.org/officeDocument/2006/relationships/slide" Target="slides/slide156.xml"/><Relationship Id="rId18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162" Type="http://schemas.openxmlformats.org/officeDocument/2006/relationships/slide" Target="slides/slide151.xml"/><Relationship Id="rId183" Type="http://schemas.openxmlformats.org/officeDocument/2006/relationships/slide" Target="slides/slide17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slide" Target="slides/slide99.xml"/><Relationship Id="rId115" Type="http://schemas.openxmlformats.org/officeDocument/2006/relationships/slide" Target="slides/slide104.xml"/><Relationship Id="rId131" Type="http://schemas.openxmlformats.org/officeDocument/2006/relationships/slide" Target="slides/slide120.xml"/><Relationship Id="rId136" Type="http://schemas.openxmlformats.org/officeDocument/2006/relationships/slide" Target="slides/slide125.xml"/><Relationship Id="rId157" Type="http://schemas.openxmlformats.org/officeDocument/2006/relationships/slide" Target="slides/slide146.xml"/><Relationship Id="rId178" Type="http://schemas.openxmlformats.org/officeDocument/2006/relationships/slide" Target="slides/slide167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52" Type="http://schemas.openxmlformats.org/officeDocument/2006/relationships/slide" Target="slides/slide141.xml"/><Relationship Id="rId173" Type="http://schemas.openxmlformats.org/officeDocument/2006/relationships/slide" Target="slides/slide162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126" Type="http://schemas.openxmlformats.org/officeDocument/2006/relationships/slide" Target="slides/slide115.xml"/><Relationship Id="rId147" Type="http://schemas.openxmlformats.org/officeDocument/2006/relationships/slide" Target="slides/slide136.xml"/><Relationship Id="rId168" Type="http://schemas.openxmlformats.org/officeDocument/2006/relationships/slide" Target="slides/slide15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121" Type="http://schemas.openxmlformats.org/officeDocument/2006/relationships/slide" Target="slides/slide110.xml"/><Relationship Id="rId142" Type="http://schemas.openxmlformats.org/officeDocument/2006/relationships/slide" Target="slides/slide131.xml"/><Relationship Id="rId163" Type="http://schemas.openxmlformats.org/officeDocument/2006/relationships/slide" Target="slides/slide152.xml"/><Relationship Id="rId184" Type="http://schemas.openxmlformats.org/officeDocument/2006/relationships/slide" Target="slides/slide173.xml"/><Relationship Id="rId18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116" Type="http://schemas.openxmlformats.org/officeDocument/2006/relationships/slide" Target="slides/slide105.xml"/><Relationship Id="rId137" Type="http://schemas.openxmlformats.org/officeDocument/2006/relationships/slide" Target="slides/slide126.xml"/><Relationship Id="rId158" Type="http://schemas.openxmlformats.org/officeDocument/2006/relationships/slide" Target="slides/slide147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slide" Target="slides/slide100.xml"/><Relationship Id="rId132" Type="http://schemas.openxmlformats.org/officeDocument/2006/relationships/slide" Target="slides/slide121.xml"/><Relationship Id="rId153" Type="http://schemas.openxmlformats.org/officeDocument/2006/relationships/slide" Target="slides/slide142.xml"/><Relationship Id="rId174" Type="http://schemas.openxmlformats.org/officeDocument/2006/relationships/slide" Target="slides/slide163.xml"/><Relationship Id="rId179" Type="http://schemas.openxmlformats.org/officeDocument/2006/relationships/slide" Target="slides/slide168.xml"/><Relationship Id="rId190" Type="http://schemas.openxmlformats.org/officeDocument/2006/relationships/viewProps" Target="viewProps.xml"/><Relationship Id="rId15" Type="http://schemas.openxmlformats.org/officeDocument/2006/relationships/slide" Target="slides/slide4.xml"/><Relationship Id="rId36" Type="http://schemas.openxmlformats.org/officeDocument/2006/relationships/slide" Target="slides/slide25.xml"/><Relationship Id="rId57" Type="http://schemas.openxmlformats.org/officeDocument/2006/relationships/slide" Target="slides/slide46.xml"/><Relationship Id="rId106" Type="http://schemas.openxmlformats.org/officeDocument/2006/relationships/slide" Target="slides/slide95.xml"/><Relationship Id="rId127" Type="http://schemas.openxmlformats.org/officeDocument/2006/relationships/slide" Target="slides/slide11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52" Type="http://schemas.openxmlformats.org/officeDocument/2006/relationships/slide" Target="slides/slide41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122" Type="http://schemas.openxmlformats.org/officeDocument/2006/relationships/slide" Target="slides/slide111.xml"/><Relationship Id="rId143" Type="http://schemas.openxmlformats.org/officeDocument/2006/relationships/slide" Target="slides/slide132.xml"/><Relationship Id="rId148" Type="http://schemas.openxmlformats.org/officeDocument/2006/relationships/slide" Target="slides/slide137.xml"/><Relationship Id="rId164" Type="http://schemas.openxmlformats.org/officeDocument/2006/relationships/slide" Target="slides/slide153.xml"/><Relationship Id="rId169" Type="http://schemas.openxmlformats.org/officeDocument/2006/relationships/slide" Target="slides/slide158.xml"/><Relationship Id="rId185" Type="http://schemas.openxmlformats.org/officeDocument/2006/relationships/slide" Target="slides/slide17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80" Type="http://schemas.openxmlformats.org/officeDocument/2006/relationships/slide" Target="slides/slide169.xml"/><Relationship Id="rId26" Type="http://schemas.openxmlformats.org/officeDocument/2006/relationships/slide" Target="slides/slide15.xml"/><Relationship Id="rId47" Type="http://schemas.openxmlformats.org/officeDocument/2006/relationships/slide" Target="slides/slide36.xml"/><Relationship Id="rId68" Type="http://schemas.openxmlformats.org/officeDocument/2006/relationships/slide" Target="slides/slide57.xml"/><Relationship Id="rId89" Type="http://schemas.openxmlformats.org/officeDocument/2006/relationships/slide" Target="slides/slide78.xml"/><Relationship Id="rId112" Type="http://schemas.openxmlformats.org/officeDocument/2006/relationships/slide" Target="slides/slide101.xml"/><Relationship Id="rId133" Type="http://schemas.openxmlformats.org/officeDocument/2006/relationships/slide" Target="slides/slide122.xml"/><Relationship Id="rId154" Type="http://schemas.openxmlformats.org/officeDocument/2006/relationships/slide" Target="slides/slide143.xml"/><Relationship Id="rId175" Type="http://schemas.openxmlformats.org/officeDocument/2006/relationships/slide" Target="slides/slide164.xml"/><Relationship Id="rId16" Type="http://schemas.openxmlformats.org/officeDocument/2006/relationships/slide" Target="slides/slide5.xml"/><Relationship Id="rId37" Type="http://schemas.openxmlformats.org/officeDocument/2006/relationships/slide" Target="slides/slide26.xml"/><Relationship Id="rId58" Type="http://schemas.openxmlformats.org/officeDocument/2006/relationships/slide" Target="slides/slide47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123" Type="http://schemas.openxmlformats.org/officeDocument/2006/relationships/slide" Target="slides/slide112.xml"/><Relationship Id="rId144" Type="http://schemas.openxmlformats.org/officeDocument/2006/relationships/slide" Target="slides/slide133.xml"/><Relationship Id="rId90" Type="http://schemas.openxmlformats.org/officeDocument/2006/relationships/slide" Target="slides/slide79.xml"/><Relationship Id="rId165" Type="http://schemas.openxmlformats.org/officeDocument/2006/relationships/slide" Target="slides/slide154.xml"/><Relationship Id="rId186" Type="http://schemas.openxmlformats.org/officeDocument/2006/relationships/slide" Target="slides/slide175.xml"/><Relationship Id="rId27" Type="http://schemas.openxmlformats.org/officeDocument/2006/relationships/slide" Target="slides/slide16.xml"/><Relationship Id="rId48" Type="http://schemas.openxmlformats.org/officeDocument/2006/relationships/slide" Target="slides/slide37.xml"/><Relationship Id="rId69" Type="http://schemas.openxmlformats.org/officeDocument/2006/relationships/slide" Target="slides/slide58.xml"/><Relationship Id="rId113" Type="http://schemas.openxmlformats.org/officeDocument/2006/relationships/slide" Target="slides/slide102.xml"/><Relationship Id="rId134" Type="http://schemas.openxmlformats.org/officeDocument/2006/relationships/slide" Target="slides/slide123.xml"/><Relationship Id="rId80" Type="http://schemas.openxmlformats.org/officeDocument/2006/relationships/slide" Target="slides/slide69.xml"/><Relationship Id="rId155" Type="http://schemas.openxmlformats.org/officeDocument/2006/relationships/slide" Target="slides/slide144.xml"/><Relationship Id="rId176" Type="http://schemas.openxmlformats.org/officeDocument/2006/relationships/slide" Target="slides/slide165.xml"/><Relationship Id="rId17" Type="http://schemas.openxmlformats.org/officeDocument/2006/relationships/slide" Target="slides/slide6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24" Type="http://schemas.openxmlformats.org/officeDocument/2006/relationships/slide" Target="slides/slide113.xml"/><Relationship Id="rId70" Type="http://schemas.openxmlformats.org/officeDocument/2006/relationships/slide" Target="slides/slide59.xml"/><Relationship Id="rId91" Type="http://schemas.openxmlformats.org/officeDocument/2006/relationships/slide" Target="slides/slide80.xml"/><Relationship Id="rId145" Type="http://schemas.openxmlformats.org/officeDocument/2006/relationships/slide" Target="slides/slide134.xml"/><Relationship Id="rId166" Type="http://schemas.openxmlformats.org/officeDocument/2006/relationships/slide" Target="slides/slide155.xml"/><Relationship Id="rId187" Type="http://schemas.openxmlformats.org/officeDocument/2006/relationships/slide" Target="slides/slide17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17.xml"/><Relationship Id="rId49" Type="http://schemas.openxmlformats.org/officeDocument/2006/relationships/slide" Target="slides/slide38.xml"/><Relationship Id="rId114" Type="http://schemas.openxmlformats.org/officeDocument/2006/relationships/slide" Target="slides/slide103.xml"/><Relationship Id="rId60" Type="http://schemas.openxmlformats.org/officeDocument/2006/relationships/slide" Target="slides/slide49.xml"/><Relationship Id="rId81" Type="http://schemas.openxmlformats.org/officeDocument/2006/relationships/slide" Target="slides/slide70.xml"/><Relationship Id="rId135" Type="http://schemas.openxmlformats.org/officeDocument/2006/relationships/slide" Target="slides/slide124.xml"/><Relationship Id="rId156" Type="http://schemas.openxmlformats.org/officeDocument/2006/relationships/slide" Target="slides/slide145.xml"/><Relationship Id="rId177" Type="http://schemas.openxmlformats.org/officeDocument/2006/relationships/slide" Target="slides/slide1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84605-C605-453E-8127-FCEA754DCD7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C05AE-30D9-4B01-A416-2E732042C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04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25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61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94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19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27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6B7B-EBC1-CD42-DF0B-555B0BD7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E5401-5BD9-6F58-E47C-363AAAC01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87834-F13D-E6B9-C3EF-7E39D0540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5B1D0-FF85-C3C7-A62D-671ED4738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73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71D8-81DC-EEAC-1EA7-E09D923F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40131-4883-66E6-EC71-075F77931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9557C-F5FC-FFA4-81EF-ED4B21740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55CBA-8236-19EF-7C9D-B65E83A22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47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87F59-2DC5-B27B-9E2F-79BA7FCE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FB554-9F83-F295-A089-D6E0F9458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5B33D-6A36-7E88-9542-4F04CC908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E54E8-19C4-D8C8-7ED3-8E4A382A6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C05AE-30D9-4B01-A416-2E732042C3DD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04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  <a:endParaRPr/>
          </a:p>
        </p:txBody>
      </p:sp>
      <p:sp>
        <p:nvSpPr>
          <p:cNvPr id="5" name="PlaceHolder 3">
            <a:extLst>
              <a:ext uri="{FF2B5EF4-FFF2-40B4-BE49-F238E27FC236}">
                <a16:creationId xmlns:a16="http://schemas.microsoft.com/office/drawing/2014/main" id="{68ACC76F-71B1-381C-F52B-B0AF3F7E4D08}"/>
              </a:ext>
            </a:extLst>
          </p:cNvPr>
          <p:cNvSpPr txBox="1">
            <a:spLocks/>
          </p:cNvSpPr>
          <p:nvPr userDrawn="1"/>
        </p:nvSpPr>
        <p:spPr>
          <a:xfrm>
            <a:off x="4571820" y="639734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lang="en-US" sz="1400" b="0" u="none" strike="noStrike" kern="1200">
                <a:solidFill>
                  <a:schemeClr val="bg1">
                    <a:lumMod val="50000"/>
                  </a:schemeClr>
                </a:solidFill>
                <a:effectLst/>
                <a:uFillTx/>
                <a:latin typeface="TH SarabunPSK" panose="020B0500040200020003" pitchFamily="34" charset="-34"/>
                <a:ea typeface="+mn-ea"/>
                <a:cs typeface="TH SarabunPSK" panose="020B0500040200020003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Zyntelligent Co., Ltd.</a:t>
            </a:r>
            <a:endParaRPr lang="en-US" dirty="0"/>
          </a:p>
        </p:txBody>
      </p:sp>
      <p:sp>
        <p:nvSpPr>
          <p:cNvPr id="6" name="PlaceHolder 4">
            <a:extLst>
              <a:ext uri="{FF2B5EF4-FFF2-40B4-BE49-F238E27FC236}">
                <a16:creationId xmlns:a16="http://schemas.microsoft.com/office/drawing/2014/main" id="{7D096EC9-3BB9-B6BA-C05E-9E3BD3E1061A}"/>
              </a:ext>
            </a:extLst>
          </p:cNvPr>
          <p:cNvSpPr txBox="1">
            <a:spLocks/>
          </p:cNvSpPr>
          <p:nvPr userDrawn="1"/>
        </p:nvSpPr>
        <p:spPr>
          <a:xfrm>
            <a:off x="9448200" y="64020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defPPr>
              <a:defRPr lang="en-US"/>
            </a:defPPr>
            <a:lvl1pPr marL="0" indent="0" algn="r" defTabSz="457200" rtl="0" eaLnBrk="1" latinLnBrk="0" hangingPunct="1">
              <a:lnSpc>
                <a:spcPct val="100000"/>
              </a:lnSpc>
              <a:buNone/>
              <a:defRPr lang="en-US" sz="1200" b="0" u="none" strike="noStrike" kern="120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B68CCF-D253-4E2D-829D-CB31F26BD7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>
          <a:xfrm>
            <a:off x="4571820" y="6397340"/>
            <a:ext cx="2895120" cy="36468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r>
              <a:rPr lang="en-US" dirty="0"/>
              <a:t>© </a:t>
            </a:r>
            <a:r>
              <a:rPr lang="en-US" dirty="0" err="1"/>
              <a:t>Zyntelligent</a:t>
            </a:r>
            <a:r>
              <a:rPr lang="en-US" dirty="0"/>
              <a:t> Co., Ltd.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>
          <a:xfrm>
            <a:off x="9448200" y="6402060"/>
            <a:ext cx="2133360" cy="364680"/>
          </a:xfrm>
        </p:spPr>
        <p:txBody>
          <a:bodyPr/>
          <a:lstStyle/>
          <a:p>
            <a:fld id="{8CB68CCF-D253-4E2D-829D-CB31F26BD7F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58583E-D29C-4737-A6CE-F1139A2AE2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D7CEEC-F50D-4945-9768-4C26F6099C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 anchorCtr="1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443A01-0327-47AA-B610-D1252369E9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62091-FAC3-452D-956A-A985021659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EACE66-2DC4-49C5-922A-62E1F6CADF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776A03-85FA-404F-B75B-E9FB2D2CA8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FD05AD-7B1C-49C0-8913-3B5D58E16F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072ED7-F004-4780-9292-C89CA68B73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7CAAB9-7983-4A35-8344-F154B4DC6C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16/10/2569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© Zyntelligent Co., Ltd.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5AACD3-9466-48C7-B717-80568EF756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sv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sv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sv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sv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sv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212C-9364-900A-5B66-8F8393B3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586461"/>
            <a:ext cx="9806413" cy="1685077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 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ED04E8-638D-7887-269E-0CB6A81A84B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0D9EF-2C81-59B4-92D1-0E55A438A2A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66761CC-D4D5-9131-3383-74FB56C9F47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 dirty="0"/>
              <a:t>© </a:t>
            </a:r>
            <a:r>
              <a:rPr lang="en-US" dirty="0" err="1"/>
              <a:t>Zyntelligent</a:t>
            </a:r>
            <a:r>
              <a:rPr lang="en-US" dirty="0"/>
              <a:t> Co., Ltd.</a:t>
            </a:r>
          </a:p>
        </p:txBody>
      </p:sp>
    </p:spTree>
    <p:extLst>
      <p:ext uri="{BB962C8B-B14F-4D97-AF65-F5344CB8AC3E}">
        <p14:creationId xmlns:p14="http://schemas.microsoft.com/office/powerpoint/2010/main" val="352805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/>
          <p:cNvSpPr/>
          <p:nvPr/>
        </p:nvSpPr>
        <p:spPr>
          <a:xfrm>
            <a:off x="457200" y="292680"/>
            <a:ext cx="720291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6E1B3E-5731-754E-6499-0E1C623027BD}"/>
              </a:ext>
            </a:extLst>
          </p:cNvPr>
          <p:cNvSpPr txBox="1"/>
          <p:nvPr/>
        </p:nvSpPr>
        <p:spPr>
          <a:xfrm>
            <a:off x="457200" y="1497612"/>
            <a:ext cx="5638800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 </a:t>
            </a: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ลำดับการทำงานในการเขียน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950921-585D-BEFD-D271-58F187BDFF6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6F37F-7688-9AEE-D178-0AFDC6053CAF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3761C46-4E75-EE31-82A3-2FBC50DF7A3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A894-4B8C-340C-0AD7-15BE2734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504369"/>
            <a:ext cx="10972080" cy="683264"/>
          </a:xfrm>
        </p:spPr>
        <p:txBody>
          <a:bodyPr/>
          <a:lstStyle/>
          <a:p>
            <a:r>
              <a:rPr lang="en-US" sz="4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AFE89-1217-9934-FB69-3FD986716CE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415504"/>
            <a:ext cx="10972080" cy="2521652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คือ มาตรฐานโครงสร้างสถาปัตยกรรมระดับสากลที่ถูกกำหนดขึ้นเพื่อใช้ในการบูรณาการระบบจำลอง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Simulation)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หรือระบบจำลองยุทธ์ที่หลากหลายและต่างแพลตฟอร์มกันให้สามารถเชื่อมต่อ แลกเปลี่ยนข้อมูล และทำงานร่วมกันภายในสภาวะแวดล้อมจำลองเดียวกันได้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DB502-DB9D-8FA3-3E83-E5356A537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79" y="3886497"/>
            <a:ext cx="4054226" cy="2697904"/>
          </a:xfrm>
          <a:prstGeom prst="rect">
            <a:avLst/>
          </a:prstGeom>
        </p:spPr>
      </p:pic>
      <p:pic>
        <p:nvPicPr>
          <p:cNvPr id="6" name="Google Shape;96;p17">
            <a:extLst>
              <a:ext uri="{FF2B5EF4-FFF2-40B4-BE49-F238E27FC236}">
                <a16:creationId xmlns:a16="http://schemas.microsoft.com/office/drawing/2014/main" id="{EE0324C6-7279-581A-56CE-921882B518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088" y="3922113"/>
            <a:ext cx="4727416" cy="266228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2DB464-7503-660B-3771-1B50366C1FDD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40DCA97-BFA7-0D63-A097-A9C6B2DB011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3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6B8C381-DEC9-2D75-8684-174A7254988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04800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60820-B902-7B79-5FFF-F7558E4DF66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7460" y="1117978"/>
            <a:ext cx="11176120" cy="18851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มีโครงสร้างสถาปัตยกรรมส่วนกลาง ที่กำหนดกฎเกณฑ์และมาตรฐานการสื่อสาร ทำให้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Simulator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แต่ละตัว สามารถส่งผ่านข้อมูลเข้าหากันได้อย่าง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Real-time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และมีประสิทธิภาพ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ก่อให้เกิดเป็น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Joint Simulation Environment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" name="Google Shape;97;p17" title="lvchla.png">
            <a:extLst>
              <a:ext uri="{FF2B5EF4-FFF2-40B4-BE49-F238E27FC236}">
                <a16:creationId xmlns:a16="http://schemas.microsoft.com/office/drawing/2014/main" id="{3288C713-6E81-F8C2-9E3F-18BD24B7105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90663" y="2527379"/>
            <a:ext cx="6060265" cy="412438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A7A527-8B62-170A-7E28-EC46C32CE712}"/>
              </a:ext>
            </a:extLst>
          </p:cNvPr>
          <p:cNvSpPr txBox="1">
            <a:spLocks/>
          </p:cNvSpPr>
          <p:nvPr/>
        </p:nvSpPr>
        <p:spPr>
          <a:xfrm>
            <a:off x="609480" y="504369"/>
            <a:ext cx="10972080" cy="68326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</a:t>
            </a:r>
            <a:endParaRPr lang="en-US" sz="4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45229A-AC79-4B16-70C9-F278D12C5E1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F8C74-62E6-EED2-3B39-255E461A0E8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A9324B8-E233-130C-02CF-CD263D37832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223440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01;p27">
            <a:extLst>
              <a:ext uri="{FF2B5EF4-FFF2-40B4-BE49-F238E27FC236}">
                <a16:creationId xmlns:a16="http://schemas.microsoft.com/office/drawing/2014/main" id="{8F690C75-1B14-4418-FE1C-E55B818EA0D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3037" y="249457"/>
            <a:ext cx="8725925" cy="63590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E6722-287C-A83E-AA63-F08925B2196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965A-DF5C-6D3B-CBF6-24AD487740F6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AE94BA-F139-8098-D485-0190BD2118F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88159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99D4-6957-3420-64AB-A28545FB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B7BCB-0704-67CD-F754-767AF608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-1"/>
            <a:ext cx="12189571" cy="686027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116E12-870B-DF80-1A5A-25F1017557B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1CBFAC-AFCE-5402-C4D5-E035F3FED6C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11DA1EB-03EA-F20C-73FC-73031F0AE9F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86493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E83E-FBFB-5004-4568-C4BE6A82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75" y="516288"/>
            <a:ext cx="10972080" cy="626325"/>
          </a:xfrm>
        </p:spPr>
        <p:txBody>
          <a:bodyPr/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 Case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81C1080-2466-3A0A-315B-8965E327B10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91375" y="1376327"/>
            <a:ext cx="11208290" cy="3016210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 case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ที่พบบ่อยที่สุดสำหรับ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ได้แก่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การฝึกอบรม ซึ่งเป็นการฝึกให้มนุษย์ปฏิบัติงาน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การวิเคราะห์ ซึ่งเราสามารถทดลองสถานการณ์ต่างๆ ในโลกจำลองได้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การทดสอบ วิศวกรรม การจำลอง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ฯลฯ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แนวคิด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ได้รับการพัฒนาขึ้นครั้งแรกสำหรับการใช้งานด้านการป้องกันประเทศ ซึ่งยังคงเป็น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Use Case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หลักที่สำคัญสำหรับ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pic>
        <p:nvPicPr>
          <p:cNvPr id="3" name="Picture 2" descr="OneArc">
            <a:extLst>
              <a:ext uri="{FF2B5EF4-FFF2-40B4-BE49-F238E27FC236}">
                <a16:creationId xmlns:a16="http://schemas.microsoft.com/office/drawing/2014/main" id="{7B993216-1A5B-E2EC-2184-74098A3EB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74" y="4401241"/>
            <a:ext cx="3833791" cy="2160864"/>
          </a:xfrm>
          <a:prstGeom prst="rect">
            <a:avLst/>
          </a:prstGeom>
        </p:spPr>
      </p:pic>
      <p:pic>
        <p:nvPicPr>
          <p:cNvPr id="4" name="Picture 3" descr="High-level architecture (H L A) framework | Download Scientific Diagram">
            <a:extLst>
              <a:ext uri="{FF2B5EF4-FFF2-40B4-BE49-F238E27FC236}">
                <a16:creationId xmlns:a16="http://schemas.microsoft.com/office/drawing/2014/main" id="{DFDC748F-AF68-2B3A-BECC-1249DA919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736" y="4386792"/>
            <a:ext cx="3107067" cy="2128308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F096171-C15C-81C2-39BF-0275C63C16D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2A2AB7-332E-B0AF-33C7-850D24019A36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9D74DD-A4DD-D766-A6C7-F1623FE67F7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17842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F42C-2EA0-9B9D-2DDC-CAF45674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B041-9FA6-EEF5-CD41-8274E625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75" y="516288"/>
            <a:ext cx="10972080" cy="626325"/>
          </a:xfrm>
        </p:spPr>
        <p:txBody>
          <a:bodyPr/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Rule 10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62197-35DF-E42E-2848-F4C1D1BF348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59F032-53F6-814D-9A69-7BB5E7BA286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184BA2-2549-653F-18A1-9BD1E0BD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4" y="1237491"/>
            <a:ext cx="11322632" cy="4819898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8C30755-9FB3-74FC-6845-99EC0D716A4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833399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1EF7-D2B7-BBDA-410C-1A1044E5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02F5-27FD-EA32-0D67-B9B0FB12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375" y="516288"/>
            <a:ext cx="10972080" cy="626325"/>
          </a:xfrm>
        </p:spPr>
        <p:txBody>
          <a:bodyPr/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Rule 10 </a:t>
            </a:r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8C679-5662-665B-2BB5-73B8EF6774D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CF079A-91FB-A49D-29E8-79C962BF42D4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362F2-A15A-9CFB-AF31-3125B9F5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3200"/>
            <a:ext cx="11420566" cy="451809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AABBD-5A0E-5A89-047F-124D5C56738D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676948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8F17-8F62-CCD6-A6D2-971CFC205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14279604-3829-7077-3DC9-7A9500092F21}"/>
              </a:ext>
            </a:extLst>
          </p:cNvPr>
          <p:cNvSpPr/>
          <p:nvPr/>
        </p:nvSpPr>
        <p:spPr>
          <a:xfrm>
            <a:off x="457200" y="292680"/>
            <a:ext cx="720291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C9675-1146-8BD0-645B-BD413800770C}"/>
              </a:ext>
            </a:extLst>
          </p:cNvPr>
          <p:cNvSpPr txBox="1"/>
          <p:nvPr/>
        </p:nvSpPr>
        <p:spPr>
          <a:xfrm>
            <a:off x="457200" y="1497612"/>
            <a:ext cx="5638800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ลำดับการทำงานในการเขียน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0953BB-6FD3-1028-33AA-DA7C731667F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05849-7551-33B8-1906-33DC49FF1E2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159A1C7-21D6-E93B-BF50-FC667FF1117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699929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2"/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sp>
        <p:nvSpPr>
          <p:cNvPr id="82" name="Rounded Rectangle 4"/>
          <p:cNvSpPr/>
          <p:nvPr/>
        </p:nvSpPr>
        <p:spPr>
          <a:xfrm>
            <a:off x="777240" y="1663920"/>
            <a:ext cx="2194200" cy="832320"/>
          </a:xfrm>
          <a:prstGeom prst="roundRect">
            <a:avLst>
              <a:gd name="adj" fmla="val 16667"/>
            </a:avLst>
          </a:prstGeom>
          <a:solidFill>
            <a:srgbClr val="3D76E3"/>
          </a:solidFill>
          <a:ln w="9360">
            <a:solidFill>
              <a:srgbClr val="3D76E3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AF2500AF-A6C7-81F9-00B3-4DCD3402CBD6}"/>
              </a:ext>
            </a:extLst>
          </p:cNvPr>
          <p:cNvSpPr/>
          <p:nvPr/>
        </p:nvSpPr>
        <p:spPr>
          <a:xfrm>
            <a:off x="777240" y="3031200"/>
            <a:ext cx="2194200" cy="832320"/>
          </a:xfrm>
          <a:prstGeom prst="roundRect">
            <a:avLst>
              <a:gd name="adj" fmla="val 16667"/>
            </a:avLst>
          </a:prstGeom>
          <a:solidFill>
            <a:srgbClr val="3D76E3"/>
          </a:solidFill>
          <a:ln w="9360">
            <a:solidFill>
              <a:srgbClr val="3D76E3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  <a:endParaRPr lang="en-US" sz="3600" b="1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111D71F8-A6B8-1D0A-7131-1E0132154506}"/>
              </a:ext>
            </a:extLst>
          </p:cNvPr>
          <p:cNvSpPr/>
          <p:nvPr/>
        </p:nvSpPr>
        <p:spPr>
          <a:xfrm>
            <a:off x="777240" y="4418468"/>
            <a:ext cx="2194200" cy="832320"/>
          </a:xfrm>
          <a:prstGeom prst="roundRect">
            <a:avLst>
              <a:gd name="adj" fmla="val 16667"/>
            </a:avLst>
          </a:prstGeom>
          <a:solidFill>
            <a:srgbClr val="3D76E3"/>
          </a:solidFill>
          <a:ln w="9360">
            <a:solidFill>
              <a:srgbClr val="3D76E3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6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  <a:endParaRPr lang="en-US" sz="3600" b="0" u="none" strike="noStrike" dirty="0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06B6BD9D-5F03-E673-0372-FD6902AB25AF}"/>
              </a:ext>
            </a:extLst>
          </p:cNvPr>
          <p:cNvSpPr/>
          <p:nvPr/>
        </p:nvSpPr>
        <p:spPr>
          <a:xfrm>
            <a:off x="3872132" y="1663920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FOM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9F1A311-C57B-9B2C-012D-BBCA88DA49DA}"/>
              </a:ext>
            </a:extLst>
          </p:cNvPr>
          <p:cNvSpPr/>
          <p:nvPr/>
        </p:nvSpPr>
        <p:spPr>
          <a:xfrm>
            <a:off x="3872132" y="3012840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Aptos"/>
              </a:rPr>
              <a:t>SOM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27BB728F-38D6-77A8-C541-294188E9D6BF}"/>
              </a:ext>
            </a:extLst>
          </p:cNvPr>
          <p:cNvSpPr/>
          <p:nvPr/>
        </p:nvSpPr>
        <p:spPr>
          <a:xfrm>
            <a:off x="3872132" y="4400108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Aptos"/>
              </a:rPr>
              <a:t>OMT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BC4067D8-4320-C830-393C-5400F2057622}"/>
              </a:ext>
            </a:extLst>
          </p:cNvPr>
          <p:cNvSpPr/>
          <p:nvPr/>
        </p:nvSpPr>
        <p:spPr>
          <a:xfrm>
            <a:off x="6967024" y="1682280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3B05636C-3F4B-DAF0-37AA-82226DA2EFC6}"/>
              </a:ext>
            </a:extLst>
          </p:cNvPr>
          <p:cNvSpPr/>
          <p:nvPr/>
        </p:nvSpPr>
        <p:spPr>
          <a:xfrm>
            <a:off x="6967024" y="3031200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Attribute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43D0F2B2-8498-3015-BE1F-2CE69F37B0C1}"/>
              </a:ext>
            </a:extLst>
          </p:cNvPr>
          <p:cNvSpPr/>
          <p:nvPr/>
        </p:nvSpPr>
        <p:spPr>
          <a:xfrm>
            <a:off x="6967024" y="4418468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</a:t>
            </a:r>
            <a:endParaRPr lang="en-US" sz="2800" b="0" u="none" strike="noStrike" dirty="0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B6D4B9CC-7A93-921C-6AB6-B229B9298356}"/>
              </a:ext>
            </a:extLst>
          </p:cNvPr>
          <p:cNvSpPr/>
          <p:nvPr/>
        </p:nvSpPr>
        <p:spPr>
          <a:xfrm>
            <a:off x="9304744" y="1682280"/>
            <a:ext cx="2194200" cy="832320"/>
          </a:xfrm>
          <a:prstGeom prst="roundRect">
            <a:avLst>
              <a:gd name="adj" fmla="val 16667"/>
            </a:avLst>
          </a:prstGeom>
          <a:solidFill>
            <a:schemeClr val="accent2">
              <a:lumMod val="75000"/>
            </a:schemeClr>
          </a:solidFill>
          <a:ln w="9360">
            <a:solidFill>
              <a:schemeClr val="accent5">
                <a:lumMod val="50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466383C-561D-0BAC-4BC8-602D23D5B7F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 dirty="0"/>
              <a:t>16/10/2569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92F26B-E1CE-2ADB-96F1-B6853FE3628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30944" y="1746871"/>
            <a:ext cx="10972080" cy="3139321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  <a:endParaRPr lang="en-US" sz="2800" dirty="0">
              <a:solidFill>
                <a:srgbClr val="2D344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solidFill>
                  <a:srgbClr val="2D34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ระบบจำลองรวมที่มีหลาย </a:t>
            </a:r>
            <a:r>
              <a:rPr lang="en-US" sz="2800" dirty="0">
                <a:solidFill>
                  <a:srgbClr val="2D34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solidFill>
                  <a:srgbClr val="2D34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ทำงานร่วมกันภายใต้กติกาเดียวกัน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รวบรวม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Federate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หลายๆ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ตัวเข้าด้วยกันให้ทำงานเป็นระบบเดียว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กำหนดขอบเขตของการจำลอง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การซ้อมรบทางทหารที่มี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simulator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เครื่องบิน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เรือ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radar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มาทำงานร่วมกัน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ผูกพันด้วย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FOM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เดียวกัน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ทุก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Federate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ในนี้ต้อง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สื่อสารกันด้วยข้อมูล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ตามที่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กำหนดไว้ใน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created → Federate join → Run → Federate Resign → Federation destroy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2736BAA-0570-EF3B-6639-8671D0284BCB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pic>
        <p:nvPicPr>
          <p:cNvPr id="4" name="Graphic 3" descr="Run-time infrastructure (simulation) - Wikipedia">
            <a:extLst>
              <a:ext uri="{FF2B5EF4-FFF2-40B4-BE49-F238E27FC236}">
                <a16:creationId xmlns:a16="http://schemas.microsoft.com/office/drawing/2014/main" id="{56CCD055-6EBC-427A-91DF-8FF04A1CB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4518" y="4950569"/>
            <a:ext cx="5362963" cy="17764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93363D-8E46-7485-2715-CECB0F34007A}"/>
              </a:ext>
            </a:extLst>
          </p:cNvPr>
          <p:cNvSpPr/>
          <p:nvPr/>
        </p:nvSpPr>
        <p:spPr>
          <a:xfrm>
            <a:off x="3414517" y="4950569"/>
            <a:ext cx="5362963" cy="16612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E035A4B-8A4B-BE78-CC5D-5242BA97C49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A7AF77-BFF1-1409-C630-9598988BFA9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12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40E264B-68BE-2639-396A-1F69099C49B2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78370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88E5-3F41-30F3-3A6C-D91AD143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3E33A5-16F5-B0F0-64B2-3F64F8E627D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77549" y="1636034"/>
            <a:ext cx="10972080" cy="3139321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  <a:endParaRPr lang="en-US" sz="3600" dirty="0">
              <a:solidFill>
                <a:srgbClr val="2D344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solidFill>
                  <a:srgbClr val="2D34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โปรแกรมจำลองหรือองค์ประกอบหนึ่งตัว เช่น </a:t>
            </a:r>
            <a:r>
              <a:rPr lang="en-US" sz="2400" dirty="0">
                <a:solidFill>
                  <a:srgbClr val="2D34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Truck, Tank, Aircraft </a:t>
            </a:r>
            <a:r>
              <a:rPr lang="th-TH" sz="2400" dirty="0">
                <a:solidFill>
                  <a:srgbClr val="2D34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เป็นต้น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จำลองพฤติกรรมหรือระบบเฉพาะของตัวเอง เช่น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หนึ่งจำลองเครื่องบิน อีกตัวจำลองสภาพอากาศ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ส่งข้อมูล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สถานะของตัวเองให้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อื่นที่อยู่ใน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เดียวกันรับรู้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รับข้อมูล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อื่นเพื่อนำไปใช้ในการจำลองของตน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จะติดต่อกับ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เท่านั้น โดยจะไม่ติดต่อกับ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อื่นโดยตรง ซึ่งจะติดตั้ง ผ่าน 2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interface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ดังนี้: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    RTI Ambassador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ช่องทางที่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จะสั่งงาน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(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ขอสร้าง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object,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interaction)</a:t>
            </a:r>
          </a:p>
          <a:p>
            <a:pPr lvl="1"/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              Federate Ambassador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ช่องทางที่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จะแจ้งเตือนกลับมาที่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(callback)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C2C9C2E-E25A-673A-210A-403EFE8B6081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pic>
        <p:nvPicPr>
          <p:cNvPr id="7" name="Graphic 6" descr="Run-time infrastructure (simulation) - Wikipedia">
            <a:extLst>
              <a:ext uri="{FF2B5EF4-FFF2-40B4-BE49-F238E27FC236}">
                <a16:creationId xmlns:a16="http://schemas.microsoft.com/office/drawing/2014/main" id="{2A950715-C8CF-5D53-4E36-C09AA532A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4518" y="4958845"/>
            <a:ext cx="5362963" cy="17764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C0C43CE-DC85-7111-6741-3B6B5BB7792B}"/>
              </a:ext>
            </a:extLst>
          </p:cNvPr>
          <p:cNvSpPr/>
          <p:nvPr/>
        </p:nvSpPr>
        <p:spPr>
          <a:xfrm>
            <a:off x="3496235" y="5205046"/>
            <a:ext cx="5134708" cy="6040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4DC3BC-E9C5-5627-3EAE-EA1F57434B69}"/>
              </a:ext>
            </a:extLst>
          </p:cNvPr>
          <p:cNvSpPr/>
          <p:nvPr/>
        </p:nvSpPr>
        <p:spPr>
          <a:xfrm>
            <a:off x="3703112" y="6055330"/>
            <a:ext cx="3926541" cy="250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D82A2D1-615E-8F51-3222-70B8FA04751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B87D50-B406-3B9B-EF8C-85569D8A45E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13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6486F64-61D6-EA01-BE86-7A3B481BE137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3604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75CF-0E66-8C79-6675-9D61C20C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B350F5-0170-722E-DF65-6F31EF2FE72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6511" y="1727923"/>
            <a:ext cx="10064247" cy="3200876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(Run-Time Infrastructure)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Runtime Infrastructure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ทำหน้าที่เป็น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Middleware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 จัดการและให้บริการต่างๆ แก่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ตามข้อกำหนด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ส่งต่อข้อมูล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update, Interaction)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อย่างถูกต้องและทันเวลา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Publish/Subscribe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รู้ว่าใครสนใจข้อมูลอะไร แล้วส่งเฉพาะที่เกี่ยวข้อง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ควบคุม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Time Management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ให้เวลาของทุก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เดินสอดคล้องกัน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Ownership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ทำหน้าที่เป็นตัวกลาง ไม่ให้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ใดควบคุมระบบทั้งหมดโดยตรง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F6098E6-44E0-00CB-89C0-4857D8090112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pic>
        <p:nvPicPr>
          <p:cNvPr id="6" name="Graphic 5" descr="Run-time infrastructure (simulation) - Wikipedia">
            <a:extLst>
              <a:ext uri="{FF2B5EF4-FFF2-40B4-BE49-F238E27FC236}">
                <a16:creationId xmlns:a16="http://schemas.microsoft.com/office/drawing/2014/main" id="{6684E5C2-71C1-FBF8-239D-269213600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14518" y="4958845"/>
            <a:ext cx="5362963" cy="17764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5D46A80-58AB-3B43-88D8-ABEFBFA3DE1E}"/>
              </a:ext>
            </a:extLst>
          </p:cNvPr>
          <p:cNvSpPr/>
          <p:nvPr/>
        </p:nvSpPr>
        <p:spPr>
          <a:xfrm>
            <a:off x="3653461" y="6185647"/>
            <a:ext cx="4878181" cy="4716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758389-BCC7-E189-F673-102B0621B1E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97A099-B483-AFE8-83A3-88F76964C62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723CA1-5DE2-9E95-6D8D-171556A15CE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321788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0F9911E0-EBFF-9F03-04A7-64A6C68B4007}"/>
              </a:ext>
            </a:extLst>
          </p:cNvPr>
          <p:cNvSpPr txBox="1">
            <a:spLocks/>
          </p:cNvSpPr>
          <p:nvPr/>
        </p:nvSpPr>
        <p:spPr>
          <a:xfrm>
            <a:off x="568585" y="1692306"/>
            <a:ext cx="10972080" cy="2277547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(Federation Object Model)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โมเดลข้อมูลร่วมของทั้ง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อธิบายว่ามี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Object/Interaction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อะไรบ้างที่แชร์กัน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กำหนดว่ามี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อะไรบ้างที่แชร์กันใน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contract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ที่ทำให้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ต่างระบบ ต่างผู้พัฒนา สามารถเข้าใจข้อมูลของกันและกันได้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ถูกโหลดเข้า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ตอนสร้าง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เพื่อกำหนดกรอบการสื่อสารกันภายใน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E424991C-3B4F-F3BE-1F9A-F81BF495AB78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3D34C-A556-1667-528D-7F26C05D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726" y="4389341"/>
            <a:ext cx="5258548" cy="224000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8820E1-98B1-78FF-7D80-E0B6FD19DA0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3952E-5797-842E-D3AE-2A6FD1EFAB7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B337232-9738-8E72-532D-B86CEA43492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02684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729B8-6858-7AC8-0506-640B240F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0D1359B1-8DB8-6215-3730-09BB379D5ADC}"/>
              </a:ext>
            </a:extLst>
          </p:cNvPr>
          <p:cNvSpPr txBox="1">
            <a:spLocks/>
          </p:cNvSpPr>
          <p:nvPr/>
        </p:nvSpPr>
        <p:spPr>
          <a:xfrm>
            <a:off x="552034" y="1626885"/>
            <a:ext cx="10972080" cy="2708434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SOM (Simulation Object Model)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โมเดลข้อมูลของ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แต่ละตัว อธิบายความสามารถที่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นั้นมี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ตัวนี้สามารถ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Publish/Subscribe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อะไรได้บ้าง (จากขีดความสามารถของตัวเอง)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ใช้เป็นข้อมูลอ้างอิงตอนออกแบบ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ว่าจะรวมความสามารถของแต่ละ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อย่างไร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ตัวเดิมนำไปใช้ใน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อื่นได้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Reusability)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เพราะ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อธิบายตัวเองไว้ชัดเจนแล้ว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D79E61D-E10E-8B17-244D-81218DF1AF9E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75D203-16F6-3032-2DDE-95C2A8D3E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67" y="4017568"/>
            <a:ext cx="2691329" cy="25977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2E6A84-FB5D-0751-42ED-3B170EE5E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266" y="4017568"/>
            <a:ext cx="2486530" cy="260728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1ACE2F-3AE8-1915-4469-4E62D4E2A89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B206C1-4A8D-4815-27C2-F4480AF518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A2CD8EA-2FC9-3839-D083-7DE03E6F225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636261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4AF7A-B2B3-9742-D6F6-C733ADF8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8EDBF97-9ED9-5194-E535-0A527F44288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960" y="1668415"/>
            <a:ext cx="10972080" cy="2769989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 (Object Model Template)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รูปแบบมาตรฐาน ที่ใช้เขียน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FOM/SOM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ให้อยู่ในรูปแบบเดียวกัน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กำหนดโครงสร้าง, ตาราง, และรูปแบบเอกสารตามมาตฐานที่ใช้เขียน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Model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FOM/SOM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จากผู้พัฒนาต่างค่าย ต่างเครื่องมือ อ่านและเข้าใจตรงกันได้ เหมือนใช้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template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เดียวกัน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ปัจจุบันนิยมเขียนในรูปแบบไฟล์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XML (FDD - FOM Document Data)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16A63-746D-EE4B-E08D-4EB975A7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043" y="4086789"/>
            <a:ext cx="4691913" cy="2771211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B2D39CAC-305A-D982-FF6E-E4CB01A71401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1578143-AF45-BDA4-FD19-8FA4B48834D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720DC-A744-2622-9385-EE828F5DF4A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17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DDEB220-B246-D9F5-E68F-667D5BE493F6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388435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E1A0-DD84-1032-C5EE-FC2B5354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638A71-B2F3-B184-4871-13423829CD0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61644" y="1375364"/>
            <a:ext cx="10972080" cy="984885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</a:t>
            </a:r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ที่มีสถานะคงอยู่ตลอดเวลา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persistent state)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Aircraft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5AD40B4-AACB-0D07-28A1-B2541ACB744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62124" y="4100938"/>
            <a:ext cx="10971600" cy="984885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เหตุการณ์ที่เกิดขึ้น ณ จุดเวลาหนึ่ง เช่น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WeaponFire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Collision,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MessageSent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1F1E65-6949-CC86-CB64-B1C7B8C9ABC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61644" y="2537760"/>
            <a:ext cx="7539692" cy="1415772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คุณสมบัติของ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 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Position, Speed, Health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เป็นค่าที่เปลี่ยนแปลงได้และถูกอัปเดตส่งไปมาระหว่าง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14B4D1-1DAD-9265-DBEF-4B3F0D7B4F3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61644" y="5284021"/>
            <a:ext cx="10971600" cy="984885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ข้อมูลที่แนบไปกับเหตุการณ์นั้น เช่น ทิศทาง, ความแรง, ผู้ส่ง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F25D8FF0-B9FF-85CA-77B1-F450FC14835C}"/>
              </a:ext>
            </a:extLst>
          </p:cNvPr>
          <p:cNvSpPr/>
          <p:nvPr/>
        </p:nvSpPr>
        <p:spPr>
          <a:xfrm>
            <a:off x="457200" y="292680"/>
            <a:ext cx="4077055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4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2D972D7-5F3C-8E96-BD84-8076CA0EB32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2ACC4A5-1857-3D2B-D36E-A8EE92CB9FD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18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EDC59C2-9B34-38DA-7580-6000908685BD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8701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578E09-D8A5-531A-4294-90DD2C32C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4CF0AF-50F2-B9F6-9E91-5D46F9C03AA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1917D-2497-4582-1601-3D2650698D84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19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2BB887E-48C4-8CD5-C691-B1FE6983199F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975410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CC09-A280-20D9-1DF5-172CEBCD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CD04419E-A647-7E65-07A7-A0251AE0440B}"/>
              </a:ext>
            </a:extLst>
          </p:cNvPr>
          <p:cNvSpPr/>
          <p:nvPr/>
        </p:nvSpPr>
        <p:spPr>
          <a:xfrm>
            <a:off x="457200" y="292680"/>
            <a:ext cx="720291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A64DB4-9A5C-AEF2-5EBF-2D7C29BCAF4A}"/>
              </a:ext>
            </a:extLst>
          </p:cNvPr>
          <p:cNvSpPr txBox="1"/>
          <p:nvPr/>
        </p:nvSpPr>
        <p:spPr>
          <a:xfrm>
            <a:off x="457200" y="1497612"/>
            <a:ext cx="5638800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ลำดับการทำงานในการเขียน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9C0675-6B38-5917-5703-D3EB3AC6E32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F228B-A5DB-A26B-1A71-C828853AC8D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5429274-3F5F-78AF-873E-4F1B681009A6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12214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14D5-0F9B-9CCB-9D2F-26AF33F9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4F429B0-15E2-968E-23B4-7228BFECB322}"/>
              </a:ext>
            </a:extLst>
          </p:cNvPr>
          <p:cNvSpPr txBox="1">
            <a:spLocks/>
          </p:cNvSpPr>
          <p:nvPr/>
        </p:nvSpPr>
        <p:spPr>
          <a:xfrm>
            <a:off x="609480" y="532837"/>
            <a:ext cx="10972080" cy="6263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Picture 3" descr="3 depicts the main HLA components. It is possible to see that inside a... |  Download Scientific Diagram">
            <a:extLst>
              <a:ext uri="{FF2B5EF4-FFF2-40B4-BE49-F238E27FC236}">
                <a16:creationId xmlns:a16="http://schemas.microsoft.com/office/drawing/2014/main" id="{8B7706F1-56C9-E33F-BC2B-FF30CB8A7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75" y="1534438"/>
            <a:ext cx="10538852" cy="468044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5ED20-1DFA-0CD3-DE7B-28CFB6E6205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38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02DE8-2489-015E-2CC7-0274184D1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BC1DDF99-B19E-3D2E-04C0-6E2B53529BAA}"/>
              </a:ext>
            </a:extLst>
          </p:cNvPr>
          <p:cNvSpPr/>
          <p:nvPr/>
        </p:nvSpPr>
        <p:spPr>
          <a:xfrm>
            <a:off x="457200" y="292680"/>
            <a:ext cx="720291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4EAD4-9BED-A359-3847-A636A30E3352}"/>
              </a:ext>
            </a:extLst>
          </p:cNvPr>
          <p:cNvSpPr txBox="1"/>
          <p:nvPr/>
        </p:nvSpPr>
        <p:spPr>
          <a:xfrm>
            <a:off x="457200" y="1497612"/>
            <a:ext cx="5638800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RTI Service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ลำดับการทำงานในการเขียน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56F32F-D5FC-9050-C4AF-FA3556220B6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40D20-D54D-2B86-A896-9C2B06C38B45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70C2CAD-F813-5E95-38AE-0C7AB97D297F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276670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/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8" name="Rounded Rectangle 4"/>
          <p:cNvSpPr/>
          <p:nvPr/>
        </p:nvSpPr>
        <p:spPr>
          <a:xfrm>
            <a:off x="2921000" y="1539240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Federation Management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2921000" y="2718493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Declaration Management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2921000" y="3917401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Object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6294966" y="1539240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Ownership Management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6294966" y="2728320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Time Management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6294966" y="3917400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Data Distribution Management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4" name="Rounded Rectangle 10"/>
          <p:cNvSpPr/>
          <p:nvPr/>
        </p:nvSpPr>
        <p:spPr>
          <a:xfrm>
            <a:off x="2921000" y="5156144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Support Services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Rounded Rectangle 10">
            <a:extLst>
              <a:ext uri="{FF2B5EF4-FFF2-40B4-BE49-F238E27FC236}">
                <a16:creationId xmlns:a16="http://schemas.microsoft.com/office/drawing/2014/main" id="{226827FB-3ACE-5042-C12E-C12A5B558D6A}"/>
              </a:ext>
            </a:extLst>
          </p:cNvPr>
          <p:cNvSpPr/>
          <p:nvPr/>
        </p:nvSpPr>
        <p:spPr>
          <a:xfrm>
            <a:off x="6294966" y="5156144"/>
            <a:ext cx="2742840" cy="776880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360">
            <a:solidFill>
              <a:schemeClr val="accent2">
                <a:lumMod val="75000"/>
              </a:schemeClr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Management Object Model (MOM)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88140D-F8A0-8419-2415-750E3263F5A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7848-774E-2101-8692-FB659304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87" y="1759752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Federation Management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9C1C11F-A29F-90BF-C740-54C1A54B2858}"/>
              </a:ext>
            </a:extLst>
          </p:cNvPr>
          <p:cNvSpPr txBox="1">
            <a:spLocks/>
          </p:cNvSpPr>
          <p:nvPr/>
        </p:nvSpPr>
        <p:spPr>
          <a:xfrm>
            <a:off x="524287" y="2417483"/>
            <a:ext cx="10972080" cy="2887906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Create Federation Execution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ขึ้นมาใหม่ พร้อมโหลด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 Execution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เข้าร่วม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ที่มีอยู่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Execution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ออกจาก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Destroy Federation Execution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ทำลาย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เมื่อไม่มี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เหลืออยู่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Request Federation Save: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Save/Restore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สถานะของ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อื่น ๆ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D179A68-8B58-08ED-A4F8-DB1221F8337C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B018F36-CA40-A373-94E2-76FEFAC41D8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BEE2B-D94F-E72D-C84F-171E3569200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795D680-DDE6-A1AC-619E-44EA9A5ED74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059154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861D-71B8-6B03-84CC-A97EFD2A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C784-2DAD-21F6-615F-E2BB910B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44" y="1816548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Declaration Management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CAE058-6420-7E1C-3061-27D619A0AB1D}"/>
              </a:ext>
            </a:extLst>
          </p:cNvPr>
          <p:cNvSpPr txBox="1">
            <a:spLocks/>
          </p:cNvSpPr>
          <p:nvPr/>
        </p:nvSpPr>
        <p:spPr>
          <a:xfrm>
            <a:off x="564044" y="3056458"/>
            <a:ext cx="10972080" cy="172354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ประกาศว่าจะส่งข้อมูล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 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ประกาศว่าต้องการรับข้อมูลประเภทใด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Unpublish: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ยกเลิกการส่งข้อมูล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Unsubscribe: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ยกเลิกการรับข้อมูล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1076BC3-97F3-3620-C383-AA1F202F2D97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C1EE5C-01A9-C7B5-FDCC-A55055AF7F0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7C40B7-2455-8183-BBC2-E4F30884D3E3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16A5AA8-CE2A-972B-B952-45A1869BF34F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662365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8940-0B55-E273-88F5-1C7247B2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7D2F-34FB-72AF-B580-2CF47CA7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60" y="1771111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Object Management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9D337FB-8B95-4CF2-169B-22AF5855A126}"/>
              </a:ext>
            </a:extLst>
          </p:cNvPr>
          <p:cNvSpPr txBox="1">
            <a:spLocks/>
          </p:cNvSpPr>
          <p:nvPr/>
        </p:nvSpPr>
        <p:spPr>
          <a:xfrm>
            <a:off x="609960" y="2364692"/>
            <a:ext cx="10972080" cy="301621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Object Instance: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ขึ้นมาจริงในระบบ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Update Attribute Values: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ส่งค่าล่าสุดของ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Send Interaction: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ส่งเหตุการณ์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ไปยัง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ที่เกี่ยวข้อง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Delete Object Instance: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เมื่อไม่ใช้แล้ว เช่น เครื่องบินถูกยิงตก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Reflect/Receive: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ฝั่งผู้รับจะได้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เมื่อมีการ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update/interaction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เกิดขึ้น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0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อื่น ๆ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7FBCC8A-4C67-64F3-2CA3-A262687372C8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5C1355B-E033-BDDA-2C79-AE4D6F72092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304E3-E321-ABDB-3AB2-E49F18CAF6DD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A6651E3-4315-146B-EA82-3B1D86519EB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582209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F7BE0-0EB9-3F12-398A-C006EB06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50F7-6D97-BB7A-C1A6-86172934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23" y="1793830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Ownership Management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1BF4400-2245-B180-6EFC-E45527F63C04}"/>
              </a:ext>
            </a:extLst>
          </p:cNvPr>
          <p:cNvSpPr txBox="1">
            <a:spLocks/>
          </p:cNvSpPr>
          <p:nvPr/>
        </p:nvSpPr>
        <p:spPr>
          <a:xfrm>
            <a:off x="569723" y="2306278"/>
            <a:ext cx="10972080" cy="3791807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Ownership 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Request Attribute Ownership Assumption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กำหนดว่า ณ เวลาหนึ่ง มีเพียง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เดียวเท่านั้นที่เป็นเจ้าของและแก้ไขได้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รองรับการโอนสิทธิ์ 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Ownership Transfer)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ระหว่าง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เมื่อ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เปลี่ยนการควบคุมจาก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หนึ่งไปอีกตัว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ป้องกันปัญหา "สองคนเขียนพร้อมกัน"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write conflict)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0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อื่น ๆ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5A158AB-E21D-3D6E-B55A-7F8B9F8DAAD8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4A06E66-9691-C949-3BFA-B6E61B30031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252B3-400C-D6EE-78F3-66F1215F6B9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27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F8F0ED-CC6D-2D4F-191F-22F082F49725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924478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23E0-B0D6-D5BA-FF64-D3D77828D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126C-FCBE-DF2F-A702-496034DC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23" y="1782471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5. Time Management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20D044D-B085-6C4B-5663-C0B88AABC9B4}"/>
              </a:ext>
            </a:extLst>
          </p:cNvPr>
          <p:cNvSpPr txBox="1">
            <a:spLocks/>
          </p:cNvSpPr>
          <p:nvPr/>
        </p:nvSpPr>
        <p:spPr>
          <a:xfrm>
            <a:off x="569723" y="2355869"/>
            <a:ext cx="10972080" cy="331783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Enable Time Regulation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Enable Time Constrained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Next Message Request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รักษาความถูกต้องเชิงเวลา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Causality)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เหตุการณ์ต้องเกิดตามลำดับเวลาที่ถูกต้อง ไม่สลับก่อนหลัง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ที่เป็น 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Regulating 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ควบคุมจังหวะเวลา) และ 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Constrained 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ต้องรอตามเวลา)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ใช้แนวคิด 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Lookahead 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ระยะเวลาที่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การันตีว่าจะไม่ส่งเหตุการณ์ย้อนเวลา) เพื่อให้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ประมวลผลแบบ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Time-Stepped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Event-Driven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ได้อย่างถูกต้อง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รองรับทั้งโหมด 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TSO (Time Stamp Order) 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 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RO (Receive Order)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0E0B954-955B-3A1A-EEBC-97ADFBBCE034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45FDF64-C5D2-51A9-5780-F7E2A0878A5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A3187B-54C8-0166-97CB-52D996D91A6F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28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1411F7B-0166-C2E3-A764-6643E9FC8DB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28925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6782-70AE-ECC9-6B9C-761E860B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6930-F8A8-2B99-2534-80FB4E825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65" y="1772166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6. Data Distribution Management (DDM)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156EA5-4054-7E4D-E5C1-925B5F33FA9B}"/>
              </a:ext>
            </a:extLst>
          </p:cNvPr>
          <p:cNvSpPr txBox="1">
            <a:spLocks/>
          </p:cNvSpPr>
          <p:nvPr/>
        </p:nvSpPr>
        <p:spPr>
          <a:xfrm>
            <a:off x="558365" y="3012076"/>
            <a:ext cx="10972080" cy="172354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ใช้แนวคิด 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Region 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พื้นที่ที่สนใจ) แทนการ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แบบกว้างๆ ทั้ง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ส่งข้อมูลเฉพาะให้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ที่อยู่ใน "พื้นที่หรือขอบเขตที่เกี่ยวข้อง" เท่านั้น ไม่ส่งทุกอย่างให้ทุกคน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สำคัญมากในระบบขนาดใหญ่ เช่น การจำลองสมรภูมิที่มีวัตถุนับพันชิ้น — ไม่ต้องการให้ทุก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รับข้อมูลของวัตถุที่อยู่ไกลเกินไป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7205179-4115-479D-4AB6-0CB73C7DE037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4DC7877-FC5E-4853-C75D-E49DED40971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791B4-1E1B-1C4B-8F15-030977828381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29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B5A5ABC-4939-B08F-D193-93F35AA40C97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387173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CEB4-C585-FC30-ABFF-2F6E74F6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B58A-6D7D-F894-882D-F9C71727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762" y="2639156"/>
            <a:ext cx="10972080" cy="455509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Support Services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1402777-AB77-2441-FC25-AB09D1F7833D}"/>
              </a:ext>
            </a:extLst>
          </p:cNvPr>
          <p:cNvSpPr txBox="1">
            <a:spLocks/>
          </p:cNvSpPr>
          <p:nvPr/>
        </p:nvSpPr>
        <p:spPr>
          <a:xfrm>
            <a:off x="967762" y="3259055"/>
            <a:ext cx="10972080" cy="430887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Service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ที่ช่วยสนับสนุนการทำงาน 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Utilities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58C87C-2405-2AE8-7115-F65050727902}"/>
              </a:ext>
            </a:extLst>
          </p:cNvPr>
          <p:cNvSpPr txBox="1">
            <a:spLocks/>
          </p:cNvSpPr>
          <p:nvPr/>
        </p:nvSpPr>
        <p:spPr>
          <a:xfrm>
            <a:off x="447062" y="1706310"/>
            <a:ext cx="10972080" cy="51244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Services</a:t>
            </a:r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อื่น ๆ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C4653F8-6F75-BD1F-2F36-976419B8B6CC}"/>
              </a:ext>
            </a:extLst>
          </p:cNvPr>
          <p:cNvSpPr txBox="1">
            <a:spLocks/>
          </p:cNvSpPr>
          <p:nvPr/>
        </p:nvSpPr>
        <p:spPr>
          <a:xfrm>
            <a:off x="967762" y="4029806"/>
            <a:ext cx="10972080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Management Object Model (MOM)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14753E8-80B6-D89B-AD39-5F6E6BD6B379}"/>
              </a:ext>
            </a:extLst>
          </p:cNvPr>
          <p:cNvSpPr txBox="1">
            <a:spLocks/>
          </p:cNvSpPr>
          <p:nvPr/>
        </p:nvSpPr>
        <p:spPr>
          <a:xfrm>
            <a:off x="967762" y="4649705"/>
            <a:ext cx="10972080" cy="430887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ใช้สำหรับเป็นเครื่องมือ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Debug/Monitor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5BB897E5-C625-A8DF-BF9B-F92666128B64}"/>
              </a:ext>
            </a:extLst>
          </p:cNvPr>
          <p:cNvSpPr/>
          <p:nvPr/>
        </p:nvSpPr>
        <p:spPr>
          <a:xfrm>
            <a:off x="457200" y="292680"/>
            <a:ext cx="3730806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44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5811BD3-4B13-6B9C-BBA6-B0FADC70177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740955A-30D6-FB2A-7C05-07E334F4C2F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30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ED0A123-2105-5E50-6E06-58E264F0E55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307224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2A9E6-F324-DBE3-C0A1-B7CD8091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06A4945E-C8AF-410A-59D6-8E6E5C2F441E}"/>
              </a:ext>
            </a:extLst>
          </p:cNvPr>
          <p:cNvSpPr/>
          <p:nvPr/>
        </p:nvSpPr>
        <p:spPr>
          <a:xfrm>
            <a:off x="457200" y="292680"/>
            <a:ext cx="720291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6B973-F0CB-56ED-C9B1-1BA7C93D68FC}"/>
              </a:ext>
            </a:extLst>
          </p:cNvPr>
          <p:cNvSpPr txBox="1"/>
          <p:nvPr/>
        </p:nvSpPr>
        <p:spPr>
          <a:xfrm>
            <a:off x="457200" y="1497612"/>
            <a:ext cx="5638800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ลำดับการทำงานในการเขียน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D5AD954-A5D8-26C1-A205-5898104DE3B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D83AA-6EE1-9FDC-D6B7-0E19E82B591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31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A1C9A20-A4E6-1050-93CA-E0658244A0D2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062763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9FFB9A5-39E4-257E-E23D-4193F97257AC}"/>
              </a:ext>
            </a:extLst>
          </p:cNvPr>
          <p:cNvSpPr txBox="1"/>
          <p:nvPr/>
        </p:nvSpPr>
        <p:spPr>
          <a:xfrm>
            <a:off x="3876200" y="985650"/>
            <a:ext cx="4439598" cy="5632311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1.Create the </a:t>
            </a:r>
            <a:r>
              <a:rPr lang="en-US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RTIambassador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2.Create the Federation (skip if one exists)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3.Join the Federation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4.Initialize all handles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5.Announce a Synchronization Point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6.Wait for the user to press Enter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7.Achieve the Synchronization Point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8.Enable </a:t>
            </a:r>
            <a:r>
              <a:rPr lang="en-US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federate's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time settings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9. Publish and Subscribe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10. Register an Object Instance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 Run Federate/Simulator Tasks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12. Delete the object instance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13. Resign from the Federation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14. Destroy the Federation (if possible)</a:t>
            </a:r>
          </a:p>
          <a:p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731C0626-D1E1-C0BE-8B65-2107EA50FB59}"/>
              </a:ext>
            </a:extLst>
          </p:cNvPr>
          <p:cNvSpPr/>
          <p:nvPr/>
        </p:nvSpPr>
        <p:spPr>
          <a:xfrm>
            <a:off x="5008053" y="276397"/>
            <a:ext cx="2175893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36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0B900-9884-6C2F-C2F4-99D0BABC504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7DD699B-1D19-74E9-F11A-1EF091AAB87A}"/>
              </a:ext>
            </a:extLst>
          </p:cNvPr>
          <p:cNvSpPr txBox="1">
            <a:spLocks/>
          </p:cNvSpPr>
          <p:nvPr/>
        </p:nvSpPr>
        <p:spPr>
          <a:xfrm>
            <a:off x="7719623" y="2694302"/>
            <a:ext cx="4316529" cy="276998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announceSynchronizationPoint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federationSynchronized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timeRegulationEnabled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discoverObjectInstance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 [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อื่น]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reflectAttributeValues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 [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อื่น]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     [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อื่น]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timeAdvanceGrant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removeObjectInstance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3C8CE-50A4-E789-DE3B-B92252D144B7}"/>
              </a:ext>
            </a:extLst>
          </p:cNvPr>
          <p:cNvSpPr txBox="1"/>
          <p:nvPr/>
        </p:nvSpPr>
        <p:spPr>
          <a:xfrm>
            <a:off x="804503" y="1762599"/>
            <a:ext cx="2879314" cy="4678204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Federate.java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connect()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createFederationExecution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joinFederationExecution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registerSyncPoint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synchronizationPointAchieved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enableTimeRegulation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publish/subscribe()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registerObjectInstance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  <a:endParaRPr lang="th-TH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updateAttributeValues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  <a:endParaRPr lang="th-TH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  <a:endParaRPr lang="th-TH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timeAdvanceRequest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deleteObjectInstance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/ destroy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0856428-5444-C42D-C020-5545A3C1E2E5}"/>
              </a:ext>
            </a:extLst>
          </p:cNvPr>
          <p:cNvSpPr/>
          <p:nvPr/>
        </p:nvSpPr>
        <p:spPr>
          <a:xfrm>
            <a:off x="5092321" y="1764371"/>
            <a:ext cx="1022194" cy="3908529"/>
          </a:xfrm>
          <a:prstGeom prst="roundRect">
            <a:avLst>
              <a:gd name="adj" fmla="val 16667"/>
            </a:avLst>
          </a:prstGeom>
          <a:solidFill>
            <a:srgbClr val="7E65DB"/>
          </a:solidFill>
          <a:ln w="9360">
            <a:solidFill>
              <a:srgbClr val="7E65D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7B1B0714-361E-5847-CA29-1E8B27F05420}"/>
              </a:ext>
            </a:extLst>
          </p:cNvPr>
          <p:cNvSpPr/>
          <p:nvPr/>
        </p:nvSpPr>
        <p:spPr>
          <a:xfrm>
            <a:off x="5008053" y="273109"/>
            <a:ext cx="2175893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3600" b="0" u="none" strike="noStrike" dirty="0">
                <a:solidFill>
                  <a:srgbClr val="000000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B370E28-74DC-A830-7DAA-B2EDE992D046}"/>
              </a:ext>
            </a:extLst>
          </p:cNvPr>
          <p:cNvSpPr/>
          <p:nvPr/>
        </p:nvSpPr>
        <p:spPr>
          <a:xfrm>
            <a:off x="3795890" y="3049378"/>
            <a:ext cx="1149716" cy="1241267"/>
          </a:xfrm>
          <a:prstGeom prst="rightArrow">
            <a:avLst/>
          </a:prstGeom>
          <a:solidFill>
            <a:srgbClr val="EA54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5EB589-7926-AF8D-0FE6-69A11E01DF06}"/>
              </a:ext>
            </a:extLst>
          </p:cNvPr>
          <p:cNvSpPr/>
          <p:nvPr/>
        </p:nvSpPr>
        <p:spPr>
          <a:xfrm>
            <a:off x="6353378" y="3004956"/>
            <a:ext cx="1127382" cy="1241267"/>
          </a:xfrm>
          <a:prstGeom prst="rightArrow">
            <a:avLst/>
          </a:prstGeom>
          <a:solidFill>
            <a:srgbClr val="EA54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8ED839-4FC5-AA7F-5AD2-0CE4250DEA4A}"/>
              </a:ext>
            </a:extLst>
          </p:cNvPr>
          <p:cNvSpPr txBox="1"/>
          <p:nvPr/>
        </p:nvSpPr>
        <p:spPr>
          <a:xfrm>
            <a:off x="7589483" y="1767518"/>
            <a:ext cx="2521913" cy="369332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FederateAmbassador.java</a:t>
            </a:r>
            <a:endParaRPr lang="th-TH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A95B310-5BBD-3C31-DC90-A284BBFF637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FFF07D3-3194-752E-6A28-A1B45DDD55B6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33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9EBB4D2-5A0F-58A6-6B13-49CBE7035F7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5762308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C0AB1-6E7D-B307-E093-91524878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704A0181-0165-1A96-71EB-46CF7ABA0ACF}"/>
              </a:ext>
            </a:extLst>
          </p:cNvPr>
          <p:cNvSpPr/>
          <p:nvPr/>
        </p:nvSpPr>
        <p:spPr>
          <a:xfrm>
            <a:off x="457200" y="292680"/>
            <a:ext cx="7202911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122547"/>
                </a:solidFill>
                <a:effectLst/>
                <a:uFillTx/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HLA Fundamental and Architecture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E70BFD-DE73-5B9F-89F2-D9B8E17EC33C}"/>
              </a:ext>
            </a:extLst>
          </p:cNvPr>
          <p:cNvSpPr txBox="1"/>
          <p:nvPr/>
        </p:nvSpPr>
        <p:spPr>
          <a:xfrm>
            <a:off x="457200" y="1497612"/>
            <a:ext cx="5638800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High Level Architecture (HLA)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คืออะไร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องค์ประกอบหลักใน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ทิศทางการสื่อสาร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ภาพรวม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Service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ลำดับการทำงานในการเขียน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การออกแบบ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ตัวอย่างการเขียน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66220D-1E7D-A6B4-57D3-962058A1C4D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B9704-61A3-AC00-6FBB-8DDA12F5C2E1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34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043709-D1F6-59C6-B571-A1E142F9D58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688053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E793-4ED8-1A95-8F92-F80CE9E6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2">
            <a:extLst>
              <a:ext uri="{FF2B5EF4-FFF2-40B4-BE49-F238E27FC236}">
                <a16:creationId xmlns:a16="http://schemas.microsoft.com/office/drawing/2014/main" id="{0E558375-CD0E-BCEE-C993-D4CA684B7626}"/>
              </a:ext>
            </a:extLst>
          </p:cNvPr>
          <p:cNvSpPr/>
          <p:nvPr/>
        </p:nvSpPr>
        <p:spPr>
          <a:xfrm>
            <a:off x="4902254" y="339860"/>
            <a:ext cx="23874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Methods Design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6B4920-10DD-8E78-FB42-DFA8C9ACF2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" t="50938" r="-173" b="3989"/>
          <a:stretch>
            <a:fillRect/>
          </a:stretch>
        </p:blipFill>
        <p:spPr>
          <a:xfrm>
            <a:off x="6096000" y="1659161"/>
            <a:ext cx="6065556" cy="409204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847DDB-677F-FB28-C2CF-407EC179C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49" b="48098"/>
          <a:stretch>
            <a:fillRect/>
          </a:stretch>
        </p:blipFill>
        <p:spPr>
          <a:xfrm>
            <a:off x="53133" y="1659161"/>
            <a:ext cx="6042867" cy="40920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C5E3EF4-9EBC-4B52-E2EA-B857863C5F01}"/>
              </a:ext>
            </a:extLst>
          </p:cNvPr>
          <p:cNvSpPr txBox="1"/>
          <p:nvPr/>
        </p:nvSpPr>
        <p:spPr>
          <a:xfrm>
            <a:off x="5298345" y="113728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Federate.java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AA8BE-8AF9-3A1C-A627-EADA41C3B53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849090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BC0B69F-B863-DB31-611F-AF16F18AE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6" y="1542642"/>
            <a:ext cx="4698988" cy="5315358"/>
          </a:xfrm>
          <a:prstGeom prst="rect">
            <a:avLst/>
          </a:prstGeom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B5EC5F3B-50FC-D78D-8C9E-71445A95C122}"/>
              </a:ext>
            </a:extLst>
          </p:cNvPr>
          <p:cNvSpPr/>
          <p:nvPr/>
        </p:nvSpPr>
        <p:spPr>
          <a:xfrm>
            <a:off x="4902254" y="339860"/>
            <a:ext cx="23874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Methods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D7F5E-DEB8-3E31-A073-E42977F9C35F}"/>
              </a:ext>
            </a:extLst>
          </p:cNvPr>
          <p:cNvSpPr txBox="1"/>
          <p:nvPr/>
        </p:nvSpPr>
        <p:spPr>
          <a:xfrm>
            <a:off x="5298345" y="113728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Federate.java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EB8FB-E20F-6406-72E6-48ADE3B3BF3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E513E-2887-418B-D9C4-D5F3FAE91B0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36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5DBB3-1055-6676-02E2-C5794BEFDAE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082566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FE0A9-11AA-70C3-9EA1-3D8EA325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6E9A35B-FE08-2028-1ED9-F4619ACB3F3B}"/>
              </a:ext>
            </a:extLst>
          </p:cNvPr>
          <p:cNvSpPr txBox="1"/>
          <p:nvPr/>
        </p:nvSpPr>
        <p:spPr>
          <a:xfrm>
            <a:off x="4657111" y="1125518"/>
            <a:ext cx="2877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FederateAmbassador.java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867048-D9A8-22E7-69FA-70B5D9ACC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329" y="1374005"/>
            <a:ext cx="3967413" cy="53898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C5CF6D-736F-8F9B-435B-7723F5698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18" y="1594603"/>
            <a:ext cx="7455342" cy="4608974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6DA7F522-40A3-825C-CA87-00A2B6C6CA3A}"/>
              </a:ext>
            </a:extLst>
          </p:cNvPr>
          <p:cNvSpPr/>
          <p:nvPr/>
        </p:nvSpPr>
        <p:spPr>
          <a:xfrm>
            <a:off x="4902254" y="339860"/>
            <a:ext cx="238749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0" u="none" strike="noStrike" dirty="0">
                <a:solidFill>
                  <a:srgbClr val="000000"/>
                </a:solidFill>
                <a:effectLst/>
                <a:uFillTx/>
                <a:latin typeface="TH SarabunPSK" panose="020B0500040200020003" pitchFamily="34" charset="-34"/>
                <a:cs typeface="TH SarabunPSK" panose="020B0500040200020003" pitchFamily="34" charset="-34"/>
              </a:rPr>
              <a:t>Methods Design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955CCE5-1E9F-5635-FDF4-07731B38457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245089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/>
          <p:cNvSpPr/>
          <p:nvPr/>
        </p:nvSpPr>
        <p:spPr>
          <a:xfrm>
            <a:off x="561911" y="5813330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factory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หลักที่ใช้คุยกับ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เชื่อม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เข้ากับ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พร้อมรับ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callback</a:t>
            </a:r>
          </a:p>
          <a:p>
            <a:pPr defTabSz="457200">
              <a:lnSpc>
                <a:spcPct val="100000"/>
              </a:lnSpc>
            </a:pPr>
            <a:endParaRPr lang="en-US" b="1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CB566D-C0C1-2545-4418-461ED962534E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prepareRTI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523EFF-C191-2E0F-7945-E67C13260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11" y="1709591"/>
            <a:ext cx="7444262" cy="316527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B17F25-1DDA-97DA-D0FD-411E8213A93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6BA6-CD6C-73BF-1DE5-A2573355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7A25D88B-1B15-4284-121B-C8817CD33D2A}"/>
              </a:ext>
            </a:extLst>
          </p:cNvPr>
          <p:cNvSpPr/>
          <p:nvPr/>
        </p:nvSpPr>
        <p:spPr>
          <a:xfrm>
            <a:off x="561911" y="5813330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เชื่อมต่อ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จากนั้นสร้าง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หากยังไม่มี และเข้าร่วม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8C0184-AD9A-0F1F-8C1B-D2CFFB9CA4C6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joinFederation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C9982-099B-C508-1B79-D8A82FF4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11" y="1190911"/>
            <a:ext cx="8025498" cy="450497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D98D6-CFBE-3381-ADAB-5C909E0BDBF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141218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C99E3-0194-CBCA-CB32-47AE9E4F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98730C41-8720-A270-1AF1-0EAEB5238E16}"/>
              </a:ext>
            </a:extLst>
          </p:cNvPr>
          <p:cNvSpPr/>
          <p:nvPr/>
        </p:nvSpPr>
        <p:spPr>
          <a:xfrm>
            <a:off x="561911" y="5813330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รอรับ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Input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จากผู้ใช้งาน  </a:t>
            </a:r>
            <a:r>
              <a:rPr lang="en-US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*Optional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en-US" sz="2400" b="1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D3D835-57AC-918C-26E3-1E83D6138B3B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waitForUser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73628-2E50-E5F8-8877-BBDD5B52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11" y="1363803"/>
            <a:ext cx="8955800" cy="36969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DEBD7-8656-508A-DA82-EC53DCBBB46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945646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7BCA-F502-C684-DAB9-60A83CC2C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02D208A6-F5B8-362D-A138-A6A6C8008337}"/>
              </a:ext>
            </a:extLst>
          </p:cNvPr>
          <p:cNvSpPr/>
          <p:nvPr/>
        </p:nvSpPr>
        <p:spPr>
          <a:xfrm>
            <a:off x="549498" y="5820773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กำหนดว่า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จะส่งหรือรับข้อมูลอะไรบ้าง</a:t>
            </a:r>
            <a:endParaRPr lang="en-US" sz="2400" b="1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125940-2158-693C-ED14-A67E4258CFE2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TH SarabunPSK" panose="020B0500040200020003" pitchFamily="34" charset="-34"/>
                <a:cs typeface="TH SarabunPSK" panose="020B0500040200020003" pitchFamily="34" charset="-34"/>
              </a:rPr>
              <a:t>publishAndSubscribe()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C567F6-4F67-4D06-3A52-BE746BC7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80" y="1190911"/>
            <a:ext cx="9103590" cy="4542957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63B0D-C2AF-4F01-164B-DE14F90DA32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33513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0564-AFA7-1F4C-2965-C89CA705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7A25C39E-B267-E24D-C582-4703D5C3EB2B}"/>
              </a:ext>
            </a:extLst>
          </p:cNvPr>
          <p:cNvSpPr/>
          <p:nvPr/>
        </p:nvSpPr>
        <p:spPr>
          <a:xfrm>
            <a:off x="561911" y="5813330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ตั้งค่าการจัดการเวลาของ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logical time, regulation, constrained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44198E-9D66-01DF-F17F-571B99E84FF8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enableTimePolicy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4B28B-1666-10DB-444E-CC6E600A2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80" y="1391610"/>
            <a:ext cx="7759820" cy="411036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392A89-C075-394C-A254-C316AD41380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495047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8232-35C3-9F8E-2070-8BC55478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9D99F6A8-6CDA-3D88-021B-00403D520110}"/>
              </a:ext>
            </a:extLst>
          </p:cNvPr>
          <p:cNvSpPr/>
          <p:nvPr/>
        </p:nvSpPr>
        <p:spPr>
          <a:xfrm>
            <a:off x="412959" y="5411241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การทำ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Point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F79C1D-E3CD-3762-5650-ABEB0E7AAFB8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synchronize()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85B1CA-1937-7D18-B4AC-E8B97CCA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80" y="1312606"/>
            <a:ext cx="5962956" cy="405785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04C5C-35B8-7007-F4E9-F68D63DAD1C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378706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3B911-CA7B-0009-3C86-AB74C8D7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F6C34A7A-ACCD-AB42-8197-05D0BFD34A16}"/>
              </a:ext>
            </a:extLst>
          </p:cNvPr>
          <p:cNvSpPr/>
          <p:nvPr/>
        </p:nvSpPr>
        <p:spPr>
          <a:xfrm>
            <a:off x="457200" y="4977544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การลงทะเบียน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Object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4351BA-AE60-1E2E-1A84-31F76B6DC47A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registerObject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E55096-1949-0B45-15AC-03AFE5A4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80" y="1605806"/>
            <a:ext cx="10813953" cy="1193053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9AFAE-1CE1-8CFB-047E-67616FFAC54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7180166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EAA40-A2DB-A4C8-777D-32B59DAB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BF4097CC-C26A-AC1E-836D-3BFFEFC5CC6B}"/>
              </a:ext>
            </a:extLst>
          </p:cNvPr>
          <p:cNvSpPr/>
          <p:nvPr/>
        </p:nvSpPr>
        <p:spPr>
          <a:xfrm>
            <a:off x="469780" y="5287861"/>
            <a:ext cx="998946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Method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ที่ใช้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run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การจำลอง</a:t>
            </a:r>
            <a:endParaRPr lang="en-US" sz="2400" b="1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0C7E50-5D6A-35B1-9F3A-C7AB392E7C47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runSimulation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045BD-A10F-8ACE-3D2B-5D27272C5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80" y="1385032"/>
            <a:ext cx="8252739" cy="309374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D6431-EAD6-27D9-3E47-6040627CEAA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8700063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1237-981A-B38A-C8BC-42CAD190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ounded Rectangle 11">
            <a:extLst>
              <a:ext uri="{FF2B5EF4-FFF2-40B4-BE49-F238E27FC236}">
                <a16:creationId xmlns:a16="http://schemas.microsoft.com/office/drawing/2014/main" id="{6FD07546-708D-C792-9B09-8D0FB5BE327A}"/>
              </a:ext>
            </a:extLst>
          </p:cNvPr>
          <p:cNvSpPr/>
          <p:nvPr/>
        </p:nvSpPr>
        <p:spPr>
          <a:xfrm>
            <a:off x="8022430" y="1283780"/>
            <a:ext cx="3419429" cy="945279"/>
          </a:xfrm>
          <a:prstGeom prst="roundRect">
            <a:avLst>
              <a:gd name="adj" fmla="val 16667"/>
            </a:avLst>
          </a:prstGeom>
          <a:solidFill>
            <a:srgbClr val="E8ECF2"/>
          </a:solidFill>
          <a:ln w="15120">
            <a:solidFill>
              <a:srgbClr val="B0BB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52280" tIns="10152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resign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ออกจาก </a:t>
            </a:r>
            <a:r>
              <a:rPr lang="en-US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400" b="1" dirty="0" err="1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Disconect</a:t>
            </a:r>
            <a:r>
              <a:rPr lang="th-TH" sz="24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en-US" sz="2400" b="1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36198FA-5C31-4CA9-F5A4-E9583FBEFEC7}"/>
              </a:ext>
            </a:extLst>
          </p:cNvPr>
          <p:cNvSpPr txBox="1">
            <a:spLocks/>
          </p:cNvSpPr>
          <p:nvPr/>
        </p:nvSpPr>
        <p:spPr>
          <a:xfrm>
            <a:off x="469780" y="564587"/>
            <a:ext cx="10972080" cy="62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resignAndCleanup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C3AEF0-79A4-E80C-B438-9469ED593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80" y="1283780"/>
            <a:ext cx="6743711" cy="517416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692BC0-7BFA-587D-1EB9-BAEBE80F996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898410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5566-390E-63E6-5983-5AC85CB2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47B8-1BE8-3A43-090F-291D7137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170963"/>
            <a:ext cx="9806413" cy="2516073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 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(FOM)</a:t>
            </a:r>
            <a:b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Simulation Object Model (SOM)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C22B57-E3BB-3B76-156A-0611CB1E03A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166CE-60AF-CAA6-8599-31484AF3A06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47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4168B3-515F-638E-194C-412D6A271CDB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063446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F746-F902-5F0B-2963-1B961ABB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3CA52E3C-C909-7574-5CF3-C30557504957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9A2DEC-833E-22F2-E24F-8CAC7FB1A832}"/>
              </a:ext>
            </a:extLst>
          </p:cNvPr>
          <p:cNvSpPr txBox="1"/>
          <p:nvPr/>
        </p:nvSpPr>
        <p:spPr>
          <a:xfrm>
            <a:off x="457199" y="1497612"/>
            <a:ext cx="7987553" cy="255454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ความหมายของ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FOM SOM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OMT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Object, Attribute, 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และชนิดข้อมูล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Agreement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FOM/SOM -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ตามโจทย์ที่จะเรียน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96A00C3-86C9-C369-24E1-0D5343F2371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B57C9-3BA2-B2BA-EBDC-54330CBCEF7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48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00F957-F384-459C-01EA-435C09A4C38C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5201678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A1164-C0A2-655C-EED4-4C7BE5F1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B631-1D5D-B27A-C4B1-28399F30F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23" y="1651926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Object Model (FOM)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205F8B9-A407-AFA9-BE3B-ABB6FDB88033}"/>
              </a:ext>
            </a:extLst>
          </p:cNvPr>
          <p:cNvSpPr txBox="1">
            <a:spLocks/>
          </p:cNvSpPr>
          <p:nvPr/>
        </p:nvSpPr>
        <p:spPr>
          <a:xfrm>
            <a:off x="590351" y="2164374"/>
            <a:ext cx="11011298" cy="301621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Object Model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ข้อตกลงกลางของทั้ง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อธิบายข้อมูลที่สมาชิกใน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ใช้แลกเปลี่ยนร่วมกัน เช่นมี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 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 ใช้ชนิดข้อมูล หน่วย และความหมายใด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ข้อมูลใดบ้างจะแลกเปลี่ยนกันผ่าน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Rules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 1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ที่เขียนตาม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แปลงชื่อเป็น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getObjectClassHandle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("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HLAobjectRoot.Food.Drink.Soda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")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รู้ว่า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ใดสืบทอดจาก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 เพื่อใช้กับ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subscription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hierarchy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รู้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transport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order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แต่ละตัว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27B2C6C-4706-E917-666D-D1AC0881854B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BC9DB2-D5B2-5C29-B778-0CC422C0F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5823" y="5111796"/>
            <a:ext cx="4136177" cy="184042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93F608A-06BA-92BB-7763-025189FFF82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5E8C436-59DE-B6EF-87AB-D0CACF09591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49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07F34-681D-EC8A-9F40-D39FF18D817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1441375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2D38F-2D2C-CA38-8CB0-5815EDB1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8E27-B2F2-3BF5-7F4A-A26F6B525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23" y="1651926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Simulation Object Model (SOM)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4320FA4-C502-7575-B03F-3C679E886362}"/>
              </a:ext>
            </a:extLst>
          </p:cNvPr>
          <p:cNvSpPr txBox="1">
            <a:spLocks/>
          </p:cNvSpPr>
          <p:nvPr/>
        </p:nvSpPr>
        <p:spPr>
          <a:xfrm>
            <a:off x="569723" y="2409652"/>
            <a:ext cx="11011298" cy="172354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 Simulation Object Model 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model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หนึ่งตัว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ทำหน้าที่ประกาศว่า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class, 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อะไรได้บ้าง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หรือต้องการรับข้อมูลอะไรบ้าง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อะไร 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management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ownership transfer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32FFD23-BB8F-A0D1-9E84-A78552D82DCA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9E158BB-B209-BE79-142E-2A264C87C59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4A921-276E-842C-139A-D5E79E6C10FD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50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D05ED6-07BA-F3C5-FC97-8AEBE059E319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278693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C02D1-7034-EC09-BC64-F2B49479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2AAB-EB13-3616-38C8-E8537D8C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23" y="1651926"/>
            <a:ext cx="10972080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Model Template</a:t>
            </a:r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</a:t>
            </a:r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3752E23-434B-2306-3F11-179318C323E7}"/>
              </a:ext>
            </a:extLst>
          </p:cNvPr>
          <p:cNvSpPr txBox="1">
            <a:spLocks/>
          </p:cNvSpPr>
          <p:nvPr/>
        </p:nvSpPr>
        <p:spPr>
          <a:xfrm>
            <a:off x="590351" y="2164374"/>
            <a:ext cx="11011298" cy="301621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มาตรฐาน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IEEE 1516.2-2010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จะมีสิ่งที่กำหนดว่าการอธิบาย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model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ต้องมีโครงสร้าง ส่วนประกอบ และรูปแบบอย่างไร เรียกว่า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Model Template (OMT)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โดยตัว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เองเป็น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Template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Meta-Model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สำหรับใช้สร้าง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SOM</a:t>
            </a:r>
          </a:p>
          <a:p>
            <a:pPr>
              <a:lnSpc>
                <a:spcPct val="10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0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ในทางปฏิบัติ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ถูกเขียนเป็นไฟล์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XML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XML Schema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IEEE (namespace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http://standards.ieee.org/IEEE1516-2010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ซึ่งเรียกว่า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DIF (Data Interchange Format)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เครื่องมือแต่ละอย่างจึงอ่านไฟล์ของกันและกันได้เพราะเป็น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Format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เดียวกัน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079B31F-E1D2-A31D-716F-D145C2390A74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41D8EA-5373-0C09-B19A-F615BA78A5B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0D6AFC-FE4E-43FA-E767-922628F43FC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51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72A4B63-E972-D92C-6199-F108F7E287E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007576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A575-F187-E426-F480-11D4E4BC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571A2F4F-A522-6902-01AA-A222BE9F44B9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046275-1691-31C3-36A9-DF82EE324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54" y="1501198"/>
            <a:ext cx="7119292" cy="479197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FB294-247F-B9E9-F1B5-788966BD15D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726B4-3585-C97C-CA6F-49B0149A9D1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52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B0915B9-77A5-0F19-1D9D-229EB8C2572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7561028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10A5-43F0-C0F1-8D2E-E5A5A97A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4546F947-26EB-5377-D56B-A8252FBC9F1F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7284B-F66F-6115-CA02-AC505ECB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43" y="1478709"/>
            <a:ext cx="5620039" cy="508661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A8A73A-04C7-25ED-0F9B-29EFB747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012" y="1478709"/>
            <a:ext cx="1675711" cy="512448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XML File</a:t>
            </a:r>
            <a:endParaRPr lang="en-US" sz="3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E2CCAA8-672A-01DB-655B-13D25E57F70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22D57-524B-34B3-63F7-F5F7F08344A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1BE834-7A3E-689D-1717-C4792B7E2976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2339243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F985-C9E6-0E40-B156-FE24837D3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2C379AB2-28A8-544C-6B9F-A5A4CC8C6150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79468-0890-BDB0-DF59-0A5A4A30E272}"/>
              </a:ext>
            </a:extLst>
          </p:cNvPr>
          <p:cNvSpPr txBox="1"/>
          <p:nvPr/>
        </p:nvSpPr>
        <p:spPr>
          <a:xfrm>
            <a:off x="457199" y="1497612"/>
            <a:ext cx="7987553" cy="255454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ความหมายของ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SOM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Object, Attribute, Interaction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และชนิดข้อมูล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Agreement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FOM/SOM -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ตามโจทย์ที่จะเรียน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1293CAC-527F-60AF-6B6D-9F740DFB6D3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9A265-A442-4930-BC4C-77BAC34C96C1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70C268-03F5-6E5E-702B-4D6B87AEF4EF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1663840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957B3-229E-168E-032E-ABED9E95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5B02-C7A6-408B-09CC-4B4DC4A05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23" y="1713769"/>
            <a:ext cx="10972080" cy="388761"/>
          </a:xfrm>
          <a:solidFill>
            <a:srgbClr val="F5F7FA">
              <a:alpha val="50196"/>
            </a:srgbClr>
          </a:solidFill>
        </p:spPr>
        <p:txBody>
          <a:bodyPr/>
          <a:lstStyle/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แลกเปลี่ยนกันมี 2 แบบเท่านั้น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5025B99-BCBC-DD36-460C-E9B84841E3F8}"/>
              </a:ext>
            </a:extLst>
          </p:cNvPr>
          <p:cNvSpPr/>
          <p:nvPr/>
        </p:nvSpPr>
        <p:spPr>
          <a:xfrm>
            <a:off x="457200" y="292680"/>
            <a:ext cx="88732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Object, Attribute, Interaction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Parameter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58879A-3B02-F00C-F948-D5077DF91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77342"/>
              </p:ext>
            </p:extLst>
          </p:nvPr>
        </p:nvGraphicFramePr>
        <p:xfrm>
          <a:off x="569723" y="2560320"/>
          <a:ext cx="10953372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6970">
                  <a:extLst>
                    <a:ext uri="{9D8B030D-6E8A-4147-A177-3AD203B41FA5}">
                      <a16:colId xmlns:a16="http://schemas.microsoft.com/office/drawing/2014/main" val="3810162125"/>
                    </a:ext>
                  </a:extLst>
                </a:gridCol>
                <a:gridCol w="4431204">
                  <a:extLst>
                    <a:ext uri="{9D8B030D-6E8A-4147-A177-3AD203B41FA5}">
                      <a16:colId xmlns:a16="http://schemas.microsoft.com/office/drawing/2014/main" val="3464166424"/>
                    </a:ext>
                  </a:extLst>
                </a:gridCol>
                <a:gridCol w="3525198">
                  <a:extLst>
                    <a:ext uri="{9D8B030D-6E8A-4147-A177-3AD203B41FA5}">
                      <a16:colId xmlns:a16="http://schemas.microsoft.com/office/drawing/2014/main" val="2037314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th-TH" sz="2400" b="1" i="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th-TH" sz="2400" b="1" i="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คำอธิบาย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ตัวอย่าง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421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+ Attribute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ที่มีอยู่ต่อเนื่อง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มีสถานะเปลี่ยนไปตามเวลา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รถถัง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เครื่องบิน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จานอาหาร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928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+ Parameter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เหตุการณ์ที่เกิด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ขึ้น (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single-time event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การยิง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การชน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การเสิร์ฟ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อาหาร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295035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E759B-083C-FD61-047C-AA715E4F86E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623DD-3281-B7EA-48EC-8AAE1DBC5535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1CABD2-68D1-AD7C-22EC-2E233EAB7015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8803323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2CE7-4E8F-6888-3F49-D5F249CB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9F0B657-A32E-0802-8F3C-36391B23D824}"/>
              </a:ext>
            </a:extLst>
          </p:cNvPr>
          <p:cNvSpPr txBox="1">
            <a:spLocks/>
          </p:cNvSpPr>
          <p:nvPr/>
        </p:nvSpPr>
        <p:spPr>
          <a:xfrm>
            <a:off x="504782" y="1418049"/>
            <a:ext cx="11489994" cy="5052152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ประเภท ของสิ่งที่นิยามไว้ใน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คล้ายกับ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และจัดเป็นลำดับชั้นที่ขึ้นต้นด้วย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HLAobjectRoot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เสมอ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HLAobjectRoot.Rtaf.Aircraft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ตัว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object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จริงที่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สร้างขึ้นตอน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run-time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คล้ายกับการ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new Aircraft()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ObjectInstanceHandle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มีชื่อที่ไม่ซ้ำกันทั้ง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HLAobject_42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หรือชื่อที่เราทำ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reservation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เอง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จะคงอยู่จนกว่าจะถูกลบหรือ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ที่เป็นเจ้าของได้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ออกจาก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สถานะ 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Flavor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Food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Velocity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ของเครื่องบิน คุณสมบัติที่สำคัญคือ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update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ทีละบางตัวได้โดยไม่ต้องส่งทั้งหมด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เลือก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เฉพาะ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ที่สนใจได้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หนึ่ง มีเจ้าของ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ได้คนเดียว และมีแต่เจ้าของเท่านั้นที่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update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ข้อมูลจะเป็น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byte[]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โดยต้อง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เองตาม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datatype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7573C7B-5F2A-78AB-62C8-3C5AD35C062B}"/>
              </a:ext>
            </a:extLst>
          </p:cNvPr>
          <p:cNvSpPr/>
          <p:nvPr/>
        </p:nvSpPr>
        <p:spPr>
          <a:xfrm>
            <a:off x="457200" y="292680"/>
            <a:ext cx="88732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Object, Attribute, Interaction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Parameter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8B7FF-D5F9-C99A-8709-617D6C96520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0A6845-A822-B68F-269B-450A74E8E3A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1A43574-2801-CB3A-BBDD-EF6BDD5C5B1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9542473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8244-ABF2-B23D-2F3C-194DCE7A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916CA6E-A7BE-FA76-819D-3CD7A327592F}"/>
              </a:ext>
            </a:extLst>
          </p:cNvPr>
          <p:cNvSpPr txBox="1">
            <a:spLocks/>
          </p:cNvSpPr>
          <p:nvPr/>
        </p:nvSpPr>
        <p:spPr>
          <a:xfrm>
            <a:off x="457200" y="1253881"/>
            <a:ext cx="11489994" cy="543014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เหตุการณ์ ที่ส่งแล้วจบในครั้งเดียว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และไม่มี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ไม่มีเจ้าของ ใครที่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ไว้ก็ส่งได้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ไม่มีสถานะค้างอยู่ ถ้า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ไม่ได้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ตอนที่ส่ง ก็จะพลาดเหตุการณ์นั้นไปเลย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ลำดับชั้นขึ้นต้นด้วย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HLAinteractionRoot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เสมอ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ข้อมูลประกอบ 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WeaponFire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FiringObject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TargetLocation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MunitionType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ความต่างของ 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2800" b="1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ส่งไปทั้งชุดพร้อมกัน 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เดียว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แล้วจะได้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ทั้งหมด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จะเลือก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ระดับ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ไม่ได้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ไม่มีเจ้าของ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ownership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D190542-CC9A-1CC8-C940-EB695343CE53}"/>
              </a:ext>
            </a:extLst>
          </p:cNvPr>
          <p:cNvSpPr/>
          <p:nvPr/>
        </p:nvSpPr>
        <p:spPr>
          <a:xfrm>
            <a:off x="457200" y="292680"/>
            <a:ext cx="88732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Object, Attribute, Interaction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Parameter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0CAFFE-1581-BBE3-D273-5A28770E27F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548397-591D-0D62-8C4C-0DBDA23DDF2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57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73C00BC-9EC1-6DE7-CDBC-03F4D1D1B52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6042623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7605-B978-5C7E-FB96-84458D65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D7E9419-BC71-EC7E-0071-DACE10125892}"/>
              </a:ext>
            </a:extLst>
          </p:cNvPr>
          <p:cNvSpPr txBox="1">
            <a:spLocks/>
          </p:cNvSpPr>
          <p:nvPr/>
        </p:nvSpPr>
        <p:spPr>
          <a:xfrm>
            <a:off x="566846" y="1258168"/>
            <a:ext cx="114899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การเปรียบเทียบ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42C9578-8EB2-98D8-E133-3F70FDDE0BFA}"/>
              </a:ext>
            </a:extLst>
          </p:cNvPr>
          <p:cNvSpPr/>
          <p:nvPr/>
        </p:nvSpPr>
        <p:spPr>
          <a:xfrm>
            <a:off x="457200" y="292680"/>
            <a:ext cx="887324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Object, Attribute, Interaction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Parameter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A33BE2-49B1-9987-5633-FA14FE81F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796629"/>
              </p:ext>
            </p:extLst>
          </p:nvPr>
        </p:nvGraphicFramePr>
        <p:xfrm>
          <a:off x="1845350" y="1656739"/>
          <a:ext cx="8093061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2905">
                  <a:extLst>
                    <a:ext uri="{9D8B030D-6E8A-4147-A177-3AD203B41FA5}">
                      <a16:colId xmlns:a16="http://schemas.microsoft.com/office/drawing/2014/main" val="3075776885"/>
                    </a:ext>
                  </a:extLst>
                </a:gridCol>
                <a:gridCol w="3053517">
                  <a:extLst>
                    <a:ext uri="{9D8B030D-6E8A-4147-A177-3AD203B41FA5}">
                      <a16:colId xmlns:a16="http://schemas.microsoft.com/office/drawing/2014/main" val="2184724625"/>
                    </a:ext>
                  </a:extLst>
                </a:gridCol>
                <a:gridCol w="2846639">
                  <a:extLst>
                    <a:ext uri="{9D8B030D-6E8A-4147-A177-3AD203B41FA5}">
                      <a16:colId xmlns:a16="http://schemas.microsoft.com/office/drawing/2014/main" val="2892632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หัวข้อ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/ Attribute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/ Parameter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53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ลักษณะ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สถานะที่คงอยู่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เหตุการณ์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(Single-time event)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193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ราก</a:t>
                      </a: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hierarchy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HLAobjectRoot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HLAinteractionRoot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84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</a:t>
                      </a: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instance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(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ObjectInstanceHandle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ไม่มี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32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ความเป็นเจ้าของ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และโอนได้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ไม่มี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448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การส่ง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updateAttributeValues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sendInteraction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60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การรับ</a:t>
                      </a:r>
                      <a:endParaRPr lang="en-US" sz="24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reflectAttributeValues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receiveInteraction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39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ส่งบางส่วน</a:t>
                      </a:r>
                      <a:endParaRPr lang="en-US" sz="24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ส่งเฉพาะ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attribute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ที่เปลี่ยน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ไม่ได้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ต้อง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ส่งทั้งชุด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912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Subscribe </a:t>
                      </a: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ระดับ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Attribute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Class ทั้งหมด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39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Federate ที่มาทีหลัง</a:t>
                      </a:r>
                      <a:endParaRPr lang="en-US" sz="24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ขอค่าล่าสุดได้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พลาดเหตุการณ์เก่า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2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Lifecycle callback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discover / remove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ไม่มี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570826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5DB9C61-9780-09E3-B390-FA2490A27E7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DF834-3E8E-15ED-BA07-45002F6358E1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58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DDE0257-7602-BFA2-CDC0-2A9269F3503B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0654216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0467-7247-7487-0803-A5F50F36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07567026-D5A2-43D6-14D1-96A328B9F387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768B-9772-B728-8D23-47C8CBEC5FB1}"/>
              </a:ext>
            </a:extLst>
          </p:cNvPr>
          <p:cNvSpPr txBox="1"/>
          <p:nvPr/>
        </p:nvSpPr>
        <p:spPr>
          <a:xfrm>
            <a:off x="457199" y="1497612"/>
            <a:ext cx="7987553" cy="255454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ความหมายของ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SOM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Object, Attribute, 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และชนิดข้อมูล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Agreement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FOM/SOM -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เริ่มต้นเขียน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ตามโจทย์ที่จะเรียน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D1A4D1-0BAA-7E74-F1A1-DA2F718F1FB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F0842-3684-FD81-2305-FF8EEC6AF41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59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845465-2567-347D-8110-236277FBC4E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300865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DCF0-8545-2526-CE75-8A2DBADD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18992B9C-B825-4082-1454-9FA84929888D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A7512B-CCEA-BC9E-00E4-44FAEFBF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32" y="1179202"/>
            <a:ext cx="10527935" cy="54266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65781-6246-4C0B-82E8-1472F6288ED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33069E-FAA8-D8B7-7762-A5180F1DC79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60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B82AEC0-CC8E-D398-3BE3-588A4D3DA0F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356374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4E1A-9ACF-8B8A-1C7D-B72D3341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11044BD9-5492-5B4F-A181-E69BCBA1F60F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F6224A-E612-A4E2-CA68-D8D6021FB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788231"/>
              </p:ext>
            </p:extLst>
          </p:nvPr>
        </p:nvGraphicFramePr>
        <p:xfrm>
          <a:off x="3276129" y="1085667"/>
          <a:ext cx="5639742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546">
                  <a:extLst>
                    <a:ext uri="{9D8B030D-6E8A-4147-A177-3AD203B41FA5}">
                      <a16:colId xmlns:a16="http://schemas.microsoft.com/office/drawing/2014/main" val="2930470124"/>
                    </a:ext>
                  </a:extLst>
                </a:gridCol>
                <a:gridCol w="3444196">
                  <a:extLst>
                    <a:ext uri="{9D8B030D-6E8A-4147-A177-3AD203B41FA5}">
                      <a16:colId xmlns:a16="http://schemas.microsoft.com/office/drawing/2014/main" val="306955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หัวข้อ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คำอธิบาย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374971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Model Identification</a:t>
                      </a:r>
                      <a:endParaRPr lang="th-TH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ข้อมูลประจำตัว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147597"/>
                  </a:ext>
                </a:extLst>
              </a:tr>
              <a:tr h="2180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9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serviceUtilization</a:t>
                      </a:r>
                      <a:endParaRPr lang="th-TH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RTI service </a:t>
                      </a:r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ที่ใช้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45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Objects</a:t>
                      </a:r>
                      <a:endParaRPr lang="en-US" sz="2000" dirty="0"/>
                    </a:p>
                  </a:txBody>
                  <a:tcPr>
                    <a:solidFill>
                      <a:srgbClr val="50F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Class + Attribute</a:t>
                      </a:r>
                      <a:endParaRPr lang="en-US" sz="2000" dirty="0"/>
                    </a:p>
                  </a:txBody>
                  <a:tcPr>
                    <a:solidFill>
                      <a:srgbClr val="50F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77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Interactions</a:t>
                      </a:r>
                    </a:p>
                  </a:txBody>
                  <a:tcPr>
                    <a:solidFill>
                      <a:srgbClr val="50F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Class + Parameter</a:t>
                      </a:r>
                      <a:endParaRPr lang="en-US" sz="2000" dirty="0"/>
                    </a:p>
                  </a:txBody>
                  <a:tcPr>
                    <a:solidFill>
                      <a:srgbClr val="50F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698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DDM Dimensions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617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ชนิดของ </a:t>
                      </a: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 / lookahead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44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ชนิดของ </a:t>
                      </a: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user-supplied tag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6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Synchronizations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sync point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37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Transportations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reliable / best effort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5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Switches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ค่าเริ่มต้นของ </a:t>
                      </a: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RTI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2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UpdateRates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อัตรา </a:t>
                      </a: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79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DataTypes</a:t>
                      </a:r>
                      <a:endParaRPr lang="th-TH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solidFill>
                      <a:srgbClr val="50F2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นิยามชนิดข้อมูล</a:t>
                      </a:r>
                      <a:endParaRPr lang="en-US" sz="2000" dirty="0"/>
                    </a:p>
                  </a:txBody>
                  <a:tcPr>
                    <a:solidFill>
                      <a:srgbClr val="50F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91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Notes</a:t>
                      </a:r>
                      <a:endParaRPr lang="th-TH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หมายเหตุ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225617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2E4E54-92B1-668B-FD8F-BE461D525C2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531530-A618-AC48-922D-7C316F3B34CD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61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F52CD3D-33F0-3A2B-1809-88FCB89F5F8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1193508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4CB1F-34F7-ABDB-D74F-8E07D1ED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CEBB4696-2EB0-AEDD-DE81-E62F07363E4E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62FD7D-E457-E6AD-4BDD-C6092121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9" y="1672518"/>
            <a:ext cx="5792131" cy="413832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5570A2F-2EC5-D35B-517E-4865DF44DC8E}"/>
              </a:ext>
            </a:extLst>
          </p:cNvPr>
          <p:cNvSpPr txBox="1">
            <a:spLocks/>
          </p:cNvSpPr>
          <p:nvPr/>
        </p:nvSpPr>
        <p:spPr>
          <a:xfrm>
            <a:off x="6595264" y="1672518"/>
            <a:ext cx="5351929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เป็นข้อมูลเบื้องต้นของไฟล์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โดยส่วนนี้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ไม่ได้ใช้ในการทำงาน แต่สำคัญต่อการจัดการเวอร์ชันและการนำ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Model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กลับมาใช้ซ้ำ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4F29E-EAED-BF73-39FB-E5F86C632961}"/>
              </a:ext>
            </a:extLst>
          </p:cNvPr>
          <p:cNvSpPr txBox="1"/>
          <p:nvPr/>
        </p:nvSpPr>
        <p:spPr>
          <a:xfrm>
            <a:off x="244807" y="16725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24E71ED-5C9A-1990-8F5B-CD378223695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082036-E241-6B8E-70C5-32C55378517F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62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073A6ED-8310-6650-660F-A409FB5647FD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2631023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8BA0-CA8E-BF48-17D2-FEE6EF2E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4A368C14-1164-988A-8F54-A65FA976706D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9683027-F79D-3C5F-F2D4-D4685AE252D8}"/>
              </a:ext>
            </a:extLst>
          </p:cNvPr>
          <p:cNvSpPr txBox="1">
            <a:spLocks/>
          </p:cNvSpPr>
          <p:nvPr/>
        </p:nvSpPr>
        <p:spPr>
          <a:xfrm>
            <a:off x="6690428" y="2925086"/>
            <a:ext cx="5351929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ใช้ประกาศว่าโมเดลเรียก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ใดบ้าง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มักใช้ใน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มากกว่า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DE8DA-754F-4AAB-B47D-4203DC2C9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19" y="2489104"/>
            <a:ext cx="5341648" cy="16485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D69404-9E7A-8A2F-6BB4-65D519F76679}"/>
              </a:ext>
            </a:extLst>
          </p:cNvPr>
          <p:cNvSpPr txBox="1"/>
          <p:nvPr/>
        </p:nvSpPr>
        <p:spPr>
          <a:xfrm>
            <a:off x="244807" y="16725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A6A0596-1F19-F481-B9F8-195A263A085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F750BBC-7304-FDE9-2F5B-2DB34C06F44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63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E29E12E-39C5-8EFA-FAAD-E6D7D078C88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3156723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B48D-398D-DFA0-1656-290907F0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75C204DA-7390-67F6-45E3-B004D36CD7E6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DE14CC-83B6-50A3-6D9E-091E5E7E0C3D}"/>
              </a:ext>
            </a:extLst>
          </p:cNvPr>
          <p:cNvSpPr txBox="1">
            <a:spLocks/>
          </p:cNvSpPr>
          <p:nvPr/>
        </p:nvSpPr>
        <p:spPr>
          <a:xfrm>
            <a:off x="5854644" y="1345987"/>
            <a:ext cx="6092550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ที่ใช้ภายใน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Federation/Simulator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91389-F54B-3378-A271-05774870C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45987"/>
            <a:ext cx="5289867" cy="431239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7E8960-FC6D-3579-136F-9A81C0DF3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458111"/>
              </p:ext>
            </p:extLst>
          </p:nvPr>
        </p:nvGraphicFramePr>
        <p:xfrm>
          <a:off x="5854643" y="2169263"/>
          <a:ext cx="609255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8461">
                  <a:extLst>
                    <a:ext uri="{9D8B030D-6E8A-4147-A177-3AD203B41FA5}">
                      <a16:colId xmlns:a16="http://schemas.microsoft.com/office/drawing/2014/main" val="3953947235"/>
                    </a:ext>
                  </a:extLst>
                </a:gridCol>
                <a:gridCol w="2366682">
                  <a:extLst>
                    <a:ext uri="{9D8B030D-6E8A-4147-A177-3AD203B41FA5}">
                      <a16:colId xmlns:a16="http://schemas.microsoft.com/office/drawing/2014/main" val="1188867713"/>
                    </a:ext>
                  </a:extLst>
                </a:gridCol>
                <a:gridCol w="1967407">
                  <a:extLst>
                    <a:ext uri="{9D8B030D-6E8A-4147-A177-3AD203B41FA5}">
                      <a16:colId xmlns:a16="http://schemas.microsoft.com/office/drawing/2014/main" val="3972979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Element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ค่าที่ใช้ได้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ความหมาย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5243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dataType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 datatype ที่นิยามไว้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รูปแบบการ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encode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24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updateType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Static / Periodic / Conditional / NA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ไม่เปลี่ยน / ส่งเป็นรอบ / ส่งเมื่อมีเงื่อนไข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86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updateCondition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ข้อความ หรือชื่อ updateRate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เงื่อนไขในการส่ง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เช่น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"On change"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438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ownership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 / Acquire /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DivestAcquire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/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NoTransfer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ปล่อยหรือรับ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ownership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ได้หรือไม่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04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sharing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Publish / Subscribe / PublishSubscribe / Neither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บทบาทในการแลกเปลี่ยน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3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dimensions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รายชื่อ dimension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ใช้กรองด้วย DDM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57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transportation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HLAreliable / HLAbestEffort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วิธีส่ง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27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order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 / Receive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TSO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หรือ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RO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5381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A049383-9FC1-F84F-9254-B6E8F0C3CD99}"/>
              </a:ext>
            </a:extLst>
          </p:cNvPr>
          <p:cNvSpPr txBox="1"/>
          <p:nvPr/>
        </p:nvSpPr>
        <p:spPr>
          <a:xfrm>
            <a:off x="88353" y="16642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9858BA-7848-D811-06DE-B5887432F9B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A3A9C7-3730-14E7-46D9-AF184677E79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64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3F4C380-609B-C7D3-9F61-4ECF45AEC2E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3055293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4B028-B517-1830-C1BB-BDB9D80A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FE10EE97-9882-C76C-5BD5-90FAC4ECFF9B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2BA5529-6710-B415-AA36-E5F9DD8D62D0}"/>
              </a:ext>
            </a:extLst>
          </p:cNvPr>
          <p:cNvSpPr txBox="1">
            <a:spLocks/>
          </p:cNvSpPr>
          <p:nvPr/>
        </p:nvSpPr>
        <p:spPr>
          <a:xfrm>
            <a:off x="5366409" y="1523902"/>
            <a:ext cx="5351929" cy="38876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เป็นข้อมูล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/ Simulator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E0746-BB6D-CDBC-E149-FBCA9FD2146C}"/>
              </a:ext>
            </a:extLst>
          </p:cNvPr>
          <p:cNvSpPr txBox="1"/>
          <p:nvPr/>
        </p:nvSpPr>
        <p:spPr>
          <a:xfrm>
            <a:off x="88353" y="16642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30CD7-6F29-099A-B0C2-7B879B33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33" y="1523902"/>
            <a:ext cx="4191215" cy="381019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5AAC68C-AF73-9391-8CE0-DF2248114A4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82A972-B890-263F-AA80-47F0C118834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E9398A2-A51F-9D91-1BAD-57CD69561835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4201214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26ECE-B1BA-E8C0-94B1-06EDFBCD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82703774-FD1B-3949-A3A3-3F61ACCC596D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3D50A0D-D5A5-4B04-1D44-0031A0DA2618}"/>
              </a:ext>
            </a:extLst>
          </p:cNvPr>
          <p:cNvSpPr txBox="1">
            <a:spLocks/>
          </p:cNvSpPr>
          <p:nvPr/>
        </p:nvSpPr>
        <p:spPr>
          <a:xfrm>
            <a:off x="4303833" y="4476428"/>
            <a:ext cx="5351929" cy="554704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ต้องสอดคล้องกับ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factory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ที่ใช้ในโค้ด เช่น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HLAfloat64TimeFactory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HLAinteger64TimeFactory</a:t>
            </a:r>
            <a:endParaRPr lang="th-TH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42558-56EE-9C3A-E9EE-5B03E53021A5}"/>
              </a:ext>
            </a:extLst>
          </p:cNvPr>
          <p:cNvSpPr txBox="1"/>
          <p:nvPr/>
        </p:nvSpPr>
        <p:spPr>
          <a:xfrm>
            <a:off x="88353" y="16642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F45FEC-0647-3040-C582-B41703CCA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31" y="3985413"/>
            <a:ext cx="3626036" cy="18288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7C4879-2602-E2D2-806D-9B0AD3600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1" y="1715912"/>
            <a:ext cx="4972306" cy="17971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9816B3-3012-6AFD-A0B7-5D119DB18760}"/>
              </a:ext>
            </a:extLst>
          </p:cNvPr>
          <p:cNvSpPr txBox="1"/>
          <p:nvPr/>
        </p:nvSpPr>
        <p:spPr>
          <a:xfrm>
            <a:off x="186965" y="403515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BE65A4D-905A-E84F-A134-C6C38C6F6388}"/>
              </a:ext>
            </a:extLst>
          </p:cNvPr>
          <p:cNvSpPr txBox="1">
            <a:spLocks/>
          </p:cNvSpPr>
          <p:nvPr/>
        </p:nvSpPr>
        <p:spPr>
          <a:xfrm>
            <a:off x="5643548" y="1715912"/>
            <a:ext cx="1994381" cy="341632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DDM </a:t>
            </a:r>
            <a:r>
              <a:rPr lang="en-US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Dimentions</a:t>
            </a:r>
            <a:endParaRPr lang="th-TH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EA061F7-3D1C-306B-E4BD-7F9184DBF6B5}"/>
              </a:ext>
            </a:extLst>
          </p:cNvPr>
          <p:cNvSpPr txBox="1">
            <a:spLocks/>
          </p:cNvSpPr>
          <p:nvPr/>
        </p:nvSpPr>
        <p:spPr>
          <a:xfrm>
            <a:off x="4303833" y="3985413"/>
            <a:ext cx="2171444" cy="341632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ชนิดข้อมูลของเวลา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961B8D-7848-B6BB-3BDA-F67CAA062AA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CB7221-219B-A0DC-0287-B0F614F6906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0462592-26F9-7844-54DF-4E8135EA035F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3847385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05C0-662D-3B2B-E868-BE4219F0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92C8E6A9-A69F-027C-03DA-4CE3B049FA74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10AF4-06EA-CA16-B5E3-B01A7DB73252}"/>
              </a:ext>
            </a:extLst>
          </p:cNvPr>
          <p:cNvSpPr txBox="1"/>
          <p:nvPr/>
        </p:nvSpPr>
        <p:spPr>
          <a:xfrm>
            <a:off x="88353" y="16642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9939E-A1B7-16D1-4FD5-529CDAA34525}"/>
              </a:ext>
            </a:extLst>
          </p:cNvPr>
          <p:cNvSpPr txBox="1"/>
          <p:nvPr/>
        </p:nvSpPr>
        <p:spPr>
          <a:xfrm>
            <a:off x="186965" y="403515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9647019-2EE7-F90B-9748-8921BDD494BD}"/>
              </a:ext>
            </a:extLst>
          </p:cNvPr>
          <p:cNvSpPr txBox="1">
            <a:spLocks/>
          </p:cNvSpPr>
          <p:nvPr/>
        </p:nvSpPr>
        <p:spPr>
          <a:xfrm>
            <a:off x="5022915" y="1623495"/>
            <a:ext cx="5923070" cy="166282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ชนิดข้อมูลของ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User-supplied tag</a:t>
            </a:r>
          </a:p>
          <a:p>
            <a:pPr>
              <a:lnSpc>
                <a:spcPct val="9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กำหนดได้แยกตาม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service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ได้แก่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updateReflectTag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sendReceiveTag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deleteRemoveTag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divestitureRequestTag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divestitureCompletionTag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acquisitionRequestTag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requestUpdateTag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C407C6A-F22F-F1A4-8E16-D2F54F55E6F1}"/>
              </a:ext>
            </a:extLst>
          </p:cNvPr>
          <p:cNvSpPr txBox="1">
            <a:spLocks/>
          </p:cNvSpPr>
          <p:nvPr/>
        </p:nvSpPr>
        <p:spPr>
          <a:xfrm>
            <a:off x="8493480" y="4062857"/>
            <a:ext cx="2171444" cy="341632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 Point</a:t>
            </a:r>
            <a:endParaRPr lang="th-TH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F04AA0-D959-95A6-886C-25CB68E1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82" y="1623614"/>
            <a:ext cx="3873699" cy="1219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417491-8513-FBA3-C39B-F9F2C59F7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29" y="4071461"/>
            <a:ext cx="7836303" cy="1663786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14E1D1B-C957-CDF0-744E-6E2EB936D6C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5DF0D6-3FC0-6F3A-7D6D-43CE62FE7F6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67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0C8A0ED-B4CD-8C84-C39F-7F6287FDCF5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9166374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95520-0054-8355-E618-6B39AC29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702209C1-FA26-CBC8-9464-AA895BCA8196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F001BC-C557-5B3E-1B9F-13A4C937A555}"/>
              </a:ext>
            </a:extLst>
          </p:cNvPr>
          <p:cNvSpPr txBox="1">
            <a:spLocks/>
          </p:cNvSpPr>
          <p:nvPr/>
        </p:nvSpPr>
        <p:spPr>
          <a:xfrm>
            <a:off x="4591393" y="1719707"/>
            <a:ext cx="6860069" cy="105343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transportations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HLAreliable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HLAbestEffort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นิยามไว้ใน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MIM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 ถ้า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รองรับแบบอื่นเพิ่มให้นิยามที่นี่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FC9E5-62B8-49D8-E4C0-43AEC27FC9C2}"/>
              </a:ext>
            </a:extLst>
          </p:cNvPr>
          <p:cNvSpPr txBox="1"/>
          <p:nvPr/>
        </p:nvSpPr>
        <p:spPr>
          <a:xfrm>
            <a:off x="88353" y="16642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1CA2D7-009D-1665-649B-0F1AECC4A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04" y="1664243"/>
            <a:ext cx="3778444" cy="13970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BA3F5-7937-7CBD-3F5B-448E6143F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4" y="3866586"/>
            <a:ext cx="5200917" cy="2368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88A4D4-30E3-1FAE-305B-05A965FCB960}"/>
              </a:ext>
            </a:extLst>
          </p:cNvPr>
          <p:cNvSpPr txBox="1"/>
          <p:nvPr/>
        </p:nvSpPr>
        <p:spPr>
          <a:xfrm>
            <a:off x="144294" y="378198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676EF28-4B74-EC71-6F50-133B971B8A0C}"/>
              </a:ext>
            </a:extLst>
          </p:cNvPr>
          <p:cNvSpPr txBox="1">
            <a:spLocks/>
          </p:cNvSpPr>
          <p:nvPr/>
        </p:nvSpPr>
        <p:spPr>
          <a:xfrm>
            <a:off x="6096000" y="3898554"/>
            <a:ext cx="2528737" cy="38876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ข้อมูลค่าเริ่มต้นของ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131256-16E8-424B-D3A4-9934D9ED2BF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31F7D7-68B2-E193-FB4D-77114591BF7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5113A63-7B8B-F845-5526-3DC12FC8646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8821944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4BE6-CD3A-3D29-C676-20BB45D1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F741C655-6113-9B41-0D93-E05F8FD391BB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67DBF8A-6BAD-4FFC-B66D-1D4873844EF0}"/>
              </a:ext>
            </a:extLst>
          </p:cNvPr>
          <p:cNvSpPr txBox="1">
            <a:spLocks/>
          </p:cNvSpPr>
          <p:nvPr/>
        </p:nvSpPr>
        <p:spPr>
          <a:xfrm>
            <a:off x="4591392" y="1439748"/>
            <a:ext cx="6860069" cy="72103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เป็นส่วนที่ใช้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Define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ข้อมูลที่จะใช้ใน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958A1-7B21-9EDC-23B9-4E44E2B89483}"/>
              </a:ext>
            </a:extLst>
          </p:cNvPr>
          <p:cNvSpPr txBox="1"/>
          <p:nvPr/>
        </p:nvSpPr>
        <p:spPr>
          <a:xfrm>
            <a:off x="88353" y="1664243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F6D10-BAAF-D33F-FA4E-B589FF75F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03" y="1273549"/>
            <a:ext cx="3778566" cy="5485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EEB1E3-B4B4-CAF4-0263-946E317A5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555" y="2216106"/>
            <a:ext cx="4807742" cy="434921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E68C60EF-E1B2-920A-39FD-0E031ED0AA53}"/>
              </a:ext>
            </a:extLst>
          </p:cNvPr>
          <p:cNvSpPr/>
          <p:nvPr/>
        </p:nvSpPr>
        <p:spPr>
          <a:xfrm rot="10800000">
            <a:off x="8986773" y="6019723"/>
            <a:ext cx="1878450" cy="3392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A92D5E-FE98-D54C-6A21-7305442CF17C}"/>
              </a:ext>
            </a:extLst>
          </p:cNvPr>
          <p:cNvCxnSpPr>
            <a:cxnSpLocks/>
          </p:cNvCxnSpPr>
          <p:nvPr/>
        </p:nvCxnSpPr>
        <p:spPr>
          <a:xfrm flipV="1">
            <a:off x="5916455" y="5862918"/>
            <a:ext cx="0" cy="583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039AE8-11D7-FB26-6D08-B1E4423BDEC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1C865-753C-1B68-B7DA-77463DF4DBE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69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56B23F4-F858-2328-41E2-DEAF24AEBB72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0191568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F5A33-9594-F07B-DC91-2737C184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3DC0FC2F-A352-BF62-5D2C-7D49A97EF262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44FBBC2-1E84-9D01-6FA6-CAA987ED449A}"/>
              </a:ext>
            </a:extLst>
          </p:cNvPr>
          <p:cNvSpPr txBox="1">
            <a:spLocks/>
          </p:cNvSpPr>
          <p:nvPr/>
        </p:nvSpPr>
        <p:spPr>
          <a:xfrm>
            <a:off x="4323830" y="1721855"/>
            <a:ext cx="1772170" cy="72103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Note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หมายเหตุ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F48C4-F519-0E20-D132-2917B43872F4}"/>
              </a:ext>
            </a:extLst>
          </p:cNvPr>
          <p:cNvSpPr txBox="1"/>
          <p:nvPr/>
        </p:nvSpPr>
        <p:spPr>
          <a:xfrm>
            <a:off x="88353" y="166424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054DD-271C-31DF-B8D0-B7E9B3630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13" y="1721855"/>
            <a:ext cx="2406774" cy="1130358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148A2C-E247-F294-95C2-AD263D825D7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BC8D87-9117-62CA-B16C-1969EC2D9D5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70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7FB926E-4A17-91FF-BEEF-AA8FF10B18AF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2458643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972F-43E8-F0AA-3A0E-4FF43593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A07EE027-93E3-240F-0F65-B5DC86E73A22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51738F-E16A-88E7-C095-FA6CD12B9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96505"/>
              </p:ext>
            </p:extLst>
          </p:nvPr>
        </p:nvGraphicFramePr>
        <p:xfrm>
          <a:off x="1284022" y="2246602"/>
          <a:ext cx="9359152" cy="2773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3659">
                  <a:extLst>
                    <a:ext uri="{9D8B030D-6E8A-4147-A177-3AD203B41FA5}">
                      <a16:colId xmlns:a16="http://schemas.microsoft.com/office/drawing/2014/main" val="2941192885"/>
                    </a:ext>
                  </a:extLst>
                </a:gridCol>
                <a:gridCol w="1810181">
                  <a:extLst>
                    <a:ext uri="{9D8B030D-6E8A-4147-A177-3AD203B41FA5}">
                      <a16:colId xmlns:a16="http://schemas.microsoft.com/office/drawing/2014/main" val="1894090717"/>
                    </a:ext>
                  </a:extLst>
                </a:gridCol>
                <a:gridCol w="2875602">
                  <a:extLst>
                    <a:ext uri="{9D8B030D-6E8A-4147-A177-3AD203B41FA5}">
                      <a16:colId xmlns:a16="http://schemas.microsoft.com/office/drawing/2014/main" val="1000043161"/>
                    </a:ext>
                  </a:extLst>
                </a:gridCol>
                <a:gridCol w="3189710">
                  <a:extLst>
                    <a:ext uri="{9D8B030D-6E8A-4147-A177-3AD203B41FA5}">
                      <a16:colId xmlns:a16="http://schemas.microsoft.com/office/drawing/2014/main" val="1475122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>
                          <a:solidFill>
                            <a:schemeClr val="tx2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หมวด</a:t>
                      </a:r>
                      <a:endParaRPr lang="en-US" sz="2000" b="1" i="0">
                        <a:solidFill>
                          <a:schemeClr val="tx2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 dirty="0" err="1">
                          <a:solidFill>
                            <a:schemeClr val="tx2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ประเภท</a:t>
                      </a:r>
                      <a:endParaRPr lang="en-US" sz="2000" b="1" i="0" dirty="0">
                        <a:solidFill>
                          <a:schemeClr val="tx2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>
                          <a:solidFill>
                            <a:schemeClr val="tx2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สร้างจาก</a:t>
                      </a:r>
                      <a:endParaRPr lang="en-US" sz="2000" b="1" i="0">
                        <a:solidFill>
                          <a:schemeClr val="tx2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 dirty="0" err="1">
                          <a:solidFill>
                            <a:schemeClr val="tx2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ใช้ทำอะไร</a:t>
                      </a:r>
                      <a:endParaRPr lang="en-US" sz="2000" b="1" i="0" dirty="0">
                        <a:solidFill>
                          <a:schemeClr val="tx2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6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Basic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ระดับต่ำสุด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กำหนดขนาด bit และ endian โดยตรง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การจัดเรียง</a:t>
                      </a: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byte </a:t>
                      </a: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บนสาย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65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Simple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Scalar </a:t>
                      </a: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ที่มีความหมาย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Basic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ใส่หน่วย</a:t>
                      </a: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ความละเอียด</a:t>
                      </a: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ความแม่นยำ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553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Enumerated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ค่าจากรายการ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Basic (ตัวเลข)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สถานะหรือประเภท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42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Array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Composite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type </a:t>
                      </a: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ใดก็ได้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ลิสต์ สตริง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942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Fixed Record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Composite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type ใดก็ได้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struct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341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Variant Record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Composite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Enumerated + type ใดก็ได้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union </a:t>
                      </a: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ที่มีตัวบอกชนิด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580354"/>
                  </a:ext>
                </a:extLst>
              </a:tr>
            </a:tbl>
          </a:graphicData>
        </a:graphic>
      </p:graphicFrame>
      <p:sp>
        <p:nvSpPr>
          <p:cNvPr id="9" name="Subtitle 2">
            <a:extLst>
              <a:ext uri="{FF2B5EF4-FFF2-40B4-BE49-F238E27FC236}">
                <a16:creationId xmlns:a16="http://schemas.microsoft.com/office/drawing/2014/main" id="{C94EF7A5-7B54-E9A9-9809-6F504D4F9AC4}"/>
              </a:ext>
            </a:extLst>
          </p:cNvPr>
          <p:cNvSpPr txBox="1">
            <a:spLocks/>
          </p:cNvSpPr>
          <p:nvPr/>
        </p:nvSpPr>
        <p:spPr>
          <a:xfrm>
            <a:off x="349622" y="1673279"/>
            <a:ext cx="284870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แต่ละแบบ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67CB5-8F35-497E-3968-F6D3FD47E3E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674103-7786-6130-003A-D8FF7C00FD9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71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E43F7CA-D8F0-9218-87DF-7D02951D5A7B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5295901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33DE-271D-431F-921E-E31C1675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A863879-5B27-E90E-6848-C9DA437B7817}"/>
              </a:ext>
            </a:extLst>
          </p:cNvPr>
          <p:cNvSpPr txBox="1">
            <a:spLocks/>
          </p:cNvSpPr>
          <p:nvPr/>
        </p:nvSpPr>
        <p:spPr>
          <a:xfrm>
            <a:off x="6446294" y="5564313"/>
            <a:ext cx="5174014" cy="256224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BE = Big Endian, LE = Little Endian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ควรใช้ </a:t>
            </a:r>
            <a:r>
              <a:rPr lang="en-US" sz="1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BE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เป็นมาตรฐาน ทั้ง </a:t>
            </a:r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  <a:endParaRPr lang="th-TH" sz="1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99ABD26C-DC40-D8EF-1802-00AE59583C65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314E0-309D-279E-F226-0EB8C8C8FDE1}"/>
              </a:ext>
            </a:extLst>
          </p:cNvPr>
          <p:cNvSpPr txBox="1">
            <a:spLocks/>
          </p:cNvSpPr>
          <p:nvPr/>
        </p:nvSpPr>
        <p:spPr>
          <a:xfrm>
            <a:off x="349622" y="1673279"/>
            <a:ext cx="145848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F9F46A-7C4E-223C-3344-49FA0FB5F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2" y="3112201"/>
            <a:ext cx="5683542" cy="139707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255B26-97C4-5232-A4FF-74B2B5957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576294"/>
              </p:ext>
            </p:extLst>
          </p:nvPr>
        </p:nvGraphicFramePr>
        <p:xfrm>
          <a:off x="6446294" y="2255726"/>
          <a:ext cx="4687871" cy="3169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671">
                  <a:extLst>
                    <a:ext uri="{9D8B030D-6E8A-4147-A177-3AD203B41FA5}">
                      <a16:colId xmlns:a16="http://schemas.microsoft.com/office/drawing/2014/main" val="1668238959"/>
                    </a:ext>
                  </a:extLst>
                </a:gridCol>
                <a:gridCol w="873024">
                  <a:extLst>
                    <a:ext uri="{9D8B030D-6E8A-4147-A177-3AD203B41FA5}">
                      <a16:colId xmlns:a16="http://schemas.microsoft.com/office/drawing/2014/main" val="1426525262"/>
                    </a:ext>
                  </a:extLst>
                </a:gridCol>
                <a:gridCol w="1870176">
                  <a:extLst>
                    <a:ext uri="{9D8B030D-6E8A-4147-A177-3AD203B41FA5}">
                      <a16:colId xmlns:a16="http://schemas.microsoft.com/office/drawing/2014/main" val="255769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</a:t>
                      </a:r>
                      <a:endParaRPr lang="en-US" sz="20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ขนาด</a:t>
                      </a:r>
                      <a:endParaRPr lang="en-US" sz="20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0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ความหมาย</a:t>
                      </a:r>
                      <a:endParaRPr lang="en-US" sz="20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96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HLAoctet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8 bit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 byte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921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HLAoctetPairBE / LE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16 bit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 byte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29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HLAinteger16BE / LE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16 bit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short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12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HLAinteger32BE / LE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32 bit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98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HLAinteger64BE / LE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 bit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long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192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HLAfloat32BE / LE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32 bit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float (IEEE 754)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647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HLAfloat64BE / LE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64 bit</a:t>
                      </a:r>
                      <a:endParaRPr lang="en-US" sz="20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0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double (IEEE 754)</a:t>
                      </a:r>
                      <a:endParaRPr lang="en-US" sz="20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6257181"/>
                  </a:ext>
                </a:extLst>
              </a:tr>
            </a:tbl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C2DED927-5942-6C83-F12E-2A84ECDE27EF}"/>
              </a:ext>
            </a:extLst>
          </p:cNvPr>
          <p:cNvSpPr txBox="1">
            <a:spLocks/>
          </p:cNvSpPr>
          <p:nvPr/>
        </p:nvSpPr>
        <p:spPr>
          <a:xfrm>
            <a:off x="6446294" y="1786414"/>
            <a:ext cx="204257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Basic type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ที่มีให้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129589-D4DF-AF81-E5CD-A4D5BDBBA5EF}"/>
              </a:ext>
            </a:extLst>
          </p:cNvPr>
          <p:cNvSpPr txBox="1">
            <a:spLocks/>
          </p:cNvSpPr>
          <p:nvPr/>
        </p:nvSpPr>
        <p:spPr>
          <a:xfrm>
            <a:off x="349622" y="2227521"/>
            <a:ext cx="445821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11.1) Basic Data Representation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4D63971-CD50-601C-A9E8-4595F55CB7F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2D244AB-D563-4B86-4EE9-A8208C77FA2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72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474D14A-7F0F-861C-4602-B5664C9E33B6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4805054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E87A-2DEB-729C-D32F-810BE56EA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35AED6E-2E47-B3A8-8F26-B6DFDEABE859}"/>
              </a:ext>
            </a:extLst>
          </p:cNvPr>
          <p:cNvSpPr txBox="1">
            <a:spLocks/>
          </p:cNvSpPr>
          <p:nvPr/>
        </p:nvSpPr>
        <p:spPr>
          <a:xfrm>
            <a:off x="6184948" y="2209009"/>
            <a:ext cx="3385220" cy="133042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Simple Data Types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ที่มีให้</a:t>
            </a:r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HLAASCIIchar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HLAoctet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HLAunicodeChar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HLAoctetPairBE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HLAbyte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HLAoctet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ED3FF490-7A7D-9F8D-CFE6-6B0E0D0F463D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72B4A-7E23-09F6-FC7E-06B5B3774F0D}"/>
              </a:ext>
            </a:extLst>
          </p:cNvPr>
          <p:cNvSpPr txBox="1">
            <a:spLocks/>
          </p:cNvSpPr>
          <p:nvPr/>
        </p:nvSpPr>
        <p:spPr>
          <a:xfrm>
            <a:off x="349622" y="1673279"/>
            <a:ext cx="145848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820276C-786D-B511-6D03-C98CC3FD3C5A}"/>
              </a:ext>
            </a:extLst>
          </p:cNvPr>
          <p:cNvSpPr txBox="1">
            <a:spLocks/>
          </p:cNvSpPr>
          <p:nvPr/>
        </p:nvSpPr>
        <p:spPr>
          <a:xfrm>
            <a:off x="349622" y="2227521"/>
            <a:ext cx="445821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11.2) Simple Data Types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840E159-1D4A-EC81-6AF5-ED030BFDB9CB}"/>
              </a:ext>
            </a:extLst>
          </p:cNvPr>
          <p:cNvSpPr txBox="1">
            <a:spLocks/>
          </p:cNvSpPr>
          <p:nvPr/>
        </p:nvSpPr>
        <p:spPr>
          <a:xfrm>
            <a:off x="349622" y="2679844"/>
            <a:ext cx="4867493" cy="38876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basic type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ที่เพิ่มความหมายทางโดเมนเข้าไป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D85FF1-9952-4350-D99A-79B9C43DC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2" y="3301741"/>
            <a:ext cx="4805773" cy="2064172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D027F0-8474-39CF-7F3D-6E03A1BB393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D3E70D-E5BC-9288-B440-A96BF4616A3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73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9931DCE-16FE-608C-E311-DEF674E055A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9740935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71F3-5C19-E38D-D690-0C7D379E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C86B5AB9-A877-3B92-49D7-4D8082BFAF5A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7875B-B432-5328-546B-1D6C8B2CF9C9}"/>
              </a:ext>
            </a:extLst>
          </p:cNvPr>
          <p:cNvSpPr txBox="1">
            <a:spLocks/>
          </p:cNvSpPr>
          <p:nvPr/>
        </p:nvSpPr>
        <p:spPr>
          <a:xfrm>
            <a:off x="349622" y="1673279"/>
            <a:ext cx="145848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C63CD28-91CA-7509-A254-977C6535DD9F}"/>
              </a:ext>
            </a:extLst>
          </p:cNvPr>
          <p:cNvSpPr txBox="1">
            <a:spLocks/>
          </p:cNvSpPr>
          <p:nvPr/>
        </p:nvSpPr>
        <p:spPr>
          <a:xfrm>
            <a:off x="349622" y="2227521"/>
            <a:ext cx="445821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11.3) Enumerated Data Types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63BBD6-5C60-909C-6FC6-9F851878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2" y="2781763"/>
            <a:ext cx="5118472" cy="1706157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91C619C-6003-4EA7-58F9-759E7257A5F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32EDC6-3F08-BC7F-390D-D2AD2CA13B4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C339C08-8AC2-18AD-1447-A4EC031E8DF7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8667379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4835-A08B-22CD-80A6-B3E0A6D5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48299353-EF08-2BDC-4704-E2C504D370FE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7DF64-6FF2-5B9F-E16F-B1C74F302B1C}"/>
              </a:ext>
            </a:extLst>
          </p:cNvPr>
          <p:cNvSpPr txBox="1">
            <a:spLocks/>
          </p:cNvSpPr>
          <p:nvPr/>
        </p:nvSpPr>
        <p:spPr>
          <a:xfrm>
            <a:off x="349622" y="1673279"/>
            <a:ext cx="145848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C5411DC-BDDF-E59F-B5BB-1DAA55B18F05}"/>
              </a:ext>
            </a:extLst>
          </p:cNvPr>
          <p:cNvSpPr txBox="1">
            <a:spLocks/>
          </p:cNvSpPr>
          <p:nvPr/>
        </p:nvSpPr>
        <p:spPr>
          <a:xfrm>
            <a:off x="349622" y="2227521"/>
            <a:ext cx="445821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11.4) Array Data Types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3A568-4A4C-C961-7761-0F78D40FA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2" y="2811388"/>
            <a:ext cx="3682228" cy="169441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86141E-9A0C-5906-CD0D-F6C8EAC20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760804"/>
              </p:ext>
            </p:extLst>
          </p:nvPr>
        </p:nvGraphicFramePr>
        <p:xfrm>
          <a:off x="5174895" y="2197870"/>
          <a:ext cx="5970513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0171">
                  <a:extLst>
                    <a:ext uri="{9D8B030D-6E8A-4147-A177-3AD203B41FA5}">
                      <a16:colId xmlns:a16="http://schemas.microsoft.com/office/drawing/2014/main" val="4284720803"/>
                    </a:ext>
                  </a:extLst>
                </a:gridCol>
                <a:gridCol w="1990171">
                  <a:extLst>
                    <a:ext uri="{9D8B030D-6E8A-4147-A177-3AD203B41FA5}">
                      <a16:colId xmlns:a16="http://schemas.microsoft.com/office/drawing/2014/main" val="4137931116"/>
                    </a:ext>
                  </a:extLst>
                </a:gridCol>
                <a:gridCol w="1990171">
                  <a:extLst>
                    <a:ext uri="{9D8B030D-6E8A-4147-A177-3AD203B41FA5}">
                      <a16:colId xmlns:a16="http://schemas.microsoft.com/office/drawing/2014/main" val="29077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Encoding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Cardinality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รูปแบบ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069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HLAfixedArray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ตัวเลขคงที่ เช่น 3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มีแค่ element เรียงต่อกัน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74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HLAvariableArray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Dynamic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HLAinteger32BE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จำนวน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element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แล้วตามด้วย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element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441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FD3858-27C2-31DF-6457-EFBC34011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360885"/>
              </p:ext>
            </p:extLst>
          </p:nvPr>
        </p:nvGraphicFramePr>
        <p:xfrm>
          <a:off x="5174894" y="4961604"/>
          <a:ext cx="5970514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0172">
                  <a:extLst>
                    <a:ext uri="{9D8B030D-6E8A-4147-A177-3AD203B41FA5}">
                      <a16:colId xmlns:a16="http://schemas.microsoft.com/office/drawing/2014/main" val="222488775"/>
                    </a:ext>
                  </a:extLst>
                </a:gridCol>
                <a:gridCol w="1753868">
                  <a:extLst>
                    <a:ext uri="{9D8B030D-6E8A-4147-A177-3AD203B41FA5}">
                      <a16:colId xmlns:a16="http://schemas.microsoft.com/office/drawing/2014/main" val="727170485"/>
                    </a:ext>
                  </a:extLst>
                </a:gridCol>
                <a:gridCol w="2226474">
                  <a:extLst>
                    <a:ext uri="{9D8B030D-6E8A-4147-A177-3AD203B41FA5}">
                      <a16:colId xmlns:a16="http://schemas.microsoft.com/office/drawing/2014/main" val="2600771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Element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ใช้กับ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59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HLAASCIIstring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HLAASCIIchar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ข้อความ ASCII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00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HLAunicodeChar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ข้อความ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Unicode (UTF-16BE)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4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HLAopaqueData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HLAbyte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ข้อมูลดิบที่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encode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เอง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216204"/>
                  </a:ext>
                </a:extLst>
              </a:tr>
            </a:tbl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2E0FD4BF-3B37-9E6E-E583-B53F457CD19F}"/>
              </a:ext>
            </a:extLst>
          </p:cNvPr>
          <p:cNvSpPr txBox="1">
            <a:spLocks/>
          </p:cNvSpPr>
          <p:nvPr/>
        </p:nvSpPr>
        <p:spPr>
          <a:xfrm>
            <a:off x="5174894" y="4540483"/>
            <a:ext cx="3385220" cy="341632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Array Data Types 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ที่มีให้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A3C4C93-FCE5-6C63-32B1-3B23952DA86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169CF05-1C1D-990C-4C9A-019EB0C5E54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6007D1F-8CEA-176A-0C55-0C223A26612B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7580241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417C-D62A-BC41-34FF-921B557E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40B62C7B-F603-C4A9-C444-DE7AE3C08D41}"/>
              </a:ext>
            </a:extLst>
          </p:cNvPr>
          <p:cNvSpPr/>
          <p:nvPr/>
        </p:nvSpPr>
        <p:spPr>
          <a:xfrm>
            <a:off x="457200" y="292680"/>
            <a:ext cx="54716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และชนิดข้อมูล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2E673-789B-5A4B-1F54-96CA7D982F41}"/>
              </a:ext>
            </a:extLst>
          </p:cNvPr>
          <p:cNvSpPr txBox="1">
            <a:spLocks/>
          </p:cNvSpPr>
          <p:nvPr/>
        </p:nvSpPr>
        <p:spPr>
          <a:xfrm>
            <a:off x="349622" y="1673279"/>
            <a:ext cx="145848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40D490A-3A94-6321-888D-8E9E520570F3}"/>
              </a:ext>
            </a:extLst>
          </p:cNvPr>
          <p:cNvSpPr txBox="1">
            <a:spLocks/>
          </p:cNvSpPr>
          <p:nvPr/>
        </p:nvSpPr>
        <p:spPr>
          <a:xfrm>
            <a:off x="349622" y="2227521"/>
            <a:ext cx="445821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11.5) Fixed Record Data Types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EF93C61-EB31-9B47-2E72-713C5037EC49}"/>
              </a:ext>
            </a:extLst>
          </p:cNvPr>
          <p:cNvSpPr txBox="1">
            <a:spLocks/>
          </p:cNvSpPr>
          <p:nvPr/>
        </p:nvSpPr>
        <p:spPr>
          <a:xfrm>
            <a:off x="319030" y="2679844"/>
            <a:ext cx="4519401" cy="333233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เทียบได้กับ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struct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record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68AAE8-AC80-E623-4593-2B59B92F6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30" y="3270935"/>
            <a:ext cx="4667490" cy="16764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0768F40A-34A0-E991-1E0E-822F0387E6EF}"/>
              </a:ext>
            </a:extLst>
          </p:cNvPr>
          <p:cNvSpPr txBox="1">
            <a:spLocks/>
          </p:cNvSpPr>
          <p:nvPr/>
        </p:nvSpPr>
        <p:spPr>
          <a:xfrm>
            <a:off x="5979749" y="1933945"/>
            <a:ext cx="4458219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11.6) Variant Record Data Types</a:t>
            </a:r>
            <a:endParaRPr lang="th-TH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21BEBA0-2E17-E185-BF19-F580F6D760AF}"/>
              </a:ext>
            </a:extLst>
          </p:cNvPr>
          <p:cNvSpPr txBox="1">
            <a:spLocks/>
          </p:cNvSpPr>
          <p:nvPr/>
        </p:nvSpPr>
        <p:spPr>
          <a:xfrm>
            <a:off x="9293465" y="2555646"/>
            <a:ext cx="2579505" cy="133042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เทียบได้กับ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union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ที่มีตัวบอกชนิด (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tagged union)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โดยค่า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enum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discriminant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จะเป็นตัวกำหนดว่า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field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ไหนถูกส่ง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6B9FE8-F53B-9196-7CCB-7B018F7D0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749" y="2525290"/>
            <a:ext cx="3264068" cy="389275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A38469-2231-30BE-6BAB-40CA08638F8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58A258-F312-53E5-C0D6-49E29557CA3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82F421-4DBF-6622-B888-01D585D77A5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5290692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12C8-F194-440F-D418-897A7C4C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B1AEE6B9-559E-9588-F121-7AE86F9EDDE4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DE42E3-2D75-F1D9-1D1B-9D7AF330D9DB}"/>
              </a:ext>
            </a:extLst>
          </p:cNvPr>
          <p:cNvSpPr txBox="1"/>
          <p:nvPr/>
        </p:nvSpPr>
        <p:spPr>
          <a:xfrm>
            <a:off x="457199" y="1497612"/>
            <a:ext cx="7987553" cy="255454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ความหมายของ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SOM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OMT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Object, Attribute, 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และชนิดข้อมูล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Agreement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วิธีเขียน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FOM/SOM -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เริ่มต้นเขียน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ตามโจทย์ที่จะเรียน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D99DD1-2D08-41A8-7565-E470A0A5CAD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4D38E-2A89-BA8F-82AB-2667D5EBE345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94D0751-8535-612E-6CB5-0432E158FC8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537246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B8935-F72B-93ED-9E84-6F978B3D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A61F531C-9BF6-9CC7-E5E0-7307D855872B}"/>
              </a:ext>
            </a:extLst>
          </p:cNvPr>
          <p:cNvSpPr txBox="1">
            <a:spLocks/>
          </p:cNvSpPr>
          <p:nvPr/>
        </p:nvSpPr>
        <p:spPr>
          <a:xfrm>
            <a:off x="457200" y="1562392"/>
            <a:ext cx="11489994" cy="3989747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การจำลองการบินของเครื่องบินรบ (</a:t>
            </a:r>
            <a:r>
              <a:rPr lang="en-US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FighterFOM.xml</a:t>
            </a:r>
            <a:r>
              <a:rPr lang="th-TH" sz="3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pPr>
              <a:lnSpc>
                <a:spcPct val="90000"/>
              </a:lnSpc>
            </a:pP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ที่มีใน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เครื่องบินรบ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เรดาร์ภาคพื้นดิน</a:t>
            </a:r>
          </a:p>
          <a:p>
            <a:pPr>
              <a:lnSpc>
                <a:spcPct val="90000"/>
              </a:lnSpc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ข้อมูลที่ต้องใช้เบื้องต้น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 ตำแหน่ง ความเร็ว ทิศทาง และสถานะ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RadarContact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เรดาร์ตรวจพบเป้า) และ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WeaponFire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การยิงอาวุธ)</a:t>
            </a:r>
          </a:p>
          <a:p>
            <a:pPr>
              <a:lnSpc>
                <a:spcPct val="90000"/>
              </a:lnSpc>
            </a:pP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34406AE7-375E-F432-CDB5-61FFB8B27D96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EE208-CEB6-23BC-BEC8-04634EEE673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9A6B63-4169-45DE-D97E-A0906C66B67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78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7558DB3-E3A5-DB14-99BA-333066684E4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0978075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9CBB-A96A-3C49-BF62-1E35FC95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91A2875-2CDB-A5E4-253A-5C16CB27D6A6}"/>
              </a:ext>
            </a:extLst>
          </p:cNvPr>
          <p:cNvSpPr txBox="1">
            <a:spLocks/>
          </p:cNvSpPr>
          <p:nvPr/>
        </p:nvSpPr>
        <p:spPr>
          <a:xfrm>
            <a:off x="457200" y="1708419"/>
            <a:ext cx="11489994" cy="45550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การแลกเปลี่ยนข้อมูล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0F21D300-3EBC-3259-C731-D1EF6C294DA4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E2BE81-DB75-BE65-CE90-55519FFA1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18072"/>
              </p:ext>
            </p:extLst>
          </p:nvPr>
        </p:nvGraphicFramePr>
        <p:xfrm>
          <a:off x="2473224" y="2225077"/>
          <a:ext cx="7245552" cy="31434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67167">
                  <a:extLst>
                    <a:ext uri="{9D8B030D-6E8A-4147-A177-3AD203B41FA5}">
                      <a16:colId xmlns:a16="http://schemas.microsoft.com/office/drawing/2014/main" val="3566699121"/>
                    </a:ext>
                  </a:extLst>
                </a:gridCol>
                <a:gridCol w="1820732">
                  <a:extLst>
                    <a:ext uri="{9D8B030D-6E8A-4147-A177-3AD203B41FA5}">
                      <a16:colId xmlns:a16="http://schemas.microsoft.com/office/drawing/2014/main" val="4088020958"/>
                    </a:ext>
                  </a:extLst>
                </a:gridCol>
                <a:gridCol w="1457653">
                  <a:extLst>
                    <a:ext uri="{9D8B030D-6E8A-4147-A177-3AD203B41FA5}">
                      <a16:colId xmlns:a16="http://schemas.microsoft.com/office/drawing/2014/main" val="393491962"/>
                    </a:ext>
                  </a:extLst>
                </a:gridCol>
              </a:tblGrid>
              <a:tr h="541966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FighterSim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RadarSim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651855"/>
                  </a:ext>
                </a:extLst>
              </a:tr>
              <a:tr h="975538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ตำแหน่ง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ความเร็ว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ทิศทาง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สถานะของเครื่องบิน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 / 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283757"/>
                  </a:ext>
                </a:extLst>
              </a:tr>
              <a:tr h="54196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จำนวนอาวุธคงเหลือ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 / 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–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350204"/>
                  </a:ext>
                </a:extLst>
              </a:tr>
              <a:tr h="54196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เรดาร์ตรวจพบเป้า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(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RadarContact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542726"/>
                  </a:ext>
                </a:extLst>
              </a:tr>
              <a:tr h="541966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การยิงอาวุธ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(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WeaponFire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 / S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–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531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C655BB-428B-FA2F-F7B6-5E3A85515BDD}"/>
              </a:ext>
            </a:extLst>
          </p:cNvPr>
          <p:cNvSpPr txBox="1"/>
          <p:nvPr/>
        </p:nvSpPr>
        <p:spPr>
          <a:xfrm>
            <a:off x="9718776" y="4906814"/>
            <a:ext cx="2836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</a:t>
            </a:r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= Publish, S = Subscribe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A8B097A-5CE4-5516-5055-F1F8F1EAE03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EDB290-3BA1-AB44-6759-FC9BF56CF6D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79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FCC1DA7-B286-D78B-0D83-C060F0BAE396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8165927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C738-017E-A6AE-DE33-C877D208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56D88886-6457-C168-AB8C-2CC7B9EA80F3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BA7A0-D461-E444-2581-15DE504FF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9" y="1167655"/>
            <a:ext cx="6047802" cy="53519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2CC1B7-CCE4-2006-8CBE-C64780D36028}"/>
              </a:ext>
            </a:extLst>
          </p:cNvPr>
          <p:cNvSpPr txBox="1"/>
          <p:nvPr/>
        </p:nvSpPr>
        <p:spPr>
          <a:xfrm>
            <a:off x="7279449" y="1167655"/>
            <a:ext cx="3956532" cy="1015663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none" rtlCol="0">
            <a:spAutoFit/>
          </a:bodyPr>
          <a:lstStyle/>
          <a:p>
            <a:pPr lvl="0"/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Aircraft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เก็บ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attribute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ที่เครื่องบินทุกประเภทมีร่วมกัน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0"/>
            <a:r>
              <a:rPr lang="en-US" sz="20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FighterAircraft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เพิ่มเฉพาะข้อมูลของเครื่องบินรบ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0"/>
            <a:r>
              <a:rPr lang="en-US" sz="20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RadarSim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subscribe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เฉพาะ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Aircraft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B7FF8-FA82-6D78-0EF5-53C1B3188A0C}"/>
              </a:ext>
            </a:extLst>
          </p:cNvPr>
          <p:cNvSpPr txBox="1"/>
          <p:nvPr/>
        </p:nvSpPr>
        <p:spPr>
          <a:xfrm>
            <a:off x="7279449" y="4674683"/>
            <a:ext cx="3841116" cy="1323439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HLAobjectRoot.Aircraft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HLAobjectRoot.Aircraft.FighterAircraft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HLAinteractionRoot.CombatEvent.RadarContact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HLAinteractionRoot.CombatEvent.WeaponFire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F86B1AD-26DE-B697-AF7B-548093ADD74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3274B97-43D2-16E3-C88E-9BBC6D6EC6E3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80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5F3BC10-406E-F066-66C5-A0B12768034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765694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609D0-9637-6CEC-2722-D78B2611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B1F8131-2719-7592-7F3E-877E73133142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/ Attribute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D549E2A-01A8-5364-CA2E-C50E8B862E9F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CBB7CA-0038-61D3-DF4F-79582E790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85019"/>
              </p:ext>
            </p:extLst>
          </p:nvPr>
        </p:nvGraphicFramePr>
        <p:xfrm>
          <a:off x="508000" y="2320766"/>
          <a:ext cx="1126236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7754">
                  <a:extLst>
                    <a:ext uri="{9D8B030D-6E8A-4147-A177-3AD203B41FA5}">
                      <a16:colId xmlns:a16="http://schemas.microsoft.com/office/drawing/2014/main" val="4294514227"/>
                    </a:ext>
                  </a:extLst>
                </a:gridCol>
                <a:gridCol w="1609101">
                  <a:extLst>
                    <a:ext uri="{9D8B030D-6E8A-4147-A177-3AD203B41FA5}">
                      <a16:colId xmlns:a16="http://schemas.microsoft.com/office/drawing/2014/main" val="2195552025"/>
                    </a:ext>
                  </a:extLst>
                </a:gridCol>
                <a:gridCol w="1609101">
                  <a:extLst>
                    <a:ext uri="{9D8B030D-6E8A-4147-A177-3AD203B41FA5}">
                      <a16:colId xmlns:a16="http://schemas.microsoft.com/office/drawing/2014/main" val="3027319062"/>
                    </a:ext>
                  </a:extLst>
                </a:gridCol>
                <a:gridCol w="1609101">
                  <a:extLst>
                    <a:ext uri="{9D8B030D-6E8A-4147-A177-3AD203B41FA5}">
                      <a16:colId xmlns:a16="http://schemas.microsoft.com/office/drawing/2014/main" val="3782761529"/>
                    </a:ext>
                  </a:extLst>
                </a:gridCol>
                <a:gridCol w="1609101">
                  <a:extLst>
                    <a:ext uri="{9D8B030D-6E8A-4147-A177-3AD203B41FA5}">
                      <a16:colId xmlns:a16="http://schemas.microsoft.com/office/drawing/2014/main" val="1839050087"/>
                    </a:ext>
                  </a:extLst>
                </a:gridCol>
                <a:gridCol w="1609101">
                  <a:extLst>
                    <a:ext uri="{9D8B030D-6E8A-4147-A177-3AD203B41FA5}">
                      <a16:colId xmlns:a16="http://schemas.microsoft.com/office/drawing/2014/main" val="182040202"/>
                    </a:ext>
                  </a:extLst>
                </a:gridCol>
                <a:gridCol w="1609101">
                  <a:extLst>
                    <a:ext uri="{9D8B030D-6E8A-4147-A177-3AD203B41FA5}">
                      <a16:colId xmlns:a16="http://schemas.microsoft.com/office/drawing/2014/main" val="966553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Class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Attribute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ความหมาย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Datatype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updateType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ownership</a:t>
                      </a:r>
                      <a:endParaRPr lang="en-US" sz="18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18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order</a:t>
                      </a:r>
                      <a:endParaRPr lang="en-US" sz="18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171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Callsign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ชื่อเรียกขาน เช่น Viper01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Static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NoTransfer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Receive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46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Position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ละติจูด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ลองจิจูด</a:t>
                      </a: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และความสูง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GeodeticPosition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Periodic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DivestAcquire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68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Speed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ความเร็ว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MetersPerSecond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Periodic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DivestAcquire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356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Orientation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heading, pitch และ roll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Orientation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Periodic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DivestAcquire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62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Status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สถานะของเครื่องบิน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AircraftStatusEnum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Conditional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DivestAcquire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189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FighterAircraft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WeaponsRemaining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จำนวนอาวุธคงเหลือ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HLAinteger32BE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Conditional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DivestAcquire</a:t>
                      </a:r>
                      <a:endParaRPr lang="en-US" sz="18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18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TimeStamp</a:t>
                      </a:r>
                      <a:endParaRPr lang="en-US" sz="18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977324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5FEDA94-4E9A-2815-8CA8-A936D135777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79AF6-9CA5-1D02-63CE-0580E02C5151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81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DAAD06F-220A-64C7-0603-5FA15614CDC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0207329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9215-6D3B-5F7D-BC4D-854D330B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25E36C2F-C3F9-2CDE-B8CB-1E843B303617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A737B-0B6F-9425-9957-418CC246B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063491"/>
              </p:ext>
            </p:extLst>
          </p:nvPr>
        </p:nvGraphicFramePr>
        <p:xfrm>
          <a:off x="1859280" y="2270632"/>
          <a:ext cx="8082280" cy="3978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20570">
                  <a:extLst>
                    <a:ext uri="{9D8B030D-6E8A-4147-A177-3AD203B41FA5}">
                      <a16:colId xmlns:a16="http://schemas.microsoft.com/office/drawing/2014/main" val="3272771124"/>
                    </a:ext>
                  </a:extLst>
                </a:gridCol>
                <a:gridCol w="2020570">
                  <a:extLst>
                    <a:ext uri="{9D8B030D-6E8A-4147-A177-3AD203B41FA5}">
                      <a16:colId xmlns:a16="http://schemas.microsoft.com/office/drawing/2014/main" val="1594217803"/>
                    </a:ext>
                  </a:extLst>
                </a:gridCol>
                <a:gridCol w="2020570">
                  <a:extLst>
                    <a:ext uri="{9D8B030D-6E8A-4147-A177-3AD203B41FA5}">
                      <a16:colId xmlns:a16="http://schemas.microsoft.com/office/drawing/2014/main" val="2276374574"/>
                    </a:ext>
                  </a:extLst>
                </a:gridCol>
                <a:gridCol w="2020570">
                  <a:extLst>
                    <a:ext uri="{9D8B030D-6E8A-4147-A177-3AD203B41FA5}">
                      <a16:colId xmlns:a16="http://schemas.microsoft.com/office/drawing/2014/main" val="939420177"/>
                    </a:ext>
                  </a:extLst>
                </a:gridCol>
              </a:tblGrid>
              <a:tr h="307404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Parameter</a:t>
                      </a:r>
                      <a:endParaRPr lang="en-US" sz="2400" b="1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Datatype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ความหมาย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501853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RadarContact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RadarName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ชื่อเรดาร์ที่ตรวจพบ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658947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RadarContact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TargetCallsign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ชื่อเรียกขานของเป้า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6978686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RadarContact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TargetPosition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GeodeticPosition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ตำแหน่งที่ตรวจพบ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389363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WeaponFire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ShooterCallsign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ผู้ยิง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51386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WeaponFire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TargetCallsign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เป้าหมาย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038457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WeaponFire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WeaponType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WeaponTypeEnum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ประเภทอาวุธ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9739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WeaponFire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FirePosition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GeodeticPosition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ตำแหน่งที่ยิง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426499"/>
                  </a:ext>
                </a:extLst>
              </a:tr>
            </a:tbl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2A9BAC50-135F-824C-9980-C929D9F7E5E9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65764B7-7340-61CF-E49E-A4A0E46CC5F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4B555E-7B6A-BDE4-E22F-8AD5F2234E84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82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9E82D33-47FF-C628-5913-567583286B1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64095819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BC985-D03E-BA57-BFF9-9A00F0CD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9CB2B41-C338-8A96-0FA3-0FD29FF8A8F1}"/>
              </a:ext>
            </a:extLst>
          </p:cNvPr>
          <p:cNvSpPr txBox="1">
            <a:spLocks/>
          </p:cNvSpPr>
          <p:nvPr/>
        </p:nvSpPr>
        <p:spPr>
          <a:xfrm>
            <a:off x="457200" y="1722869"/>
            <a:ext cx="114899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Datatypes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9E3BD2D-87EA-1C82-64C0-264FEBE31946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15BA7C-6762-5239-C312-D60634C7A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471616"/>
              </p:ext>
            </p:extLst>
          </p:nvPr>
        </p:nvGraphicFramePr>
        <p:xfrm>
          <a:off x="863600" y="2280126"/>
          <a:ext cx="1060196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3986">
                  <a:extLst>
                    <a:ext uri="{9D8B030D-6E8A-4147-A177-3AD203B41FA5}">
                      <a16:colId xmlns:a16="http://schemas.microsoft.com/office/drawing/2014/main" val="2418972112"/>
                    </a:ext>
                  </a:extLst>
                </a:gridCol>
                <a:gridCol w="2044578">
                  <a:extLst>
                    <a:ext uri="{9D8B030D-6E8A-4147-A177-3AD203B41FA5}">
                      <a16:colId xmlns:a16="http://schemas.microsoft.com/office/drawing/2014/main" val="3771152320"/>
                    </a:ext>
                  </a:extLst>
                </a:gridCol>
                <a:gridCol w="5023396">
                  <a:extLst>
                    <a:ext uri="{9D8B030D-6E8A-4147-A177-3AD203B41FA5}">
                      <a16:colId xmlns:a16="http://schemas.microsoft.com/office/drawing/2014/main" val="1676504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ชื่อ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หมวด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นิยาม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2052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Meters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Simple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HLAfloat64BE, หน่วย m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972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MetersPerSecond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Simple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HLAfloat64BE, หน่วย m/s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32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AngleDegrees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Simple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HLAfloat64BE, หน่วย องศา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38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AircraftStatusEnum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Enumerated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Parked=0, Airborne=1, Damaged=2, Destroyed=3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434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WeaponTypeEnum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Enumerated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Gun=0, ShortRangeMissile=1, MediumRangeMissile=2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583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GeodeticPosition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Fixed Record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Latitude, Longitude (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AngleDegrees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), Altitude (Meters)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578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Orientation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Fixed Record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Heading, Pitch, Roll (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AngleDegrees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0137199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E915DC8-078A-4126-84B0-92EE429C956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F4DA3-B629-B686-A84B-07FAAADEB38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83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FC40F73-D819-4271-C64F-416531E6BF3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952921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E14F-6F46-DEEF-0016-13F214FD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73C4F4B-3E2E-8C15-3104-12C5BCFABBF1}"/>
              </a:ext>
            </a:extLst>
          </p:cNvPr>
          <p:cNvSpPr txBox="1">
            <a:spLocks/>
          </p:cNvSpPr>
          <p:nvPr/>
        </p:nvSpPr>
        <p:spPr>
          <a:xfrm>
            <a:off x="457200" y="1833994"/>
            <a:ext cx="114899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Semantics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55E98A2-291C-E3F3-28C6-DEAF766FCA32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7AD105-845C-2405-EB0E-0B50460CC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805758"/>
              </p:ext>
            </p:extLst>
          </p:nvPr>
        </p:nvGraphicFramePr>
        <p:xfrm>
          <a:off x="2854563" y="2456656"/>
          <a:ext cx="6482874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6528">
                  <a:extLst>
                    <a:ext uri="{9D8B030D-6E8A-4147-A177-3AD203B41FA5}">
                      <a16:colId xmlns:a16="http://schemas.microsoft.com/office/drawing/2014/main" val="3237874002"/>
                    </a:ext>
                  </a:extLst>
                </a:gridCol>
                <a:gridCol w="5106346">
                  <a:extLst>
                    <a:ext uri="{9D8B030D-6E8A-4147-A177-3AD203B41FA5}">
                      <a16:colId xmlns:a16="http://schemas.microsoft.com/office/drawing/2014/main" val="3043635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buNone/>
                      </a:pPr>
                      <a:r>
                        <a:rPr lang="en-US" sz="2400" b="1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ข้อตกลง</a:t>
                      </a:r>
                      <a:endParaRPr lang="en-US" sz="2400" b="1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395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Latitude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−90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ถึง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+90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องศา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ค่าบวกคือซีกโลกเหนือ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(WGS84)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500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Longitude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−180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ถึง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+180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องศา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ค่าบวกคือซีกโลกตะวันออก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985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Altitude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เมตรเหนือระดับน้ำทะเลปานกลาง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(MSL)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651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Heading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0–360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องศา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คือทิศเหนือจริง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หมุนตามเข็มนาฬิกา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043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Pitch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−90 ถึง +90 องศา ค่าบวกคือเชิดหัวขึ้น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0814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Roll</a:t>
                      </a:r>
                      <a:endParaRPr lang="en-US" sz="2400" b="0" i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−180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ถึง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+180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องศา</a:t>
                      </a:r>
                      <a:r>
                        <a:rPr lang="en-US" sz="2400" dirty="0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ค่าบวกคือเอียงปีกขวาลง</a:t>
                      </a:r>
                      <a:endParaRPr lang="en-US" sz="2400" b="0" i="0" dirty="0"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100861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246D006-2ACE-8B5E-8DCD-588F20AFBE4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84E91-ADA5-9AEE-0BCB-BA37E1BEDA5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1A04CE-DC34-004F-6C4A-3743CC42221C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70520345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AB9E-AFBB-A436-8A43-F900DFD9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A331351-7EDB-1DB2-BD31-3B2D5326AD53}"/>
              </a:ext>
            </a:extLst>
          </p:cNvPr>
          <p:cNvSpPr txBox="1">
            <a:spLocks/>
          </p:cNvSpPr>
          <p:nvPr/>
        </p:nvSpPr>
        <p:spPr>
          <a:xfrm>
            <a:off x="919480" y="1377790"/>
            <a:ext cx="1950720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FighterFOM.xml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738FD9B6-2BAD-4313-8F10-1AABB7A47B94}"/>
              </a:ext>
            </a:extLst>
          </p:cNvPr>
          <p:cNvSpPr/>
          <p:nvPr/>
        </p:nvSpPr>
        <p:spPr>
          <a:xfrm>
            <a:off x="457200" y="292680"/>
            <a:ext cx="3758058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วิธีเขียน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FOM/SOM 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14D30-FD0D-665C-A5B3-C0A9D1B5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380" y="1325880"/>
            <a:ext cx="5095240" cy="539496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E5D9877-00F0-3D25-1ABF-DEE93AFF576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404E6E1-37D6-E719-15D6-8D438FB3BCF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92A844B-7A82-BAEA-8559-584DD21B3F0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8143094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7B6D-5FDB-3B2D-2397-5D7FEB1B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30FE-06C3-6C85-60F9-409D1EEF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586461"/>
            <a:ext cx="9806413" cy="1685077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4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E47F02-77DD-6FF4-2707-71ABCE12EE2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E7DBE-4C37-AEAB-DE09-E23A0FAD743F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77BC35-4240-FA85-1BB2-941A200668E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0608181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37A1-2443-558D-A5E5-DC85764D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9A772FB3-F7D7-C41C-2DEE-209EDFDB37E3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BA325-332F-EC31-7AA9-51F7B8ADEAAE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F9F863-7BF4-3F29-A162-F5D3A63E80E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9B756-E6AA-55BB-2978-B8E70BC17972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87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BA27494-63B8-457D-2DC3-FAA6385E047B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6381213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F2F18-9472-939A-07AA-E2CE31CE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FF84D17-57C1-2052-E633-BB765B4C8468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9ECA-BD94-5C5C-FE21-BDBC6E09E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080979"/>
              </p:ext>
            </p:extLst>
          </p:nvPr>
        </p:nvGraphicFramePr>
        <p:xfrm>
          <a:off x="1381760" y="1769586"/>
          <a:ext cx="94284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1908908044"/>
                    </a:ext>
                  </a:extLst>
                </a:gridCol>
                <a:gridCol w="6243320">
                  <a:extLst>
                    <a:ext uri="{9D8B030D-6E8A-4147-A177-3AD203B41FA5}">
                      <a16:colId xmlns:a16="http://schemas.microsoft.com/office/drawing/2014/main" val="59297625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เครื่องมือ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วัตถุประสงค์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42537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Java JDK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พัฒนาและรันโปรแกรม Federate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1711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ZyntRTI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Library </a:t>
                      </a:r>
                      <a:r>
                        <a:rPr lang="th-TH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สำหรับ 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2322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IntelliJ IDEA / Eclipse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พัฒนาและ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Debug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โปรแกรม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86545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Maven / Gradle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จัดการ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Dependencies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Build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6914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FOM 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กำหนดโครงสร้างข้อมูลที่ใช้แลกเปลี่ยนระหว่าง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Federates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273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DC4C19-45F7-87C6-A189-D881FB0055CF}"/>
              </a:ext>
            </a:extLst>
          </p:cNvPr>
          <p:cNvSpPr txBox="1"/>
          <p:nvPr/>
        </p:nvSpPr>
        <p:spPr>
          <a:xfrm>
            <a:off x="1381760" y="4804128"/>
            <a:ext cx="5525872" cy="156966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non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Java JDK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และตรวจสอบด้วยคำสั่ง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java -version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ติดตั้ง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ZyntRTI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Library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ตั้งค่า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RTI_HOME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Library Path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ตรวจสอบว่าโปรแกรมสามารถเข้าถึง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Library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เตรียมไฟล์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FOM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และตรวจสอบ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XML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ให้ถูกต้องตามมาตรฐาน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AF0518E-B366-06EA-0A66-5C696F6C21E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3300388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0B06-747B-AFAE-6A0F-DAB43A2E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FD0588-D299-A0C6-61AB-CC70A45888D7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EA04B49-A67A-1821-3479-C1C0EDDA0E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3954" y="1173199"/>
            <a:ext cx="4708525" cy="5539441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6EFE44E-724B-45EC-CE7B-6633380AB8DD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8B9FCDD-EBCA-AB17-2E64-E26DE27583E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6553080" y="6356520"/>
            <a:ext cx="2133360" cy="364680"/>
          </a:xfrm>
        </p:spPr>
        <p:txBody>
          <a:bodyPr/>
          <a:lstStyle/>
          <a:p>
            <a:fld id="{325B2DBD-C356-4FC8-913A-EBFCF435345F}" type="slidenum">
              <a:rPr lang="en-US" smtClean="0"/>
              <a:t>89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94E2CB8-F254-A2E4-8FE4-7820EDD03A97}"/>
              </a:ext>
            </a:extLst>
          </p:cNvPr>
          <p:cNvSpPr>
            <a:spLocks noGrp="1"/>
          </p:cNvSpPr>
          <p:nvPr>
            <p:ph type="ftr" idx="4294967295"/>
          </p:nvPr>
        </p:nvSpPr>
        <p:spPr>
          <a:xfrm>
            <a:off x="3124080" y="6356520"/>
            <a:ext cx="2895120" cy="364680"/>
          </a:xfrm>
        </p:spPr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6826383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3434-4613-718F-7A06-EB292CDC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1E78BE96-8668-AF15-0D19-E04443E570A9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F0D8B-C23F-8042-83CE-3A8DEBA8D3E4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079247-FADD-B6D6-F459-835C466D210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30BF0-9673-C27A-F674-B04B27077DCB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90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AC3C46-4641-4D29-34C3-9F39B41C27E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6453752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FAB1-0D21-8FA5-FD36-0E64CA7C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5815980-2883-743C-7E7B-5030147573D7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48DC81F-118B-8F9B-73B7-C4B8B974C038}"/>
              </a:ext>
            </a:extLst>
          </p:cNvPr>
          <p:cNvSpPr txBox="1">
            <a:spLocks/>
          </p:cNvSpPr>
          <p:nvPr/>
        </p:nvSpPr>
        <p:spPr>
          <a:xfrm>
            <a:off x="457200" y="1610611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Java Project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และกำหนดโครงสร้างสำหรับพัฒนา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โดยแยกส่วนการเชื่อมต่อ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RTI,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และการทำงานหลักของ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Simulation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E8FD0-41F1-A56F-7EAD-784C33E3E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36" y="2653605"/>
            <a:ext cx="5587464" cy="3419194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462D640-4DA4-E89C-648D-BFB35375D0F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4322068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43711-3B97-D1D5-D340-122BE963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3F89E93A-5378-B5CD-E452-E8348CDBA1FF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FF1E3A-DD20-6300-9374-578B6549C435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7D8C2C-BDA2-916C-5E4F-773A96DDE88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FA8CE-2DDB-E4B8-404F-774C140A5900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92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128C33-BFC5-737A-52A4-F979A6A54BA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597184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64BDB-1A35-4E42-05B7-D0E61DD8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0C2478D-E648-6C7B-A010-B44747E823DD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26DA5F-B86D-7F5D-91E7-BC6B2D473713}"/>
              </a:ext>
            </a:extLst>
          </p:cNvPr>
          <p:cNvSpPr txBox="1">
            <a:spLocks/>
          </p:cNvSpPr>
          <p:nvPr/>
        </p:nvSpPr>
        <p:spPr>
          <a:xfrm>
            <a:off x="457200" y="1610611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คือโปรแกรมหรือระบบจำลองที่เข้าร่วม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เพื่อแลกเปลี่ยนข้อมูลหรือทำงานร่วมกับ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ต้องประกอบด้วยองค์ประกอบหลัก 2 ส่วน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8D04DA5-B920-5102-77D4-69BBFDD87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6227" y="2753288"/>
            <a:ext cx="6429693" cy="210426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543482B-DE82-0BCD-9AC0-F041A7F911C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7296837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A382-CB98-84E1-BDE4-1C055552A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DB6B498E-C87A-0F5E-142C-4D594F3AA89D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C1694-80C1-A9F0-5E68-D88BA513DEDC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4F966E-5419-932F-569C-C78C2D6686C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AC922-F6D4-BECE-814E-9094FADE1DF6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94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1C8358-CDC8-3367-05F5-0AC57F444AF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6958483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F5014-C2CE-7AD2-178A-15078A2E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5F7BC42-4D7F-529D-74B0-36DE0DC438BB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4D90258-184D-CC72-47F7-173D24AFCA08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3BCCFC-4C10-02D3-A151-512B9FFDF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69768"/>
            <a:ext cx="9112414" cy="2766112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2EE036-C267-C1BE-ADFE-9079714EE40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42367004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366D-8EA1-8763-88F7-7A28D3A3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C42E08FC-1222-4BF3-43E4-DB20694961A8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F74AE-8854-E7B6-D622-BE4FB2A228CC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2D82AD-0BC3-E558-7365-53972504479D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70E0C-02BC-7938-653F-5FB067EFBD63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96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EA438B-340B-6327-4B12-FB45072C91D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4122211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F630-09BC-6CD3-0595-A6586B820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E790EF46-B1A9-3385-C68B-C17DEF087221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8179A4-BDC1-E38C-9C9E-616618821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58407"/>
              </p:ext>
            </p:extLst>
          </p:nvPr>
        </p:nvGraphicFramePr>
        <p:xfrm>
          <a:off x="2185737" y="1426951"/>
          <a:ext cx="7820525" cy="5017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4005">
                  <a:extLst>
                    <a:ext uri="{9D8B030D-6E8A-4147-A177-3AD203B41FA5}">
                      <a16:colId xmlns:a16="http://schemas.microsoft.com/office/drawing/2014/main" val="1722883405"/>
                    </a:ext>
                  </a:extLst>
                </a:gridCol>
                <a:gridCol w="5176520">
                  <a:extLst>
                    <a:ext uri="{9D8B030D-6E8A-4147-A177-3AD203B41FA5}">
                      <a16:colId xmlns:a16="http://schemas.microsoft.com/office/drawing/2014/main" val="3846339030"/>
                    </a:ext>
                  </a:extLst>
                </a:gridCol>
              </a:tblGrid>
              <a:tr h="361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Method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หน้าที่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548611202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initializeRTI()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สร้าง RTI Ambassador และ Federate Ambassador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1030880571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connect()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เชื่อมต่อกับ RTI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895761001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createFederation()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สร้าง Federation Execution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3321196971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joinFederation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เข้าร่วม Federation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3927285569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initializeHandles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ดึง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Object/Interaction Handles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จาก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FOM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976895470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publishAndSubscribe()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ประกาศข้อมูลที่ต้องการส่งและรับ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576034857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processCallbacks()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ประมวลผล Callback จาก RTI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338532116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runSimulation()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เริ่มต้น Simulation Loop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435130129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resignFederation()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ออกจาก Federation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727791429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disconnect()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ยุติการเชื่อมต่อ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RTI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959543500"/>
                  </a:ext>
                </a:extLst>
              </a:tr>
            </a:tbl>
          </a:graphicData>
        </a:graphic>
      </p:graphicFrame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E6E87BB-AF67-22A7-2A4C-926562362BB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32B75DA-E931-CBDC-AD1F-16DEF71407C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6553080" y="6356520"/>
            <a:ext cx="2133360" cy="364680"/>
          </a:xfrm>
        </p:spPr>
        <p:txBody>
          <a:bodyPr/>
          <a:lstStyle/>
          <a:p>
            <a:fld id="{325B2DBD-C356-4FC8-913A-EBFCF435345F}" type="slidenum">
              <a:rPr lang="en-US" smtClean="0"/>
              <a:t>97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F561EA8-9FAF-4A6F-7740-49F9C3305D5D}"/>
              </a:ext>
            </a:extLst>
          </p:cNvPr>
          <p:cNvSpPr>
            <a:spLocks noGrp="1"/>
          </p:cNvSpPr>
          <p:nvPr>
            <p:ph type="ftr" idx="4294967295"/>
          </p:nvPr>
        </p:nvSpPr>
        <p:spPr>
          <a:xfrm>
            <a:off x="3124080" y="6356520"/>
            <a:ext cx="2895120" cy="364680"/>
          </a:xfrm>
        </p:spPr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210506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3E07-AB15-7B05-F7BE-365F426D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3CDFB807-6771-1311-019C-7380F08C1A0B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BF93DE-AA39-7C59-0D5D-3E5ED7FE215B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DF750C-F069-AEC2-FC12-9F93B6E00A0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B4E98-74DF-520F-C36A-74053B7A163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98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0A54B3-6AB5-A08C-861B-61DFB3B8C405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0781666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1BC7-FFC5-2CD8-5379-B983E708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F70CE72-B729-67E2-2A24-708D18421B4C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E6AAB89-D926-9CB3-B823-869DA5D9E745}"/>
              </a:ext>
            </a:extLst>
          </p:cNvPr>
          <p:cNvSpPr txBox="1">
            <a:spLocks/>
          </p:cNvSpPr>
          <p:nvPr/>
        </p:nvSpPr>
        <p:spPr>
          <a:xfrm>
            <a:off x="589280" y="2038190"/>
            <a:ext cx="2575560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1A8C71E-6EC9-4F9F-75AB-B09F1C4D8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8870" y="1198531"/>
            <a:ext cx="6206490" cy="5366789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4E07BB-C2E0-3C5E-F2E1-DEDBBFDF938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6930885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4255-A0B5-832E-DA58-EEEEA5E6B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9A04B9B-2F0D-2E91-9632-5431BDFF1E98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78BF516-700E-B59A-AC40-A82A3F3D3684}"/>
              </a:ext>
            </a:extLst>
          </p:cNvPr>
          <p:cNvSpPr txBox="1">
            <a:spLocks/>
          </p:cNvSpPr>
          <p:nvPr/>
        </p:nvSpPr>
        <p:spPr>
          <a:xfrm>
            <a:off x="599440" y="1780523"/>
            <a:ext cx="11439194" cy="272536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กระบวนการ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ประกอบด้วย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ลงทะเบียน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announceSynchronizationPoint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ให้สมาชิกที่เกี่ยวข้อง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แต่ละตัวตรวจสอบความพร้อมของตนเอง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เรียก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synchronizationPointAchieved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แจ้ง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federationSynchronized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เมื่อสมาชิกที่อยู่ในขอบเขต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บรรลุเงื่อนไขครบ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ดำเนินการ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Simulation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ต่อได้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FCDFB6A-ECBB-60F8-A50D-879F7D179A5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6560394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E0A9-AE65-85A5-3196-87C927B23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6466D15-7306-3398-F669-69BE14D9C142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6893ED-8F7E-C44D-A394-D6840B7F2D4D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 Methods &amp; Callback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E55700-7074-FD90-9055-A0F454FEC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0082"/>
            <a:ext cx="5049520" cy="11195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681EBB-2FEE-BBFA-6487-6F3338BF8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7132"/>
            <a:ext cx="5001813" cy="1017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67A5C-A973-04A7-1ED3-56CEFF12A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916" y="2296033"/>
            <a:ext cx="4452077" cy="25884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138A93-89AA-4497-1E2D-55FC50FA5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97" y="5182853"/>
            <a:ext cx="4870430" cy="806467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1986DFC-A76E-15AC-2B1E-F5F1D73D1B1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64971508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1940-82BE-F016-CC7E-7656F719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69382CFE-1200-E7F5-DBDF-937445EA65B1}"/>
              </a:ext>
            </a:extLst>
          </p:cNvPr>
          <p:cNvSpPr/>
          <p:nvPr/>
        </p:nvSpPr>
        <p:spPr>
          <a:xfrm>
            <a:off x="457200" y="292680"/>
            <a:ext cx="10511509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Federation Object Model / Simulation Object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BCA93E-FB8E-C3C4-1ECB-B7760DBEFF5D}"/>
              </a:ext>
            </a:extLst>
          </p:cNvPr>
          <p:cNvSpPr txBox="1"/>
          <p:nvPr/>
        </p:nvSpPr>
        <p:spPr>
          <a:xfrm>
            <a:off x="457199" y="1497612"/>
            <a:ext cx="7987553" cy="353943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ตรวจสอบความพร้อม, ลงโปรแกรมที่จำเป็น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เริ่มต้นตั้งค่า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join Federation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disconnect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C31674-59E1-368B-2026-158BB08DCA8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58AC3-DDBA-D8AA-93C8-1972B7FEC8A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102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6767536-0B26-2F24-367B-6D5A2C25E720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6769610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0800-23B7-38CD-8D3D-6851362A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AE4C5D8-5994-335F-2FB3-1F5DC64960EC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0EB4285-E2C8-B67D-CC04-CD2636293077}"/>
              </a:ext>
            </a:extLst>
          </p:cNvPr>
          <p:cNvSpPr txBox="1">
            <a:spLocks/>
          </p:cNvSpPr>
          <p:nvPr/>
        </p:nvSpPr>
        <p:spPr>
          <a:xfrm>
            <a:off x="457200" y="1610611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เสร็จสิ้นการทำงานหรือจำเป็นต้องออกจาก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ควรดำเนินการปิดการทำงานตามลำดับ เพื่อให้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สามารถจัดการทรัพยากรได้อย่างถูกต้อง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A7124-4BB6-20BA-E768-AAE74E49335C}"/>
              </a:ext>
            </a:extLst>
          </p:cNvPr>
          <p:cNvSpPr txBox="1">
            <a:spLocks/>
          </p:cNvSpPr>
          <p:nvPr/>
        </p:nvSpPr>
        <p:spPr>
          <a:xfrm>
            <a:off x="457200" y="2615020"/>
            <a:ext cx="11439194" cy="310335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resignFederationExecution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เพื่อยุติสถานะการเป็นสมาชิกของ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Destroy Federation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กรณีที่ต้องการปิด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Execution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หลังจากไม่มี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อื่นเข้าร่วมแล้ว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 RTI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เรียบร้อยแล้ว จึงยุติการเชื่อมต่อ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5582D0-4B9D-B492-5E49-0F40011B28F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00223432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16E2-D68F-5464-AB4E-C8C751B6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A284A0F-635C-141C-C79B-599DE9AF25F6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3F8946-376E-5F7A-4D58-A07F1F29F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402" y="1969089"/>
            <a:ext cx="6341196" cy="338926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83621D1-E875-5301-1218-C192AA41794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26296475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38B7-8356-E986-9AAE-32D4C6DA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D2425F0-693F-606B-1A58-56C6A08809F2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849908-74B1-F19A-0B54-1B43FBBBB207}"/>
              </a:ext>
            </a:extLst>
          </p:cNvPr>
          <p:cNvSpPr txBox="1">
            <a:spLocks/>
          </p:cNvSpPr>
          <p:nvPr/>
        </p:nvSpPr>
        <p:spPr>
          <a:xfrm>
            <a:off x="563880" y="1872420"/>
            <a:ext cx="8173720" cy="311316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ลำดับการ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Clean-up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ที่แนะนำ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 Stop Simulation Loop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 Delete Objects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 Resign Federation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4. Destroy Federation (Optional)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5. Disconnect RTI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6. Terminate Application</a:t>
            </a:r>
          </a:p>
          <a:p>
            <a:pPr>
              <a:lnSpc>
                <a:spcPct val="90000"/>
              </a:lnSpc>
            </a:pP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29EC04-CF10-1FDE-804A-7E93EBAE902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1170500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C901-E1A1-E12E-04A2-2BF30B31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2025383-382D-7D99-2A8D-222E563F8E52}"/>
              </a:ext>
            </a:extLst>
          </p:cNvPr>
          <p:cNvSpPr/>
          <p:nvPr/>
        </p:nvSpPr>
        <p:spPr>
          <a:xfrm>
            <a:off x="457200" y="292680"/>
            <a:ext cx="658415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เริ่มต้นสร้าง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/ Federation</a:t>
            </a:r>
            <a:endParaRPr lang="th-TH" sz="4800" b="1" dirty="0">
              <a:solidFill>
                <a:schemeClr val="tx2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C2A4EFE-157B-B0E4-4EA3-9C0D28E66E2F}"/>
              </a:ext>
            </a:extLst>
          </p:cNvPr>
          <p:cNvSpPr txBox="1">
            <a:spLocks/>
          </p:cNvSpPr>
          <p:nvPr/>
        </p:nvSpPr>
        <p:spPr>
          <a:xfrm>
            <a:off x="457200" y="1610611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เสร็จสิ้นการทำงานหรือจำเป็นต้องออกจาก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ควรดำเนินการปิดการทำงานตามลำดับ เพื่อให้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สามารถจัดการทรัพยากรได้อย่างถูกต้อง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0235C-A50D-1860-4378-E8EDBE54D531}"/>
              </a:ext>
            </a:extLst>
          </p:cNvPr>
          <p:cNvSpPr txBox="1">
            <a:spLocks/>
          </p:cNvSpPr>
          <p:nvPr/>
        </p:nvSpPr>
        <p:spPr>
          <a:xfrm>
            <a:off x="457200" y="2615020"/>
            <a:ext cx="11439194" cy="310335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Federation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resignFederationExecution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เพื่อยุติสถานะการเป็นสมาชิกของ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Destroy Federation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กรณีที่ต้องการปิด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Execution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หลังจากไม่มี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อื่นเข้าร่วมแล้ว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Disconnect RTI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Resign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เรียบร้อยแล้ว จึงยุติการเชื่อมต่อ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02A6BAE-A69A-1258-7B49-F05BBC54096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62332928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82374-70A2-77E5-3690-A31CD098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5569-F0CA-4749-E3B5-BFDFB40E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170963"/>
            <a:ext cx="9806413" cy="2516073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5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</a:t>
            </a:r>
            <a:b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 </a:t>
            </a:r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915D5E-7483-B762-27B8-1D9D6B062B0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3BE93-8928-09A1-39FC-9DC8C729521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107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230CC1-EF7B-413A-CF82-49FA5448713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7953444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D833-CF6A-AF0F-3008-B6300FAD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A5DBB9E2-348C-7DC0-6943-C3EBD0A29BF5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3F5667-7AD9-FB06-AE4B-D2BAD5A91066}"/>
              </a:ext>
            </a:extLst>
          </p:cNvPr>
          <p:cNvSpPr txBox="1"/>
          <p:nvPr/>
        </p:nvSpPr>
        <p:spPr>
          <a:xfrm>
            <a:off x="457199" y="1497612"/>
            <a:ext cx="7987553" cy="156966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b="1" dirty="0" err="1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FederateAmbassador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CallBack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ที่จำเป็นต่อการใข้งาน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ทดสอบรัน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E3AA5F-A756-7B9F-478B-B99B1549204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A6D17-2661-267C-D0BD-6221AD8AD12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108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88406B2-A63A-84AB-B366-491F8890B03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578087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D4A4-16AD-CFD1-30BD-C0F45FE2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B569473-0984-A4CB-F8B4-1FC53934A664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884D63-37C7-E280-DBA3-62EDAD462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0298" y="1291063"/>
            <a:ext cx="4871403" cy="351027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7431ADD5-6919-D370-DD24-CA700BCD3500}"/>
              </a:ext>
            </a:extLst>
          </p:cNvPr>
          <p:cNvSpPr txBox="1">
            <a:spLocks/>
          </p:cNvSpPr>
          <p:nvPr/>
        </p:nvSpPr>
        <p:spPr>
          <a:xfrm>
            <a:off x="538480" y="4854838"/>
            <a:ext cx="11439194" cy="1552156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Ambassador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เป็นส่วนประกอบสำคัญของ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ทำหน้าที่รับการแจ้งเตือนและข้อมูลจาก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Methods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เมื่อเกิดเหตุการณ์ใน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การประกาศ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หรือการเปลี่ยนแปลง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จะเรียก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ที่เกี่ยวข้องใน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Ambassador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829AB88-A8DA-F254-DE26-515CD9D609C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32676504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9D20-AFB9-4E4B-EA38-B3ED85D2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9010EEA-76D9-E83F-E2F3-0E79007AE463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A5EA327-B415-CC23-DA54-CDF330FBA9A1}"/>
              </a:ext>
            </a:extLst>
          </p:cNvPr>
          <p:cNvSpPr txBox="1">
            <a:spLocks/>
          </p:cNvSpPr>
          <p:nvPr/>
        </p:nvSpPr>
        <p:spPr>
          <a:xfrm>
            <a:off x="376403" y="1802617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โครงสร้างของ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Ambassador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IEEE 1516-2010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โดยสืบทอดจาก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NullFederateAmbassador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ซึ่งมีการเตรียม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ว่างไว้แล้ว ทำให้ผู้พัฒนาสามารถ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Override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เฉพาะ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ที่ต้องการใช้งานได้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F8EAD-17B9-6B76-0986-B9FE737F5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20" y="3017775"/>
            <a:ext cx="3221160" cy="370509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9BCEB98-DCBE-1E57-46FF-4F1AB9BF02D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07350106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D82D-FC0A-1E36-4D85-E6D838E6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5A08311-44CF-DA15-67F7-466BF5B43DFB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EA88A4-FCF9-2361-1C86-4C7BEA0B483C}"/>
              </a:ext>
            </a:extLst>
          </p:cNvPr>
          <p:cNvSpPr txBox="1">
            <a:spLocks/>
          </p:cNvSpPr>
          <p:nvPr/>
        </p:nvSpPr>
        <p:spPr>
          <a:xfrm>
            <a:off x="457200" y="1707131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การกำหนด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Ambassador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ให้กับ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Ambassador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และส่งให้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เมื่อทำการเชื่อมต่อ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A7B2D-AD1E-7F43-BFF4-5C7294634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88" y="3338430"/>
            <a:ext cx="8258618" cy="2052141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43492D-0CFE-2494-6AF1-F1582A540D6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4914778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070B-C744-FBEF-D464-3D6291A0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06DB15D9-7488-D745-3A8D-41CDD7227860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BA66A1-C54A-358B-F223-FA741EC59CC6}"/>
              </a:ext>
            </a:extLst>
          </p:cNvPr>
          <p:cNvSpPr txBox="1"/>
          <p:nvPr/>
        </p:nvSpPr>
        <p:spPr>
          <a:xfrm>
            <a:off x="457199" y="1497612"/>
            <a:ext cx="7987553" cy="156966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FederateAmbassador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ทดสอบรัน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3628F8-7AC0-3678-AFC7-FD1B29EC386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B2457-1832-F919-4D4F-96ED21C2EB33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112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FA48F4B-DA1D-B75D-EF34-DCF3BC12404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16010255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03B90-B180-EA26-9155-AFA1A3C2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0943EE80-2C50-6790-9401-1867F87DF5E8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C544E3-E28D-166E-B26A-2C6A504A8F4E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Callback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EC5BF9-B7DE-F698-4EC4-354E2BF28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27063"/>
              </p:ext>
            </p:extLst>
          </p:nvPr>
        </p:nvGraphicFramePr>
        <p:xfrm>
          <a:off x="1711960" y="2399506"/>
          <a:ext cx="876808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7115">
                  <a:extLst>
                    <a:ext uri="{9D8B030D-6E8A-4147-A177-3AD203B41FA5}">
                      <a16:colId xmlns:a16="http://schemas.microsoft.com/office/drawing/2014/main" val="980020644"/>
                    </a:ext>
                  </a:extLst>
                </a:gridCol>
                <a:gridCol w="3935008">
                  <a:extLst>
                    <a:ext uri="{9D8B030D-6E8A-4147-A177-3AD203B41FA5}">
                      <a16:colId xmlns:a16="http://schemas.microsoft.com/office/drawing/2014/main" val="2694196785"/>
                    </a:ext>
                  </a:extLst>
                </a:gridCol>
                <a:gridCol w="3265957">
                  <a:extLst>
                    <a:ext uri="{9D8B030D-6E8A-4147-A177-3AD203B41FA5}">
                      <a16:colId xmlns:a16="http://schemas.microsoft.com/office/drawing/2014/main" val="335121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รูปแบบ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ลักษณะการทำงาน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ข้อควรพิจารณา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96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HLA_EVOKED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Federate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เรียก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Methods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เพื่อประมวลผล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Callback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ควบคุมลำดับการทำงานได้ง่าย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463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HLA_IMMEDIATE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RTI เรียก Callback ผ่าน Thread ของระบบ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ต้องจัดการ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Thread Safety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อย่างเหมาะสม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432155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817D492-4583-AD51-A9CA-F1B946660B5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3351470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2C9F0-B8EE-0B29-3116-03A1F81F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A71B62A-8DA4-406C-5BAF-140F6D644FDE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77E644-90E1-092A-F372-92447E969540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Management Callbacks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1E03D6-F3F9-B4D6-3E04-CCA54D4A4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86744"/>
              </p:ext>
            </p:extLst>
          </p:nvPr>
        </p:nvGraphicFramePr>
        <p:xfrm>
          <a:off x="1727597" y="2499360"/>
          <a:ext cx="8736806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8886">
                  <a:extLst>
                    <a:ext uri="{9D8B030D-6E8A-4147-A177-3AD203B41FA5}">
                      <a16:colId xmlns:a16="http://schemas.microsoft.com/office/drawing/2014/main" val="1536628843"/>
                    </a:ext>
                  </a:extLst>
                </a:gridCol>
                <a:gridCol w="4947920">
                  <a:extLst>
                    <a:ext uri="{9D8B030D-6E8A-4147-A177-3AD203B41FA5}">
                      <a16:colId xmlns:a16="http://schemas.microsoft.com/office/drawing/2014/main" val="4274165494"/>
                    </a:ext>
                  </a:extLst>
                </a:gridCol>
              </a:tblGrid>
              <a:tr h="3116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หน้าที่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7252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synchronizationPointRegistrationSucceeded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แจ้งว่าลงทะเบียน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Synchronization Point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สำเร็จ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89655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synchronizationPointRegistrationFailed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แจ้งว่าลงทะเบียนไม่สำเร็จ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4444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announceSynchronizationPoint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แจ้งว่ามี Synchronization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1247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federationSynchronized()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แจ้งว่าการ Synchronization เสร็จสิ้นตามขอบเขตที่กำหนด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5573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connectionLost()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แจ้งการสูญเสียการเชื่อมต่อกับ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RTI (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หาก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RTI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รองรับและตรวจพบ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719395"/>
                  </a:ext>
                </a:extLst>
              </a:tr>
            </a:tbl>
          </a:graphicData>
        </a:graphic>
      </p:graphicFrame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EE8D5D0-72EC-CA11-4CD0-16A50C95DD6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03593576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8B99-6089-81E9-74E1-00F1E8E4B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09A6F099-D80F-1353-F0BF-276C13484161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584381-422F-7567-929E-93DE1E7E55EC}"/>
              </a:ext>
            </a:extLst>
          </p:cNvPr>
          <p:cNvSpPr txBox="1">
            <a:spLocks/>
          </p:cNvSpPr>
          <p:nvPr/>
        </p:nvSpPr>
        <p:spPr>
          <a:xfrm>
            <a:off x="457200" y="1826391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Management Callbacks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ใช้สำหรับติดตาม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43D4C7-AEFC-C915-59B8-2068630D2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614846"/>
              </p:ext>
            </p:extLst>
          </p:nvPr>
        </p:nvGraphicFramePr>
        <p:xfrm>
          <a:off x="2753360" y="3044560"/>
          <a:ext cx="7310120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4840">
                  <a:extLst>
                    <a:ext uri="{9D8B030D-6E8A-4147-A177-3AD203B41FA5}">
                      <a16:colId xmlns:a16="http://schemas.microsoft.com/office/drawing/2014/main" val="408118735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24247733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หน้าที่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8308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discoverObjectInstance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ตรวจพบ Object Instance ใหม่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8869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reflectAttributeValues()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รับค่า Attributes ที่ถูก Update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0670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removeObjectInstance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แจ้งการลบ Object Instance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8114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provideAttributeValueUpdate()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แจ้งให้เจ้าของ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Attributes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จัดเตรียมค่าอัปเดต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85903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3A187BD-845C-BA30-BCCA-5E65365045CA}"/>
              </a:ext>
            </a:extLst>
          </p:cNvPr>
          <p:cNvSpPr txBox="1"/>
          <p:nvPr/>
        </p:nvSpPr>
        <p:spPr>
          <a:xfrm>
            <a:off x="1598460" y="5217160"/>
            <a:ext cx="9156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นี้มักเกิดขึ้นเมื่อ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Federate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สมัครรับ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Object Class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ที่เกี่ยวข้อง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และมี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Object Instance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RTI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Federate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มองเห็นได้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9936AB9-6466-C7BF-0112-F956D38D49D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3244243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7B130-1CF9-0F62-B9A9-90700FBE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417514A-A8FD-E7F0-8A51-ECD1910196D6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4ABC4FE-5659-46D6-358D-CF0994F42DD7}"/>
              </a:ext>
            </a:extLst>
          </p:cNvPr>
          <p:cNvSpPr txBox="1">
            <a:spLocks/>
          </p:cNvSpPr>
          <p:nvPr/>
        </p:nvSpPr>
        <p:spPr>
          <a:xfrm>
            <a:off x="457200" y="1416712"/>
            <a:ext cx="11439194" cy="117416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Management Callbacks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ใช้สำหรับรับข้อมูล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อื่นส่งเข้ามา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หลักคือ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B5AF5-98DD-D6E2-97CA-A2D73326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45" y="2885369"/>
            <a:ext cx="4869909" cy="2785217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C06516-07A7-1066-884A-50CF281A7C2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18288911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F3AE-2478-28F3-A950-4A477A2E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55F9E14-FC24-FC2E-9B94-060359E33819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8431D0-CA42-C924-F8D6-9DA0E0F713C2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Management Callbacks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2AAC84-ABA3-E78D-17A8-1E64B4750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18729"/>
              </p:ext>
            </p:extLst>
          </p:nvPr>
        </p:nvGraphicFramePr>
        <p:xfrm>
          <a:off x="2559837" y="2404586"/>
          <a:ext cx="723392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4544089"/>
                    </a:ext>
                  </a:extLst>
                </a:gridCol>
                <a:gridCol w="4490720">
                  <a:extLst>
                    <a:ext uri="{9D8B030D-6E8A-4147-A177-3AD203B41FA5}">
                      <a16:colId xmlns:a16="http://schemas.microsoft.com/office/drawing/2014/main" val="30222477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หน้าที่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299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timeRegulationEnabled()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แจ้งว่าเปิด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Time Regulation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แล้ว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4208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timeConstrainedEnabled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แจ้งว่าเปิด Time Constrained แล้ว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3503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timeAdvanceGrant()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RTI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อนุญาตให้ก้าวหน้าไปยัง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Logical Time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ที่กำหนด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7949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DCBAE7-962A-5DC2-450D-17BEA2F7AB8A}"/>
              </a:ext>
            </a:extLst>
          </p:cNvPr>
          <p:cNvSpPr txBox="1"/>
          <p:nvPr/>
        </p:nvSpPr>
        <p:spPr>
          <a:xfrm>
            <a:off x="3142953" y="4074160"/>
            <a:ext cx="6067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สำหรับการเริ่มต้น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สามารถใช้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Receive Order (RO)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โดยยังไม่เปิด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Time Management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3D89294-855E-2A0D-17B5-27751E9CD5A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05721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1E94-EF54-093A-CFFB-B23827A1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35E69DF-5368-0C2E-4458-9C8AE588F46C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09B6DE5-842F-5DB7-C922-E6E22FA0CC8E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Management Callbacks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C114F2-2CA1-5C72-8EFC-7C2ECEEEC77E}"/>
              </a:ext>
            </a:extLst>
          </p:cNvPr>
          <p:cNvGraphicFramePr>
            <a:graphicFrameLocks noGrp="1"/>
          </p:cNvGraphicFramePr>
          <p:nvPr/>
        </p:nvGraphicFramePr>
        <p:xfrm>
          <a:off x="2559837" y="2404586"/>
          <a:ext cx="723392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4544089"/>
                    </a:ext>
                  </a:extLst>
                </a:gridCol>
                <a:gridCol w="4490720">
                  <a:extLst>
                    <a:ext uri="{9D8B030D-6E8A-4147-A177-3AD203B41FA5}">
                      <a16:colId xmlns:a16="http://schemas.microsoft.com/office/drawing/2014/main" val="30222477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หน้าที่</a:t>
                      </a:r>
                      <a:endParaRPr lang="en-US" sz="20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2993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timeRegulationEnabled()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แจ้งว่าเปิด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Time Regulation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แล้ว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4208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timeConstrainedEnabled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แจ้งว่าเปิด Time Constrained แล้ว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3503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timeAdvanceGrant()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แจ้งว่า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RTI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อนุญาตให้ก้าวหน้าไปยัง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Logical Time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ที่กำหนด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7949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179098-22F2-CD64-9082-692CA9E9D50F}"/>
              </a:ext>
            </a:extLst>
          </p:cNvPr>
          <p:cNvSpPr txBox="1"/>
          <p:nvPr/>
        </p:nvSpPr>
        <p:spPr>
          <a:xfrm>
            <a:off x="3142953" y="4074160"/>
            <a:ext cx="6067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สำหรับการเริ่มต้น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สามารถใช้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Receive Order (RO)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โดยยังไม่เปิด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Time Management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2461C1-82CF-7AEA-C48A-C3021BFBD6B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E65A06-77E9-AD60-57E8-6D0A5EF72F6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6553080" y="6356520"/>
            <a:ext cx="2133360" cy="364680"/>
          </a:xfrm>
        </p:spPr>
        <p:txBody>
          <a:bodyPr/>
          <a:lstStyle/>
          <a:p>
            <a:fld id="{325B2DBD-C356-4FC8-913A-EBFCF435345F}" type="slidenum">
              <a:rPr lang="en-US" smtClean="0"/>
              <a:t>118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142735-C3D7-1277-C755-2AA3E3F988AA}"/>
              </a:ext>
            </a:extLst>
          </p:cNvPr>
          <p:cNvSpPr>
            <a:spLocks noGrp="1"/>
          </p:cNvSpPr>
          <p:nvPr>
            <p:ph type="ftr" idx="4294967295"/>
          </p:nvPr>
        </p:nvSpPr>
        <p:spPr>
          <a:xfrm>
            <a:off x="3124080" y="6356520"/>
            <a:ext cx="2895120" cy="364680"/>
          </a:xfrm>
        </p:spPr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6013746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9EC0-BA36-6057-36C0-B2388510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1B4D9D4A-B95F-EB4B-8F6F-D1B1F085B8E0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FC3A5-30C4-23B1-F1DD-9CB2A575BA12}"/>
              </a:ext>
            </a:extLst>
          </p:cNvPr>
          <p:cNvSpPr txBox="1"/>
          <p:nvPr/>
        </p:nvSpPr>
        <p:spPr>
          <a:xfrm>
            <a:off x="457199" y="1497612"/>
            <a:ext cx="7987553" cy="156966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FederateAmbassador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ต่างๆ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ที่จำเป็นต่อการใช้งาน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ทดสอบรัน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Federate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F9A974-E8D8-9B27-7FB7-F577B30B0F0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D5FC4-19AB-70AB-4232-EE11FD8587E3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119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4040DB-F96F-61B9-0F3E-9636CD3300F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13458874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A9A3-7D98-1C3E-F286-ADE9BC830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16920A2-59CD-F595-F7F2-1EF5C79D6C0F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D1BB247-208A-6074-ED6C-5D86602FA1D3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ทดสอบรับ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Synchronization Point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245E5B-C92F-0A35-89BF-A412AADC5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939" y="2245359"/>
            <a:ext cx="3391221" cy="42545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36FC5A-5FD2-2F0E-1B52-7D5ACFA58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562" y="2245359"/>
            <a:ext cx="2494280" cy="4287448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B028CF2-A0E3-9678-FBE5-8D6E734DF83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ABBC19A-DCD4-530B-CC12-D5A7B4479F8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6553080" y="6356520"/>
            <a:ext cx="2133360" cy="364680"/>
          </a:xfrm>
        </p:spPr>
        <p:txBody>
          <a:bodyPr/>
          <a:lstStyle/>
          <a:p>
            <a:fld id="{325B2DBD-C356-4FC8-913A-EBFCF435345F}" type="slidenum">
              <a:rPr lang="en-US" smtClean="0"/>
              <a:t>120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D39524E-1D21-501A-7DC7-94E9D774D2EE}"/>
              </a:ext>
            </a:extLst>
          </p:cNvPr>
          <p:cNvSpPr>
            <a:spLocks noGrp="1"/>
          </p:cNvSpPr>
          <p:nvPr>
            <p:ph type="ftr" idx="4294967295"/>
          </p:nvPr>
        </p:nvSpPr>
        <p:spPr>
          <a:xfrm>
            <a:off x="3124080" y="6356520"/>
            <a:ext cx="2895120" cy="364680"/>
          </a:xfrm>
        </p:spPr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72023237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3A24-8DFE-02E6-4212-79784873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81ABB68-6810-7BC7-9D2F-A9C876F3145E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038009A-6F85-E74B-3A2E-44F72B49407C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Checklist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A232D1-44D8-8F74-0BF3-A2199B9C1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978"/>
              </p:ext>
            </p:extLst>
          </p:nvPr>
        </p:nvGraphicFramePr>
        <p:xfrm>
          <a:off x="2834640" y="2333680"/>
          <a:ext cx="652272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1360">
                  <a:extLst>
                    <a:ext uri="{9D8B030D-6E8A-4147-A177-3AD203B41FA5}">
                      <a16:colId xmlns:a16="http://schemas.microsoft.com/office/drawing/2014/main" val="3344347032"/>
                    </a:ext>
                  </a:extLst>
                </a:gridCol>
                <a:gridCol w="3261360">
                  <a:extLst>
                    <a:ext uri="{9D8B030D-6E8A-4147-A177-3AD203B41FA5}">
                      <a16:colId xmlns:a16="http://schemas.microsoft.com/office/drawing/2014/main" val="306962382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รายการทดสอบ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ผลลัพธ์ที่ต้องการ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8379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RTI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เชื่อมต่อสำเร็จ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5897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Federation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สร้างหรือพบ Federation เดิม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0679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Federate Join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เข้าร่วม Federation สำเร็จ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89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Callback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ได้รับ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Registration Succeeded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8579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Callback Announcement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ได้รับ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Announce Sync 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3146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Synchronization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ได้รับ Federation Synchronized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0202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Federate Resign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ออกจาก Federation สำเร็จ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5081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RTI Disconnect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ยุติการเชื่อมต่อสำเร็จ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631121"/>
                  </a:ext>
                </a:extLst>
              </a:tr>
            </a:tbl>
          </a:graphicData>
        </a:graphic>
      </p:graphicFrame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C27BF6E-C795-56A1-81F8-091B2B6DCFC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337123983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84A6-CFD4-5AB0-AA8A-F05B60EB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04CFEEE7-1D59-11D4-B523-542E548F9EA7}"/>
              </a:ext>
            </a:extLst>
          </p:cNvPr>
          <p:cNvSpPr/>
          <p:nvPr/>
        </p:nvSpPr>
        <p:spPr>
          <a:xfrm>
            <a:off x="457200" y="292680"/>
            <a:ext cx="1031594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โครงสร้าง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Federate Ambassador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Callback Model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0CC1FD8-033B-0ECB-EE2D-3E2B96084F65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Console Log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0ECF3-5965-1D71-6E89-56E8618CFC49}"/>
              </a:ext>
            </a:extLst>
          </p:cNvPr>
          <p:cNvSpPr txBox="1"/>
          <p:nvPr/>
        </p:nvSpPr>
        <p:spPr>
          <a:xfrm>
            <a:off x="421640" y="2509520"/>
            <a:ext cx="4442242" cy="3785652"/>
          </a:xfrm>
          <a:prstGeom prst="rect">
            <a:avLst/>
          </a:prstGeom>
          <a:solidFill>
            <a:srgbClr val="F5F7FA">
              <a:alpha val="6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[RTI] Connected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[RTI] Federation created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[RTI] Joined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[CALLBACK] Registered: READY_TO_RUN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[CALLBACK] Announced: READY_TO_RUN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[CALLBACK] Synchronized: READY_TO_RUN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[SIM] Ready to run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[RTI] Resigned</a:t>
            </a:r>
          </a:p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[RTI] Disconnected</a:t>
            </a:r>
          </a:p>
          <a:p>
            <a:endParaRPr lang="en-US" sz="24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811CE-BA2A-D590-09CB-BABA32B54430}"/>
              </a:ext>
            </a:extLst>
          </p:cNvPr>
          <p:cNvSpPr txBox="1"/>
          <p:nvPr/>
        </p:nvSpPr>
        <p:spPr>
          <a:xfrm>
            <a:off x="5120640" y="2438400"/>
            <a:ext cx="38201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หากไม่ได้รับ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Callback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ให้ตรวจสอบว่าใช้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Callback Model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ตรงตามที่กำหนดมีการเรียก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evokeMultipleCallbacks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อย่างต่อเนื่อง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Federate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ยังอยู่ในสถานะ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Joined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F3883BC-1EF6-8A0C-9E6C-69655A39EDB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237275679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B299-DD15-D7D1-DC7D-AD740990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95DF-CA54-4D89-E3C5-B8F10C6C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586461"/>
            <a:ext cx="9806413" cy="1685077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6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32109-959B-8A7D-591E-65E568462BF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7980B-6BED-1257-BD4F-541CB913A3E5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123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4EDC08-D67F-86ED-43D3-5115B874283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87289155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14A60-CA38-EDB3-9C21-561A2141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CCDAB44-FA54-DDEB-6C54-3A19E1816ED4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2282AD6-CA3A-0A43-EDB4-04C4815F37B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1874970-73FD-0B82-9216-597341A1C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32796" y="1409260"/>
            <a:ext cx="7302875" cy="50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4609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B22B-03FB-2E0B-0E95-C0885AC6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CA642B4-92F2-F04F-9394-F2E7DD529526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BD4B2F0-615B-950C-C399-08429E749256}"/>
              </a:ext>
            </a:extLst>
          </p:cNvPr>
          <p:cNvSpPr txBox="1">
            <a:spLocks/>
          </p:cNvSpPr>
          <p:nvPr/>
        </p:nvSpPr>
        <p:spPr>
          <a:xfrm>
            <a:off x="457200" y="1804510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การทำงานของ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Declaration Management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แบ่งเป็น 2 รูปแบบหลัก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F22893E-E6AC-F12B-52C2-87DEA55A7B5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58651D-484F-E65E-608C-A7AF3CA81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721772"/>
              </p:ext>
            </p:extLst>
          </p:nvPr>
        </p:nvGraphicFramePr>
        <p:xfrm>
          <a:off x="1613646" y="2885368"/>
          <a:ext cx="8964707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4793">
                  <a:extLst>
                    <a:ext uri="{9D8B030D-6E8A-4147-A177-3AD203B41FA5}">
                      <a16:colId xmlns:a16="http://schemas.microsoft.com/office/drawing/2014/main" val="4253037551"/>
                    </a:ext>
                  </a:extLst>
                </a:gridCol>
                <a:gridCol w="3380231">
                  <a:extLst>
                    <a:ext uri="{9D8B030D-6E8A-4147-A177-3AD203B41FA5}">
                      <a16:colId xmlns:a16="http://schemas.microsoft.com/office/drawing/2014/main" val="2972360388"/>
                    </a:ext>
                  </a:extLst>
                </a:gridCol>
                <a:gridCol w="3509683">
                  <a:extLst>
                    <a:ext uri="{9D8B030D-6E8A-4147-A177-3AD203B41FA5}">
                      <a16:colId xmlns:a16="http://schemas.microsoft.com/office/drawing/2014/main" val="30728227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ประเภท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Subscribe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797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ประกาศ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Attributes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Federate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ต้องการเผยแพร่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เลือก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Object Class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Attributes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ที่ต้องการรับ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92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ประกาศ Interaction Class ที่ต้องการส่ง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เลือก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Interaction Class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ที่ต้องการรับ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62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50325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9524-6E3E-0FC0-5A9C-7832B69AB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6A3634C9-DB1D-4475-15C1-8ACC2E7239BC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B62F17-C3BB-BC31-DC8F-69F379611857}"/>
              </a:ext>
            </a:extLst>
          </p:cNvPr>
          <p:cNvSpPr txBox="1"/>
          <p:nvPr/>
        </p:nvSpPr>
        <p:spPr>
          <a:xfrm>
            <a:off x="457199" y="1497612"/>
            <a:ext cx="8991001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ความสัมพันธ์ระหว่าง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/ Reflect Callback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BA2952A-59D9-9C7D-E5C7-560702D90DA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09FC4-A588-3892-9B94-480DE311C08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F733F76-D5BD-E5CB-D868-06FDB95F3ED7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13450386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FE3E-B3B2-F723-128F-5581DF61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2C5C0CD-86B1-0465-2366-DAA4A04C228E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87E2696-E4E7-0393-C106-3DE80A6AEB61}"/>
              </a:ext>
            </a:extLst>
          </p:cNvPr>
          <p:cNvSpPr txBox="1">
            <a:spLocks/>
          </p:cNvSpPr>
          <p:nvPr/>
        </p:nvSpPr>
        <p:spPr>
          <a:xfrm>
            <a:off x="457200" y="1421617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ObjectClassHandle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Identifier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ใช้อ้างอิง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ซึ่งกำหนดไว้ใน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Object Model (FOM)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ผู้ใช้ไม่จำเป็นต้องจัดการ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ด้วยชื่อ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String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ทุกครั้ง สามารถขอ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และนำไปใช้เรียก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Service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อื่นได้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8A9CCDF-83AF-399A-C77D-C2A513D1B40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ECB10-5B14-88CA-4A9E-6252AFAFC209}"/>
              </a:ext>
            </a:extLst>
          </p:cNvPr>
          <p:cNvSpPr txBox="1">
            <a:spLocks/>
          </p:cNvSpPr>
          <p:nvPr/>
        </p:nvSpPr>
        <p:spPr>
          <a:xfrm>
            <a:off x="457200" y="2681576"/>
            <a:ext cx="11439194" cy="310335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การเรียกใช้งาน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สมมติว่า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HLAobjectRoot.Aircraft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ซึ่งประกอบด้วย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ได้แก่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Position, Velocity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Callsign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ต้องตรงกับ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Hierarchy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ที่กำหนดไว้ใน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และต้องเรียกหลังจาก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เข้าร่วม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สำเร็จแล้ว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9CB4C-C5B6-ACEB-333B-4150AB1C7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332" y="3678911"/>
            <a:ext cx="3491336" cy="97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414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52583-3AA1-DF85-44F3-DB7C977E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AB722F5-C7E5-710C-DF3A-7BDDD5B330F8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12011BC-7C0D-28D8-9041-B7C7C71DCF2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DBDC398-3FF2-3D87-4B4D-0CF6D817B7B1}"/>
              </a:ext>
            </a:extLst>
          </p:cNvPr>
          <p:cNvSpPr txBox="1">
            <a:spLocks/>
          </p:cNvSpPr>
          <p:nvPr/>
        </p:nvSpPr>
        <p:spPr>
          <a:xfrm>
            <a:off x="376403" y="1987773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การเรียกใช้งาน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AttributeHandle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เมื่อได้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 สามารถเรียก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getAttributeHandle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Identifier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แต่ละรายการ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CF5A89-6E5E-BE9E-8507-6FE9E5E3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36" y="3031482"/>
            <a:ext cx="3731382" cy="3154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F2C3CF-A02C-E234-D5C0-DDA75D26A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826" y="3705870"/>
            <a:ext cx="2901770" cy="18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380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1DDD-ECF3-B35A-4855-1632FA5B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4EB6A8A-3936-26EE-ACF1-A6E0068998A7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23400C2-52A5-7E70-BA8E-1B5D8DCE69C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B60470D-7C1B-0F1F-4401-9D3BAF3B62EB}"/>
              </a:ext>
            </a:extLst>
          </p:cNvPr>
          <p:cNvSpPr txBox="1">
            <a:spLocks/>
          </p:cNvSpPr>
          <p:nvPr/>
        </p:nvSpPr>
        <p:spPr>
          <a:xfrm>
            <a:off x="376403" y="1599975"/>
            <a:ext cx="11439194" cy="1939955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การจัดเก็บ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Handles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ควรเก็บ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Fields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เพื่อให้เรียกใช้งานซ้ำได้ โดยไม่จำเป็นต้องเรียกชื่อจาก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ทุกครั้ง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ช่วยให้โค้ดอ่านง่าย และลดความเสี่ยงจากการพิมพ์ชื่อ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ไม่ถูกต้อง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u="sng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ข้อควรระวัง</a:t>
            </a:r>
            <a:r>
              <a:rPr lang="th-TH" sz="2800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ไม่ควร </a:t>
            </a:r>
            <a:r>
              <a:rPr lang="en-US" sz="2800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Hardcode </a:t>
            </a:r>
            <a:r>
              <a:rPr lang="th-TH" sz="2800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ตัวเลขของ </a:t>
            </a:r>
            <a:r>
              <a:rPr lang="en-US" sz="2800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Handle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7EDE4-4620-C4EF-3F68-D6C657A9A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418" y="3758523"/>
            <a:ext cx="4728490" cy="11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279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5CF1C-0F96-E5CF-55DC-794C3127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E65337E6-1446-4FA7-09A8-CA828A5D9C9B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998BA0-59B1-8880-DD0F-3738DD6702AA}"/>
              </a:ext>
            </a:extLst>
          </p:cNvPr>
          <p:cNvSpPr txBox="1"/>
          <p:nvPr/>
        </p:nvSpPr>
        <p:spPr>
          <a:xfrm>
            <a:off x="457199" y="1497612"/>
            <a:ext cx="8991001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b="1" dirty="0" err="1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ความสัมพันธ์ระหว่าง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/ Reflect Callback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E4E3F36-3AD3-D53A-FA92-DB52D9169D4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5CCCB-32FC-4E94-8A28-9A12A0CDDA2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130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AADAE92-3ACB-B908-3508-8C447F2EB071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20184649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A728C-F79B-A7D9-A50F-BCF998A10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6E36098-7FF9-33B8-CA2E-C944E4621643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3465287-5AFE-C20E-4DBC-BCF16D0D9B42}"/>
              </a:ext>
            </a:extLst>
          </p:cNvPr>
          <p:cNvSpPr txBox="1">
            <a:spLocks/>
          </p:cNvSpPr>
          <p:nvPr/>
        </p:nvSpPr>
        <p:spPr>
          <a:xfrm>
            <a:off x="457200" y="1421617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ใช้อ้างอิง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ซึ่งเป็นรูปแบบของข้อมูลหรือเหตุการณ์ที่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ส่งไปยัง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อื่นแตกต่างจาก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ที่ใช้แทน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เหมาะกับการส่งเหตุการณ์หรือคำสั่ง เช่น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FireWeapon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StartMission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TargetDetected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91B26A5-B5BB-C3CC-43E6-A6425AC3BF8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EF518C-CB9E-07B7-5D90-725D7F6427AD}"/>
              </a:ext>
            </a:extLst>
          </p:cNvPr>
          <p:cNvSpPr txBox="1">
            <a:spLocks/>
          </p:cNvSpPr>
          <p:nvPr/>
        </p:nvSpPr>
        <p:spPr>
          <a:xfrm>
            <a:off x="428237" y="2885369"/>
            <a:ext cx="11439194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การเรียกใช้งาน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สมมติว่า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ดังภาพด้านซ้าย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สามารถเรียกใช้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ด้วยคำสั่งดังภาพขวา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35EF-EF34-5128-7E07-88689C67E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76" y="3863237"/>
            <a:ext cx="2828351" cy="1639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38122F-1F56-8D0B-4577-B55124555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07" y="3993717"/>
            <a:ext cx="4893704" cy="129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5150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E417D-8210-2B7B-032C-5C8921F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101FE5F-3524-38A9-360C-D40C799B75F9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7B6B846-BA28-A79E-FD9F-69EFD346F6F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27BAF83-BDE4-2952-5B94-B9307A2E5755}"/>
              </a:ext>
            </a:extLst>
          </p:cNvPr>
          <p:cNvSpPr txBox="1">
            <a:spLocks/>
          </p:cNvSpPr>
          <p:nvPr/>
        </p:nvSpPr>
        <p:spPr>
          <a:xfrm>
            <a:off x="376403" y="2181672"/>
            <a:ext cx="11439194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การเรียกใช้งาน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คือข้อมูลที่ส่งมาพร้อม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สามารถเรียก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Handle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ได้ด้วย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CFD8B-9B3C-D927-C7CC-391B58DF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6" y="3166736"/>
            <a:ext cx="3651485" cy="210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476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F8A-2544-4643-C3A8-495FE412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5C346BF-5D8B-9591-B59C-EA493257F73D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D7BB550-D7C4-7F7B-52A2-27FB7113D33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8957A6-7BAA-8C03-B4EA-4D98928FB7F1}"/>
              </a:ext>
            </a:extLst>
          </p:cNvPr>
          <p:cNvSpPr txBox="1">
            <a:spLocks/>
          </p:cNvSpPr>
          <p:nvPr/>
        </p:nvSpPr>
        <p:spPr>
          <a:xfrm>
            <a:off x="457200" y="1761831"/>
            <a:ext cx="1143919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ความแตกต่างระหว่าง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F55E62-413F-2CA6-C203-DF6C94F71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11610"/>
              </p:ext>
            </p:extLst>
          </p:nvPr>
        </p:nvGraphicFramePr>
        <p:xfrm>
          <a:off x="1430133" y="2507611"/>
          <a:ext cx="82985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621">
                  <a:extLst>
                    <a:ext uri="{9D8B030D-6E8A-4147-A177-3AD203B41FA5}">
                      <a16:colId xmlns:a16="http://schemas.microsoft.com/office/drawing/2014/main" val="3909338411"/>
                    </a:ext>
                  </a:extLst>
                </a:gridCol>
                <a:gridCol w="2953910">
                  <a:extLst>
                    <a:ext uri="{9D8B030D-6E8A-4147-A177-3AD203B41FA5}">
                      <a16:colId xmlns:a16="http://schemas.microsoft.com/office/drawing/2014/main" val="1183942797"/>
                    </a:ext>
                  </a:extLst>
                </a:gridCol>
                <a:gridCol w="3881029">
                  <a:extLst>
                    <a:ext uri="{9D8B030D-6E8A-4147-A177-3AD203B41FA5}">
                      <a16:colId xmlns:a16="http://schemas.microsoft.com/office/drawing/2014/main" val="12774776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คุณสมบัติ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ObjectClassHandle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InteractionClassHandle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816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อ้างอิง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96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ข้อมูลประกอบ</a:t>
                      </a:r>
                      <a:endParaRPr lang="en-US" sz="2400" b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76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การใช้งาน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สถานะของ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เหตุการณ์ / คำสั่ง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132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การส่งข้อมูล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updateAttributeValues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sendInteraction()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352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การรับข้อมูล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reflectAttributeValues()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receiveInteraction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57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 Object Instance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ไม่มี</a:t>
                      </a:r>
                      <a:r>
                        <a:rPr lang="en-US" sz="2400" b="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Persistent Object Instance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928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735937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0253-0EC3-6751-B944-40CEFD07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68BBDE92-0746-F4B3-417C-EC3F0FCE0EA0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CE6F2-300C-160A-673D-A5C0B8D4D831}"/>
              </a:ext>
            </a:extLst>
          </p:cNvPr>
          <p:cNvSpPr txBox="1"/>
          <p:nvPr/>
        </p:nvSpPr>
        <p:spPr>
          <a:xfrm>
            <a:off x="457199" y="1497612"/>
            <a:ext cx="8991001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ความสัมพันธ์ระหว่าง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/ Reflect Callback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FA4593-ECA2-E6BB-5CFD-99971AFF9C8E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1DEA5-5690-8BB7-A396-FDB7EF6DEDB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134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3BE518-83D3-3CA2-7668-C5D10FC46A0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41390182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8AA1-CF27-D42B-2681-88FE2AC6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7D4E10D-28CE-23A7-F5EA-0FD5A953B007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29C8F-87D8-2234-5A74-BC0EAB1099F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B37F50D-912C-FEAE-2047-D750601F0554}"/>
              </a:ext>
            </a:extLst>
          </p:cNvPr>
          <p:cNvSpPr txBox="1">
            <a:spLocks/>
          </p:cNvSpPr>
          <p:nvPr/>
        </p:nvSpPr>
        <p:spPr>
          <a:xfrm>
            <a:off x="376403" y="1987773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เป็นการประกาศต่อ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มีความสามารถและความประสงค์จะเผยแพร่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ที่กำหนด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32C8C-5906-594B-0CC3-AC938EAAD8B5}"/>
              </a:ext>
            </a:extLst>
          </p:cNvPr>
          <p:cNvSpPr txBox="1">
            <a:spLocks/>
          </p:cNvSpPr>
          <p:nvPr/>
        </p:nvSpPr>
        <p:spPr>
          <a:xfrm>
            <a:off x="376403" y="3389149"/>
            <a:ext cx="11439194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AttributeHandleSet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AttributeHandleSet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จัดกลุ่ม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186A76-41D0-8150-D8C1-07CFAB431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3" y="4306486"/>
            <a:ext cx="4679899" cy="1738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80024B-3864-AF2C-F807-79EA59BC2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119" y="4529914"/>
            <a:ext cx="4818414" cy="12916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550152-AD83-4EF4-4AA8-77C1F6E29DB2}"/>
              </a:ext>
            </a:extLst>
          </p:cNvPr>
          <p:cNvSpPr txBox="1"/>
          <p:nvPr/>
        </p:nvSpPr>
        <p:spPr>
          <a:xfrm>
            <a:off x="7253137" y="5858779"/>
            <a:ext cx="1952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Attributes</a:t>
            </a:r>
          </a:p>
        </p:txBody>
      </p:sp>
    </p:spTree>
    <p:extLst>
      <p:ext uri="{BB962C8B-B14F-4D97-AF65-F5344CB8AC3E}">
        <p14:creationId xmlns:p14="http://schemas.microsoft.com/office/powerpoint/2010/main" val="178927814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4256-C3F8-DD0F-E4D5-52EC25FC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DF40490-6A98-5151-DA9F-5336F1D3C72D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D7849A4-2E53-697C-2DE1-6DD7DC8CC49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1B92B29-DB61-0C66-DAAA-8773E1BDF0DA}"/>
              </a:ext>
            </a:extLst>
          </p:cNvPr>
          <p:cNvSpPr txBox="1">
            <a:spLocks/>
          </p:cNvSpPr>
          <p:nvPr/>
        </p:nvSpPr>
        <p:spPr>
          <a:xfrm>
            <a:off x="343303" y="1858175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สำเร็จ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จึงสามารถดำเนินการ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Object 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ที่ประกาศ และส่งข้อมูลของ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ที่ตนมีสิทธิ์อัปเดตได้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FF1BB2-B13E-034D-D269-1A1E247E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974" y="2898163"/>
            <a:ext cx="5932051" cy="150005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0FD000E-751E-CEF8-AAC1-E1FCCB9041C1}"/>
              </a:ext>
            </a:extLst>
          </p:cNvPr>
          <p:cNvSpPr txBox="1">
            <a:spLocks/>
          </p:cNvSpPr>
          <p:nvPr/>
        </p:nvSpPr>
        <p:spPr>
          <a:xfrm>
            <a:off x="343303" y="4738558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คำสั่งนี้สร้าง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และคืน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ObjectInstanceHandle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สำหรับอ้างอิงเครื่องบินที่สร้างขึ้น อย่างไรก็ตามการ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Object Instance </a:t>
            </a:r>
            <a:r>
              <a:rPr lang="th-TH" sz="28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จะยังไม่ได้ส่งค่า </a:t>
            </a:r>
            <a:r>
              <a:rPr lang="en-US" sz="2800" u="sng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ต้องเรียก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updateAttributeValues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เพิ่มเติม ซึ่งจะอยู่ในบทของ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40990859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E5B86-343F-CF78-EDAF-0A947EC1E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EB49EE4F-E7C4-381B-EA9C-D21D806B5F31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E76E1F-C83A-E9AE-6B5F-DD5BB0D3590F}"/>
              </a:ext>
            </a:extLst>
          </p:cNvPr>
          <p:cNvSpPr txBox="1"/>
          <p:nvPr/>
        </p:nvSpPr>
        <p:spPr>
          <a:xfrm>
            <a:off x="457199" y="1497612"/>
            <a:ext cx="8991001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ความสัมพันธ์ระหว่าง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/ Reflect Callback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6B2154-8C90-7B46-569A-0CFC7438154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ABBA6-6907-101E-F3D9-1250CE722697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137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2A6C81-1517-218F-56A8-DFBAEBE6867D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557735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545AA-83B2-34D4-6F1F-D911A62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5F99C6D-EFC5-74E7-EE9E-E8742A8AC364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4CB6F9D-77B4-3BFD-CC35-9EECD74F214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687A53-9B31-74CD-15F6-5E148FA148CA}"/>
              </a:ext>
            </a:extLst>
          </p:cNvPr>
          <p:cNvSpPr txBox="1">
            <a:spLocks/>
          </p:cNvSpPr>
          <p:nvPr/>
        </p:nvSpPr>
        <p:spPr>
          <a:xfrm>
            <a:off x="376403" y="1867406"/>
            <a:ext cx="11439194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เป็นการประกาศความสนใจต่อ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ต้องการรับข้อมูล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ใดจาก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ที่กำหนด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8DE45-4C87-EB8D-AEF5-C378EA7E270C}"/>
              </a:ext>
            </a:extLst>
          </p:cNvPr>
          <p:cNvSpPr txBox="1">
            <a:spLocks/>
          </p:cNvSpPr>
          <p:nvPr/>
        </p:nvSpPr>
        <p:spPr>
          <a:xfrm>
            <a:off x="376403" y="2892308"/>
            <a:ext cx="11439194" cy="38876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AttributeHandleSet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เช่นเดียวกับการ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14E04-88FE-72B3-E6E6-6012719CE141}"/>
              </a:ext>
            </a:extLst>
          </p:cNvPr>
          <p:cNvSpPr txBox="1"/>
          <p:nvPr/>
        </p:nvSpPr>
        <p:spPr>
          <a:xfrm>
            <a:off x="7189029" y="4574638"/>
            <a:ext cx="2186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Attributes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22E5E-1C36-5AB1-50A1-4B1C3D67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3" y="3317491"/>
            <a:ext cx="4940357" cy="1601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207072-DABD-2A6F-EDAE-27BCB1AC6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39675"/>
            <a:ext cx="4372876" cy="103126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2B28F07C-9D52-2935-BF5E-1C02530FA5A7}"/>
              </a:ext>
            </a:extLst>
          </p:cNvPr>
          <p:cNvSpPr txBox="1">
            <a:spLocks/>
          </p:cNvSpPr>
          <p:nvPr/>
        </p:nvSpPr>
        <p:spPr>
          <a:xfrm>
            <a:off x="376403" y="5222477"/>
            <a:ext cx="11439194" cy="78636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หลังจาก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จะพิจารณา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ที่ตรงกับ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Subscription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และแจ้งข้อมูลผ่าน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เมื่อมีเหตุการณ์ที่เกี่ยวข้อง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3379892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5FB5-9917-D712-EDD2-274DBA40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F054136F-F8CB-D44C-0881-9B4AA5B8DAEE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B683E0-544A-1572-8D92-291B7855A1F4}"/>
              </a:ext>
            </a:extLst>
          </p:cNvPr>
          <p:cNvSpPr txBox="1"/>
          <p:nvPr/>
        </p:nvSpPr>
        <p:spPr>
          <a:xfrm>
            <a:off x="457199" y="1497612"/>
            <a:ext cx="8991001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ความสัมพันธ์ระหว่าง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Discover / Reflect Callback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49F138-F73F-EE82-DED8-C39518781E1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9A7A1-3F70-D462-D37B-C336E7D3C946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139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5FD51B-FBB3-EFE3-F6F2-F66A06E1243C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01593718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B2AD-7658-B783-4D58-2AB882F3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1C7A77D-5A63-2EA3-DEA8-A1A9AA9A7521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398C6B0-9598-F6C0-2CBD-23544F0920B5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F2FDC3A-C807-46BB-BD38-E3226AFBCE14}"/>
              </a:ext>
            </a:extLst>
          </p:cNvPr>
          <p:cNvSpPr txBox="1">
            <a:spLocks/>
          </p:cNvSpPr>
          <p:nvPr/>
        </p:nvSpPr>
        <p:spPr>
          <a:xfrm>
            <a:off x="457200" y="1877066"/>
            <a:ext cx="5813382" cy="2327753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มีความสัมพันธ์โดยตรงกับ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สองรายการสำคัญ ได้แก่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discoverObjectInstance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ใช้แจ้งว่า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ตรวจพบ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Instance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ที่เกี่ยวข้อง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reflectAttributeValues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ใช้แจ้งว่า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ได้รับค่า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ที่ถูกส่งมาจาก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950935D-9662-F555-FCBB-95DFFC73B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98795" y="1072159"/>
            <a:ext cx="5638800" cy="528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5131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8C96F-BD73-1BAA-3FF9-5D21F815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C9F244B-6F23-8453-C43D-001A837B02B2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BFD665B-1C6D-4930-9ECD-E63048F97D2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F427A8C-2112-EFA6-99A0-0D18BF7AE76D}"/>
              </a:ext>
            </a:extLst>
          </p:cNvPr>
          <p:cNvSpPr txBox="1">
            <a:spLocks/>
          </p:cNvSpPr>
          <p:nvPr/>
        </p:nvSpPr>
        <p:spPr>
          <a:xfrm>
            <a:off x="376403" y="1856699"/>
            <a:ext cx="11439194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Object Instance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FederateAmbassador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Override Callback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ดังนี้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BE2C0-FFC7-CAAC-B964-A6D0168A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6" y="3147310"/>
            <a:ext cx="4873437" cy="2695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494F00-B4DC-3936-4422-0063336B1093}"/>
              </a:ext>
            </a:extLst>
          </p:cNvPr>
          <p:cNvSpPr txBox="1"/>
          <p:nvPr/>
        </p:nvSpPr>
        <p:spPr>
          <a:xfrm>
            <a:off x="5756115" y="3648524"/>
            <a:ext cx="5954105" cy="1938992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นี้ทำให้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Subscriber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ทราบว่า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Object Instance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ใดปรากฏอยู่ภายใน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Federation</a:t>
            </a:r>
          </a:p>
          <a:p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ควรจัดเก็บ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ObjectInstanceHandle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เพื่อใช้อ้างอิง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Object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ในการรับข้อมูลครั้งต่อไป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8152499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DD61-CB83-00E7-F357-AA6286E7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6A7914F-4F2F-6647-E9E3-4D7DBC856C53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72655A6-E2EF-5F22-DF84-BF450129D4E2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560F360-345A-81C5-9806-8C9BC716B45C}"/>
              </a:ext>
            </a:extLst>
          </p:cNvPr>
          <p:cNvSpPr txBox="1">
            <a:spLocks/>
          </p:cNvSpPr>
          <p:nvPr/>
        </p:nvSpPr>
        <p:spPr>
          <a:xfrm>
            <a:off x="376403" y="1725926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Reflect Attribute Values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ใหม่เข้ามา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จะเรียก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reflectAttributeValues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Subscription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ตรงกับข้อมูล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E9850-CCDF-285E-D464-6E0E39A8F306}"/>
              </a:ext>
            </a:extLst>
          </p:cNvPr>
          <p:cNvSpPr txBox="1"/>
          <p:nvPr/>
        </p:nvSpPr>
        <p:spPr>
          <a:xfrm>
            <a:off x="5549638" y="3273493"/>
            <a:ext cx="5954105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ค่าที่รับได้มีรูปแบบเป็น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byte[]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จึงต้อง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ที่กำหนดไว้ใน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เช่น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HLAfloat64BE, HLAinteger32BE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HLAunicodeString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นั้น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ไม่ได้สร้าง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หรือส่ง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Update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 อีกทั้ง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Subscriber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อาจได้รับข้อมูลบาง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เท่านั้น ขึ้นอยู่กับ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Publisher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ส่งจริงและเงื่อนไขการรับข้อมูล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B0385-73F0-1DC4-92F9-B3C2E6A8C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73" y="2890284"/>
            <a:ext cx="3925912" cy="376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8368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7F8E-5CBD-ACFA-1CEA-957C27E5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12B1A681-FCFE-3B8B-23D5-E3E65DCE7703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59487-24D0-E88B-2DC3-E308D22076A8}"/>
              </a:ext>
            </a:extLst>
          </p:cNvPr>
          <p:cNvSpPr txBox="1"/>
          <p:nvPr/>
        </p:nvSpPr>
        <p:spPr>
          <a:xfrm>
            <a:off x="457199" y="1497612"/>
            <a:ext cx="8991001" cy="304698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ObjectClassHandle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การใช้งานและจัดการ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InteractionClassHandle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Object Class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ความสัมพันธ์ระหว่าง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กับ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/ Reflect Callback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2FF84B-07D5-D34E-D306-87F98D10C9D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ABFBD-A724-6D7D-E6B1-190DD060672B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143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DAE4CB2-0EB3-6167-416F-9C93FDBB318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406450403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6046-1781-EC69-6704-C4F0E8B5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C63B792-2B90-A2EA-6ED0-76B4DE96EDD5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9856FC4-86AE-A023-E21D-80D7CB475DE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50465F5-0B29-5AB1-E31A-1DB0D29F9334}"/>
              </a:ext>
            </a:extLst>
          </p:cNvPr>
          <p:cNvSpPr txBox="1">
            <a:spLocks/>
          </p:cNvSpPr>
          <p:nvPr/>
        </p:nvSpPr>
        <p:spPr>
          <a:xfrm>
            <a:off x="405366" y="1753016"/>
            <a:ext cx="11439194" cy="2715552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การประกาศ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จะทำในระดับ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Class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โดยไม่จำเป็นต้องเลือก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เป็นรายตัวเหมือน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Class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Aircraft 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WeaponFire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Command 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WeaponFire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7428916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F853-8A1F-4B46-4E4C-BE3C471A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D43DBCA-3177-7582-20D7-46546DD1F2A8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0F459D7-B985-BE41-34AC-0CD83AA275A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6AF56BD-CA2B-8DF1-4AA1-A8F4F60BA4CC}"/>
              </a:ext>
            </a:extLst>
          </p:cNvPr>
          <p:cNvSpPr txBox="1">
            <a:spLocks/>
          </p:cNvSpPr>
          <p:nvPr/>
        </p:nvSpPr>
        <p:spPr>
          <a:xfrm>
            <a:off x="376403" y="1901942"/>
            <a:ext cx="528377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Interaction Class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D247A-A1B5-1F08-5E4F-877716C06F2E}"/>
              </a:ext>
            </a:extLst>
          </p:cNvPr>
          <p:cNvSpPr txBox="1">
            <a:spLocks/>
          </p:cNvSpPr>
          <p:nvPr/>
        </p:nvSpPr>
        <p:spPr>
          <a:xfrm>
            <a:off x="6096000" y="1901942"/>
            <a:ext cx="5600298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Interaction Class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53291-5B66-E57D-014A-6D72DCB86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2" y="2392253"/>
            <a:ext cx="5391133" cy="2406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D41B74-DB40-8FCA-451A-262091F28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55658"/>
            <a:ext cx="5098117" cy="2342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61C641-2A94-0BBD-4724-C1FA4B64B588}"/>
              </a:ext>
            </a:extLst>
          </p:cNvPr>
          <p:cNvSpPr txBox="1"/>
          <p:nvPr/>
        </p:nvSpPr>
        <p:spPr>
          <a:xfrm>
            <a:off x="315466" y="4836804"/>
            <a:ext cx="540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สำเร็จ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จึงสามารถส่ง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7817A-0A5D-0D51-1317-2EE6D14808C6}"/>
              </a:ext>
            </a:extLst>
          </p:cNvPr>
          <p:cNvSpPr txBox="1"/>
          <p:nvPr/>
        </p:nvSpPr>
        <p:spPr>
          <a:xfrm>
            <a:off x="5993195" y="4836804"/>
            <a:ext cx="5805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ถูกส่งจาก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และตรงกับ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Subscription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ผู้รับ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จะเรียก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6551411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D7366-AA63-9F7D-2478-43307427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1C4837B-9099-5C4D-2F9B-7223DEF6B89F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3B801C3-8445-D876-AE3B-D5B1799523F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CD3E6E4-799A-072E-BC75-388CE7EBD084}"/>
              </a:ext>
            </a:extLst>
          </p:cNvPr>
          <p:cNvSpPr txBox="1">
            <a:spLocks/>
          </p:cNvSpPr>
          <p:nvPr/>
        </p:nvSpPr>
        <p:spPr>
          <a:xfrm>
            <a:off x="376402" y="1901942"/>
            <a:ext cx="3972169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ตัวอย่างการส่ง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F66CF6-0C80-C881-6B77-C62472D80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2" y="2410870"/>
            <a:ext cx="4381787" cy="3819307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41A944AD-9387-421A-86C9-92B914E21463}"/>
              </a:ext>
            </a:extLst>
          </p:cNvPr>
          <p:cNvSpPr txBox="1">
            <a:spLocks/>
          </p:cNvSpPr>
          <p:nvPr/>
        </p:nvSpPr>
        <p:spPr>
          <a:xfrm>
            <a:off x="5415258" y="1901942"/>
            <a:ext cx="4254212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ตัวอย่างการรับ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Callback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1BB1810-1AC7-5A99-43E9-2190AF515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258" y="2410870"/>
            <a:ext cx="4469365" cy="280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0234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7C7FE-C593-A91B-437C-B858C0FD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20C79E7B-3F1D-E8FE-40CE-CCCE3F5F83C4}"/>
              </a:ext>
            </a:extLst>
          </p:cNvPr>
          <p:cNvSpPr/>
          <p:nvPr/>
        </p:nvSpPr>
        <p:spPr>
          <a:xfrm>
            <a:off x="457200" y="292680"/>
            <a:ext cx="512221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Declaration Management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B70EC6-CDE5-4492-BAAD-79105165EF7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9AE5F90-637C-1819-6957-7D521766188E}"/>
              </a:ext>
            </a:extLst>
          </p:cNvPr>
          <p:cNvSpPr txBox="1">
            <a:spLocks/>
          </p:cNvSpPr>
          <p:nvPr/>
        </p:nvSpPr>
        <p:spPr>
          <a:xfrm>
            <a:off x="376402" y="1901942"/>
            <a:ext cx="11001879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เปรียบเทียบการแลกเปลี่ยน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5D063F-F081-6263-792B-B37FAD552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41013"/>
              </p:ext>
            </p:extLst>
          </p:nvPr>
        </p:nvGraphicFramePr>
        <p:xfrm>
          <a:off x="1895001" y="2499336"/>
          <a:ext cx="8401998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3948">
                  <a:extLst>
                    <a:ext uri="{9D8B030D-6E8A-4147-A177-3AD203B41FA5}">
                      <a16:colId xmlns:a16="http://schemas.microsoft.com/office/drawing/2014/main" val="52550701"/>
                    </a:ext>
                  </a:extLst>
                </a:gridCol>
                <a:gridCol w="3268670">
                  <a:extLst>
                    <a:ext uri="{9D8B030D-6E8A-4147-A177-3AD203B41FA5}">
                      <a16:colId xmlns:a16="http://schemas.microsoft.com/office/drawing/2014/main" val="511104615"/>
                    </a:ext>
                  </a:extLst>
                </a:gridCol>
                <a:gridCol w="3049380">
                  <a:extLst>
                    <a:ext uri="{9D8B030D-6E8A-4147-A177-3AD203B41FA5}">
                      <a16:colId xmlns:a16="http://schemas.microsoft.com/office/drawing/2014/main" val="3464014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หัวข้อ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7105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Class + Attribute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491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Subscribe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Class + Attribute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Interaction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222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การส่ง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updateAttributeValues()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sendInteraction()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606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การรับ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reflectAttributeValues()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receiveInteraction()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67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การสร้าง</a:t>
                      </a: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Instance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ต้อง Register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ไม่ต้อง Register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739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รูปแบบข้อมูล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Object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Event / Message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19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09212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F799-2DCC-6001-AED1-F7396E90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0B3D-9677-9F69-24E3-0779F8DD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586461"/>
            <a:ext cx="9806413" cy="1685077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7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E1F818-49F4-D05F-F046-D75CDB99937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3FAC0-4789-ECCB-DC9E-378EC4FFEAE8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148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6745667-BD79-8127-1B4B-C09FBC8B4225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9945494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BB3D-8862-E368-F598-A9604885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68D4992C-D81B-F016-5823-D5F6F616B08A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0EFA86-88D6-4D67-7C09-79CA79DAD65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48592-84F0-7242-26A7-CCD8049076FE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149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02A290C-768F-B4B0-72A0-23604091FB5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3CD93E-F85B-9ABA-B071-2FB3001C14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7220" y="1560009"/>
            <a:ext cx="7597560" cy="458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4382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B1EB-C7D2-37A1-BCA5-B3367DD3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BDE6AC64-9FB5-B962-0AA6-0D011FE652B5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C8218-B5CC-5A4E-9734-2310644BC399}"/>
              </a:ext>
            </a:extLst>
          </p:cNvPr>
          <p:cNvSpPr txBox="1"/>
          <p:nvPr/>
        </p:nvSpPr>
        <p:spPr>
          <a:xfrm>
            <a:off x="457199" y="1485199"/>
            <a:ext cx="8991001" cy="107721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Class Encoder / Decoder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/ Decoding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52FDAE-6805-7572-CBF1-03E1267103A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3EA34-5B85-A518-8410-4F5C2115F53D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150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5CC3FF-6D8D-C967-4ABA-9C2EC8D66465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87614443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CB72E-B12E-04A0-E9DB-B368D914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0A0741C9-0985-0CD5-F917-EC3F9F09AAF3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DFDE2C-3D42-75CB-4798-D507B4DD31F9}"/>
              </a:ext>
            </a:extLst>
          </p:cNvPr>
          <p:cNvSpPr txBox="1">
            <a:spLocks/>
          </p:cNvSpPr>
          <p:nvPr/>
        </p:nvSpPr>
        <p:spPr>
          <a:xfrm>
            <a:off x="457200" y="1819917"/>
            <a:ext cx="11439194" cy="310335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Encoder / Decoder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HLA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กำหนดรูปแบบการเข้ารหัสข้อมูลผ่าน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Data Encoding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ตามมาตรฐาน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IEEE 1516.2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โดยมีชนิดข้อมูลพื้นฐานและโครงสร้างข้อมูลแบบ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Composite</a:t>
            </a:r>
          </a:p>
          <a:p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Encoding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เป็นกระบวนการสำคัญในการแลกเปลี่ยนข้อมูลระหว่าง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โดยมีหน้าที่แปลงข้อมูลจากชนิดข้อมูลที่ใช้ในโปรแกรม 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int, double, String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ให้กลายเป็นข้อมูลไบนารี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byte[])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และแปลงกลับเป็นข้อมูลต้นฉบับเมื่อได้รับจาก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</a:t>
            </a:r>
          </a:p>
          <a:p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CB9EDBC-4C87-B8A9-B331-A8207B47868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6266198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9843-947C-CD81-CDED-5DA0B756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227E6CEB-D490-1AB8-5FC6-9F36C60565AC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6201894-7D55-7D91-DC5D-4D5ED530070C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DCB088-F62C-6A50-8BE3-5DFBBC584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29249"/>
              </p:ext>
            </p:extLst>
          </p:nvPr>
        </p:nvGraphicFramePr>
        <p:xfrm>
          <a:off x="1337217" y="1521320"/>
          <a:ext cx="9517566" cy="5017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4068">
                  <a:extLst>
                    <a:ext uri="{9D8B030D-6E8A-4147-A177-3AD203B41FA5}">
                      <a16:colId xmlns:a16="http://schemas.microsoft.com/office/drawing/2014/main" val="2776189879"/>
                    </a:ext>
                  </a:extLst>
                </a:gridCol>
                <a:gridCol w="2863189">
                  <a:extLst>
                    <a:ext uri="{9D8B030D-6E8A-4147-A177-3AD203B41FA5}">
                      <a16:colId xmlns:a16="http://schemas.microsoft.com/office/drawing/2014/main" val="344885234"/>
                    </a:ext>
                  </a:extLst>
                </a:gridCol>
                <a:gridCol w="4220309">
                  <a:extLst>
                    <a:ext uri="{9D8B030D-6E8A-4147-A177-3AD203B41FA5}">
                      <a16:colId xmlns:a16="http://schemas.microsoft.com/office/drawing/2014/main" val="2029446735"/>
                    </a:ext>
                  </a:extLst>
                </a:gridCol>
              </a:tblGrid>
              <a:tr h="3615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 Data Type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Java Type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รายละเอียด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1506345246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HLAinteger16BE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short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Integer 16-bit, Big-endian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719817825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HLAinteger32BE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Integer 32-bit, Big-endian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1191877991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HLAinteger64BE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long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Integer 64-bit, Big-endian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3566451612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HLAfloat32BE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float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Floating-point 32-bit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3841354119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HLAfloat64BE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double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Floating-point 64-bit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4052197187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HLAboolean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boolean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Boolean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212648448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String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Unicode String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1442606638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HLAfixedRecord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Composite Object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ชุดข้อมูลที่มีโครงสร้างตายตัว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465119313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HLAfixedArray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Array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Array ขนาดคงที่</a:t>
                      </a: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154269691"/>
                  </a:ext>
                </a:extLst>
              </a:tr>
              <a:tr h="36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HLAvariableArray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Array / List</a:t>
                      </a:r>
                    </a:p>
                  </a:txBody>
                  <a:tcPr marL="90379" marR="90379" marT="45190" marB="451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Array </a:t>
                      </a:r>
                      <a:r>
                        <a:rPr lang="en-US" sz="24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ขนาดเปลี่ยนแปลงได้</a:t>
                      </a:r>
                      <a:endParaRPr lang="en-US" sz="24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0379" marR="90379" marT="45190" marB="45190" anchor="ctr"/>
                </a:tc>
                <a:extLst>
                  <a:ext uri="{0D108BD9-81ED-4DB2-BD59-A6C34878D82A}">
                    <a16:rowId xmlns:a16="http://schemas.microsoft.com/office/drawing/2014/main" val="2494056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47936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3000-7B7E-9A41-B0D2-0640897E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5DA8BAD-8CFE-7575-AD2A-B118CCFDA1AA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C62A2D8-68E2-B0CF-8323-A4253CE0BD06}"/>
              </a:ext>
            </a:extLst>
          </p:cNvPr>
          <p:cNvSpPr txBox="1">
            <a:spLocks/>
          </p:cNvSpPr>
          <p:nvPr/>
        </p:nvSpPr>
        <p:spPr>
          <a:xfrm>
            <a:off x="457200" y="1819917"/>
            <a:ext cx="11439194" cy="310335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Encoder / Decoder</a:t>
            </a: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HLA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กำหนดรูปแบบการเข้ารหัสข้อมูลผ่าน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HLA Data Encoding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ตามมาตรฐาน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IEEE 1516.2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โดยมีชนิดข้อมูลพื้นฐานและโครงสร้างข้อมูลแบบ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Composite</a:t>
            </a:r>
          </a:p>
          <a:p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Encoding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เป็นกระบวนการสำคัญในการแลกเปลี่ยนข้อมูลระหว่าง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โดยมีหน้าที่แปลงข้อมูลจากชนิดข้อมูลที่ใช้ในโปรแกรม เช่น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int, double, String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ให้กลายเป็นข้อมูลไบนารี (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byte[])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และแปลงกลับเป็นข้อมูลต้นฉบับเมื่อได้รับจาก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</a:t>
            </a:r>
          </a:p>
          <a:p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4CB8A2C-7852-9C15-E78E-DCD6FF6FC41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6474507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931F-28A1-E451-4B9F-E36636AD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3C11B5F-DD26-BD45-F7AD-16613EE12283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FEA2EE6-7D56-039E-BEBD-C4BDB35A758F}"/>
              </a:ext>
            </a:extLst>
          </p:cNvPr>
          <p:cNvSpPr txBox="1">
            <a:spLocks/>
          </p:cNvSpPr>
          <p:nvPr/>
        </p:nvSpPr>
        <p:spPr>
          <a:xfrm>
            <a:off x="446106" y="1722770"/>
            <a:ext cx="4826460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/ Decoding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00499D6E-1453-802E-A00A-9B45A6D5D7F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072FB-F46E-F628-DCAB-4B139317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1613"/>
            <a:ext cx="3580970" cy="1518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43C6DD-78C5-C1DB-D681-2B036CB29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962" y="1335969"/>
            <a:ext cx="3530781" cy="3702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4BBC20-D432-2561-B9B6-50817562F3C3}"/>
              </a:ext>
            </a:extLst>
          </p:cNvPr>
          <p:cNvSpPr txBox="1"/>
          <p:nvPr/>
        </p:nvSpPr>
        <p:spPr>
          <a:xfrm>
            <a:off x="4725549" y="5156191"/>
            <a:ext cx="7093609" cy="1200329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จากตัวอย่าง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Methods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นี้มีหน้าที่หลัก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2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lvl="0"/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รับข้อมูลจาก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Java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แล้วแปลงเป็น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byte[]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toByteArray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lvl="0"/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Decoder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รับ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byte[]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แล้วเรียก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decode()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getValue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เพื่อแปลงเป็นข้อมูล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Java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CC55F-C922-AE78-F9B2-19B6E4CBD429}"/>
              </a:ext>
            </a:extLst>
          </p:cNvPr>
          <p:cNvSpPr txBox="1"/>
          <p:nvPr/>
        </p:nvSpPr>
        <p:spPr>
          <a:xfrm>
            <a:off x="388930" y="4071441"/>
            <a:ext cx="373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Factory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นี้สามารถใช้สร้าง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HLAfloat64BE, HLAinteger32BE,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HLAunicodeString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Data Elements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ๆ</a:t>
            </a:r>
          </a:p>
        </p:txBody>
      </p:sp>
    </p:spTree>
    <p:extLst>
      <p:ext uri="{BB962C8B-B14F-4D97-AF65-F5344CB8AC3E}">
        <p14:creationId xmlns:p14="http://schemas.microsoft.com/office/powerpoint/2010/main" val="226611803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7568-F2EA-0939-CC49-51056A9D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DB92457-AB2A-F87A-DE12-42187F507A55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0B7EF36-FB08-0B83-419F-64FD6DDA5C05}"/>
              </a:ext>
            </a:extLst>
          </p:cNvPr>
          <p:cNvSpPr txBox="1">
            <a:spLocks/>
          </p:cNvSpPr>
          <p:nvPr/>
        </p:nvSpPr>
        <p:spPr>
          <a:xfrm>
            <a:off x="376403" y="1943381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Encoder / Decoder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สำหรับข้อมูลแบบ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Composite</a:t>
            </a:r>
          </a:p>
          <a:p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Position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เป็นโครงสร้างข้อมูลที่ประกอบด้วย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Latitude, Longitude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Altitude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HLAfixedRecord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EE5D767-7C4A-8E5A-1E04-42FF2CDD83E4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C8B35-A80A-7077-7EAD-24F2D801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3" y="3281103"/>
            <a:ext cx="3629881" cy="1303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0C5BD7-93F2-7CB1-B87E-D789EED8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589" y="3281103"/>
            <a:ext cx="2825848" cy="154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3760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6174-AF6B-81DD-D7F8-87C16155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E8594BC-D5D4-1CC9-45B2-CA83B532419B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56142E3-CC68-D85E-92A9-FFAE5EDBD518}"/>
              </a:ext>
            </a:extLst>
          </p:cNvPr>
          <p:cNvSpPr txBox="1">
            <a:spLocks/>
          </p:cNvSpPr>
          <p:nvPr/>
        </p:nvSpPr>
        <p:spPr>
          <a:xfrm>
            <a:off x="457200" y="1565785"/>
            <a:ext cx="3589330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D26DF32-432E-1A3D-D10E-658038E2903D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B293B6-04FD-D059-A1B1-10C84D0B5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5434"/>
            <a:ext cx="4235668" cy="3702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8E9138-2DE2-D8B4-BC05-0904C55DD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893" y="2026419"/>
            <a:ext cx="3112849" cy="4494394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1E99990-05E7-E72E-241E-785E43FECF8F}"/>
              </a:ext>
            </a:extLst>
          </p:cNvPr>
          <p:cNvSpPr txBox="1">
            <a:spLocks/>
          </p:cNvSpPr>
          <p:nvPr/>
        </p:nvSpPr>
        <p:spPr>
          <a:xfrm>
            <a:off x="5451893" y="1565786"/>
            <a:ext cx="3589330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Method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Decode</a:t>
            </a:r>
            <a:endParaRPr lang="th-TH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3255C9-3CE3-2A2C-74AA-FBC83AAC0546}"/>
              </a:ext>
            </a:extLst>
          </p:cNvPr>
          <p:cNvSpPr txBox="1"/>
          <p:nvPr/>
        </p:nvSpPr>
        <p:spPr>
          <a:xfrm>
            <a:off x="8701724" y="5215421"/>
            <a:ext cx="3222714" cy="1323439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ในกรณีนี้ลำดับ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Fields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ที่เพิ่มเข้า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HLAfixedRecord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ต้องตรงกับที่กำหนดใน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FOM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เพราะลำดับมีผลโดยตรงต่อการ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Encode/Decode</a:t>
            </a:r>
          </a:p>
        </p:txBody>
      </p:sp>
    </p:spTree>
    <p:extLst>
      <p:ext uri="{BB962C8B-B14F-4D97-AF65-F5344CB8AC3E}">
        <p14:creationId xmlns:p14="http://schemas.microsoft.com/office/powerpoint/2010/main" val="126690209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656A-579D-C5CB-C79B-0EB38315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9C030542-827B-DB29-A028-CADE160DCDB5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EDA42-872F-FCC0-D01F-CC08670A203E}"/>
              </a:ext>
            </a:extLst>
          </p:cNvPr>
          <p:cNvSpPr txBox="1"/>
          <p:nvPr/>
        </p:nvSpPr>
        <p:spPr>
          <a:xfrm>
            <a:off x="457199" y="1485199"/>
            <a:ext cx="8991001" cy="1077218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การสร้าง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Class Encoder / Decoder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Encoding / Decoding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82AD44-EAD7-6803-1A31-C05CA188706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0B3DB-7706-A7A4-3615-CBBAE6FDE2F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157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52E730-D9CB-E91C-9906-6273EF98E66C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71504091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E41B-A6B7-B980-BF7B-6C7668CC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7693968C-8A39-C180-F7F5-DA974A010167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581DBB-DAB4-01C3-2501-9C6517013AB9}"/>
              </a:ext>
            </a:extLst>
          </p:cNvPr>
          <p:cNvSpPr txBox="1">
            <a:spLocks/>
          </p:cNvSpPr>
          <p:nvPr/>
        </p:nvSpPr>
        <p:spPr>
          <a:xfrm>
            <a:off x="457200" y="1776881"/>
            <a:ext cx="11439194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ข้อมูลก่อนส่งผ่าน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Aircraft Federate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ต้องการส่งข้อมูลดังนี้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0023C59-31CD-408A-F674-22DAD51CC2C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C0AFCE-D9BC-5F40-EBA7-6D386F65F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928134"/>
              </p:ext>
            </p:extLst>
          </p:nvPr>
        </p:nvGraphicFramePr>
        <p:xfrm>
          <a:off x="1638155" y="2956949"/>
          <a:ext cx="837303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1012">
                  <a:extLst>
                    <a:ext uri="{9D8B030D-6E8A-4147-A177-3AD203B41FA5}">
                      <a16:colId xmlns:a16="http://schemas.microsoft.com/office/drawing/2014/main" val="2389452656"/>
                    </a:ext>
                  </a:extLst>
                </a:gridCol>
                <a:gridCol w="2791012">
                  <a:extLst>
                    <a:ext uri="{9D8B030D-6E8A-4147-A177-3AD203B41FA5}">
                      <a16:colId xmlns:a16="http://schemas.microsoft.com/office/drawing/2014/main" val="1656470745"/>
                    </a:ext>
                  </a:extLst>
                </a:gridCol>
                <a:gridCol w="2791012">
                  <a:extLst>
                    <a:ext uri="{9D8B030D-6E8A-4147-A177-3AD203B41FA5}">
                      <a16:colId xmlns:a16="http://schemas.microsoft.com/office/drawing/2014/main" val="1052552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 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ตัวอย่างค่า</a:t>
                      </a:r>
                      <a:endParaRPr lang="en-US" sz="2400" b="1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147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PositionStruct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16.44, 102.83, 1500.0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2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Velocity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HLAfloat64BE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250.5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410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Callsign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HLAunicodeString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FALCON01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631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91534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6484-3223-F1C1-E459-10AA9A0B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450C3FE-0654-8256-41A4-CB5BB533EE4D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E564D6-EFB5-099D-8521-AD0957677F03}"/>
              </a:ext>
            </a:extLst>
          </p:cNvPr>
          <p:cNvSpPr txBox="1">
            <a:spLocks/>
          </p:cNvSpPr>
          <p:nvPr/>
        </p:nvSpPr>
        <p:spPr>
          <a:xfrm>
            <a:off x="6034626" y="1883871"/>
            <a:ext cx="5367473" cy="333233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เมื่อเตรียม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Attributes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เรียบร้อยแล้ว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สามารถส่งข้อมูลผ่าน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RTI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65EDB9F-13F8-E358-156A-268338C5C3B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A3C01-8954-A6EF-110F-762AAD8E6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26" y="2331418"/>
            <a:ext cx="5054860" cy="3949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A090C8-4F44-C0A7-CEA2-2A124A3BF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784" y="2447638"/>
            <a:ext cx="3534976" cy="1263059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BA830F21-F3FE-19F3-576D-DD16D5BE19CF}"/>
              </a:ext>
            </a:extLst>
          </p:cNvPr>
          <p:cNvSpPr txBox="1">
            <a:spLocks/>
          </p:cNvSpPr>
          <p:nvPr/>
        </p:nvSpPr>
        <p:spPr>
          <a:xfrm>
            <a:off x="548227" y="1883871"/>
            <a:ext cx="5054860" cy="333233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เตรียม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Attributes </a:t>
            </a:r>
            <a:endParaRPr lang="th-TH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FD534-72D2-E5AE-6448-26FD876A2232}"/>
              </a:ext>
            </a:extLst>
          </p:cNvPr>
          <p:cNvSpPr txBox="1">
            <a:spLocks/>
          </p:cNvSpPr>
          <p:nvPr/>
        </p:nvSpPr>
        <p:spPr>
          <a:xfrm>
            <a:off x="6096000" y="4047333"/>
            <a:ext cx="5367473" cy="998030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โดย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aircraftInstance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ObjectInstanceHandle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ที่ได้จาก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registerObjectInstance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 Attributes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และมีสิทธิ์อัปเดตข้อมูลก่อนส่ง</a:t>
            </a:r>
          </a:p>
        </p:txBody>
      </p:sp>
    </p:spTree>
    <p:extLst>
      <p:ext uri="{BB962C8B-B14F-4D97-AF65-F5344CB8AC3E}">
        <p14:creationId xmlns:p14="http://schemas.microsoft.com/office/powerpoint/2010/main" val="298087987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271D-A7EC-789A-6C5C-AB0587C65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EC79115-44B4-DE46-2113-B94EACB5DD6D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FA8FA54-317D-2072-DFF4-22EA464AD9EE}"/>
              </a:ext>
            </a:extLst>
          </p:cNvPr>
          <p:cNvSpPr txBox="1">
            <a:spLocks/>
          </p:cNvSpPr>
          <p:nvPr/>
        </p:nvSpPr>
        <p:spPr>
          <a:xfrm>
            <a:off x="457200" y="1806410"/>
            <a:ext cx="11439194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Decoding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ข้อมูลก่อนส่งผ่าน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 Updates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ผ่าน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reflectAttributeValues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ต้องนำข้อมูล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byte[]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มาถอดรหัสตามชนิดข้อมูลใน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5FCF186-8911-80CE-9911-F18F6A1C415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</p:spTree>
    <p:extLst>
      <p:ext uri="{BB962C8B-B14F-4D97-AF65-F5344CB8AC3E}">
        <p14:creationId xmlns:p14="http://schemas.microsoft.com/office/powerpoint/2010/main" val="18430568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389F-234B-B70D-88DF-59E48459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539D9D5-E750-9A9B-CDC0-B2F1714EB97F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03907C8-3A0B-F9B7-223C-70786480924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791B34-C2AB-5E16-FF4C-EB7892F58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62" y="1344840"/>
            <a:ext cx="4556745" cy="551316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901483C2-F78E-D683-E29F-238B3D324228}"/>
              </a:ext>
            </a:extLst>
          </p:cNvPr>
          <p:cNvSpPr txBox="1">
            <a:spLocks/>
          </p:cNvSpPr>
          <p:nvPr/>
        </p:nvSpPr>
        <p:spPr>
          <a:xfrm>
            <a:off x="337211" y="5524817"/>
            <a:ext cx="3978261" cy="831703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reflectAttributeValues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อาจได้รับเพียงบาง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Attributes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จึงต้องตรวจสอบ </a:t>
            </a: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containsKey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ก่อน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Decode </a:t>
            </a:r>
            <a:endParaRPr lang="th-TH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ทุก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Callback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อาจจะไม่มีข้อมูลครบทุก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Field</a:t>
            </a:r>
          </a:p>
        </p:txBody>
      </p:sp>
    </p:spTree>
    <p:extLst>
      <p:ext uri="{BB962C8B-B14F-4D97-AF65-F5344CB8AC3E}">
        <p14:creationId xmlns:p14="http://schemas.microsoft.com/office/powerpoint/2010/main" val="281343147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9D68-9BC2-8705-CD66-7EBE2ECF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D16C9FB-8459-5D60-8170-0D8CA5F58B55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1DC1706-CEE1-1108-A6DA-6AAB59240A57}"/>
              </a:ext>
            </a:extLst>
          </p:cNvPr>
          <p:cNvSpPr txBox="1">
            <a:spLocks/>
          </p:cNvSpPr>
          <p:nvPr/>
        </p:nvSpPr>
        <p:spPr>
          <a:xfrm>
            <a:off x="457200" y="1763182"/>
            <a:ext cx="11439194" cy="72103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/ Decoding Interaction Parameters</a:t>
            </a:r>
          </a:p>
          <a:p>
            <a:pPr>
              <a:lnSpc>
                <a:spcPct val="9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Encode/Decode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ใช้แนวคิดเดียวกับ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Attributes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แต่เก็บข้อมูลใน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5DEB491-FEB9-3B2B-0195-E0283D84607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52C805-B47D-7EB1-213C-AAC5AFA30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582" y="2514836"/>
            <a:ext cx="2572534" cy="743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A60C13-B65C-2D56-F2A7-C8EA50476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4" y="2614112"/>
            <a:ext cx="4045158" cy="35117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E4A61-C0F6-B12C-413A-199492DF04B0}"/>
              </a:ext>
            </a:extLst>
          </p:cNvPr>
          <p:cNvSpPr txBox="1"/>
          <p:nvPr/>
        </p:nvSpPr>
        <p:spPr>
          <a:xfrm>
            <a:off x="1568606" y="6165210"/>
            <a:ext cx="3305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</a:t>
            </a:r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และส่ง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7798F9-0056-8C3C-F2B5-E0F4B4F7C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907" y="3630164"/>
            <a:ext cx="3816546" cy="24956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5CBFA4-57BA-3726-48E2-55487BCD662A}"/>
              </a:ext>
            </a:extLst>
          </p:cNvPr>
          <p:cNvSpPr txBox="1"/>
          <p:nvPr/>
        </p:nvSpPr>
        <p:spPr>
          <a:xfrm>
            <a:off x="6594672" y="6156465"/>
            <a:ext cx="3305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Decoding </a:t>
            </a:r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และส่ง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47529379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8197-DAF2-1D9D-CDC9-B08AA870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1576E64F-B80F-5437-FD51-7861E57B6F35}"/>
              </a:ext>
            </a:extLst>
          </p:cNvPr>
          <p:cNvSpPr/>
          <p:nvPr/>
        </p:nvSpPr>
        <p:spPr>
          <a:xfrm>
            <a:off x="457200" y="292680"/>
            <a:ext cx="536747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Encoding / Decoding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ข้อมูล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5C8FEFA-0175-4E78-71DC-73FAA603BD06}"/>
              </a:ext>
            </a:extLst>
          </p:cNvPr>
          <p:cNvSpPr txBox="1">
            <a:spLocks/>
          </p:cNvSpPr>
          <p:nvPr/>
        </p:nvSpPr>
        <p:spPr>
          <a:xfrm>
            <a:off x="457200" y="1763182"/>
            <a:ext cx="11439194" cy="72103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/ Decoding Interaction Parameters</a:t>
            </a:r>
          </a:p>
          <a:p>
            <a:pPr>
              <a:lnSpc>
                <a:spcPct val="90000"/>
              </a:lnSpc>
            </a:pP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Encode/Decode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ใช้แนวคิดเดียวกับ 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Attributes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แต่เก็บข้อมูลใน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9C56359-9B3B-BED1-618B-0F7EEBE3157D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184DD-CFAC-37FC-8087-2BBE26B86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582" y="2514836"/>
            <a:ext cx="2572534" cy="743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52547F-0608-3C06-AE6D-F2EE88AF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4" y="2614112"/>
            <a:ext cx="4045158" cy="35117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D0762A-76D2-CEFD-2E9E-9C17F42A144D}"/>
              </a:ext>
            </a:extLst>
          </p:cNvPr>
          <p:cNvSpPr txBox="1"/>
          <p:nvPr/>
        </p:nvSpPr>
        <p:spPr>
          <a:xfrm>
            <a:off x="1568606" y="6165210"/>
            <a:ext cx="3305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Encoding </a:t>
            </a:r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และส่ง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F4C519-57D0-7CE9-F782-50A3266D5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907" y="3630164"/>
            <a:ext cx="3816546" cy="24956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8ECCBC-D8F3-E25D-F2DC-0CAAF554FFCC}"/>
              </a:ext>
            </a:extLst>
          </p:cNvPr>
          <p:cNvSpPr txBox="1"/>
          <p:nvPr/>
        </p:nvSpPr>
        <p:spPr>
          <a:xfrm>
            <a:off x="6594672" y="6156465"/>
            <a:ext cx="3305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Decoding </a:t>
            </a:r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และส่ง </a:t>
            </a:r>
            <a:r>
              <a:rPr lang="en-US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307755423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3D1F-46E4-7A30-11E4-7DF814AA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4DF8-BFDC-7AC2-2833-C89D9386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170963"/>
            <a:ext cx="9806413" cy="2516073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8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 Object Instance Register, Discover</a:t>
            </a:r>
            <a:b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 </a:t>
            </a:r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Remove Object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281508-E1AD-61DB-19B8-0F45A4586E89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1F81F-1FA2-A9B4-7B1E-8BB6BA5EDB45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164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F3ED03-5B2F-A88E-4EF0-55FBF1EA5FCA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88234157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3B80-799A-89D4-3920-1FDCEC11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8A1AA620-7F7F-14DC-09F1-D281C20F4598}"/>
              </a:ext>
            </a:extLst>
          </p:cNvPr>
          <p:cNvSpPr/>
          <p:nvPr/>
        </p:nvSpPr>
        <p:spPr>
          <a:xfrm>
            <a:off x="457200" y="292680"/>
            <a:ext cx="1096676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Object Instance Register, Discover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Remove Object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699769-45D7-9E0F-8AB7-94E4A3F33E08}"/>
              </a:ext>
            </a:extLst>
          </p:cNvPr>
          <p:cNvSpPr txBox="1"/>
          <p:nvPr/>
        </p:nvSpPr>
        <p:spPr>
          <a:xfrm>
            <a:off x="457199" y="1485199"/>
            <a:ext cx="8991001" cy="1569660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Object Instance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และกำหนดชื่อ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object Instance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removeObjectInstance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Object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ถูกลบ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ABFD68B-BC19-AF66-514F-46BDD0698E91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8B44A-14DF-71F8-6261-11D5FDE6945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165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B3CA630-340A-AA2E-1EC9-401F47BC30A4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13337185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AC35-7724-9EE8-54C1-53B3272A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C109F82D-FD2A-F4B9-96C0-FE3BE2F595CC}"/>
              </a:ext>
            </a:extLst>
          </p:cNvPr>
          <p:cNvSpPr/>
          <p:nvPr/>
        </p:nvSpPr>
        <p:spPr>
          <a:xfrm>
            <a:off x="457200" y="292680"/>
            <a:ext cx="1096676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Object Instance Register, Discover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Remove Object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B7E440-5859-244E-D541-CCE195BA2A53}"/>
              </a:ext>
            </a:extLst>
          </p:cNvPr>
          <p:cNvSpPr txBox="1"/>
          <p:nvPr/>
        </p:nvSpPr>
        <p:spPr>
          <a:xfrm>
            <a:off x="457200" y="1485199"/>
            <a:ext cx="3940268" cy="58477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Object Instance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85ACEF-553F-69D7-00F1-3603C03656AB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3B06-9981-BCCE-BA3B-2BD36B4FF56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166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969AC99-0AC9-DA5E-9557-F36ECB978523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94D71-FD04-83D4-DA7E-8A352AFAF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7450"/>
            <a:ext cx="3940269" cy="973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767958-F779-A91C-377F-B74B4FF19025}"/>
              </a:ext>
            </a:extLst>
          </p:cNvPr>
          <p:cNvSpPr txBox="1"/>
          <p:nvPr/>
        </p:nvSpPr>
        <p:spPr>
          <a:xfrm>
            <a:off x="6865586" y="1485199"/>
            <a:ext cx="3519681" cy="58477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Object Instance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35C7F0-832D-9A3B-98C7-EC233615B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586" y="2069974"/>
            <a:ext cx="3519681" cy="17313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0649A5-D958-88AC-ADBC-897E404B1500}"/>
              </a:ext>
            </a:extLst>
          </p:cNvPr>
          <p:cNvSpPr txBox="1"/>
          <p:nvPr/>
        </p:nvSpPr>
        <p:spPr>
          <a:xfrm>
            <a:off x="493675" y="3854142"/>
            <a:ext cx="3722496" cy="58477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Remove Object Instance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827F22-D7CA-9D39-5AB7-511B9A6F0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75" y="4438918"/>
            <a:ext cx="3722496" cy="11115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8DC8B8-5451-E1C3-8AB0-04D5EA1BD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974" y="4438918"/>
            <a:ext cx="4464279" cy="20765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2E8811A-877C-C71F-DCAE-A824D6E97D6E}"/>
              </a:ext>
            </a:extLst>
          </p:cNvPr>
          <p:cNvSpPr txBox="1"/>
          <p:nvPr/>
        </p:nvSpPr>
        <p:spPr>
          <a:xfrm>
            <a:off x="6733973" y="3854143"/>
            <a:ext cx="4464279" cy="584775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Discover Object Instance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56CDDCF-E04D-3B3D-1AA0-16EA74B3A5BF}"/>
              </a:ext>
            </a:extLst>
          </p:cNvPr>
          <p:cNvSpPr/>
          <p:nvPr/>
        </p:nvSpPr>
        <p:spPr>
          <a:xfrm>
            <a:off x="4940243" y="2606661"/>
            <a:ext cx="1155757" cy="322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D1C59B1-604C-33A3-5875-A5EE276A08B5}"/>
              </a:ext>
            </a:extLst>
          </p:cNvPr>
          <p:cNvSpPr/>
          <p:nvPr/>
        </p:nvSpPr>
        <p:spPr>
          <a:xfrm>
            <a:off x="4940242" y="4726447"/>
            <a:ext cx="1155757" cy="322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5F042D-C735-6824-AE6B-8A0033B3F760}"/>
              </a:ext>
            </a:extLst>
          </p:cNvPr>
          <p:cNvSpPr txBox="1"/>
          <p:nvPr/>
        </p:nvSpPr>
        <p:spPr>
          <a:xfrm>
            <a:off x="4953453" y="230220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callback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6243BA-AB64-D4B2-2DFE-159E52B357C1}"/>
              </a:ext>
            </a:extLst>
          </p:cNvPr>
          <p:cNvSpPr txBox="1"/>
          <p:nvPr/>
        </p:nvSpPr>
        <p:spPr>
          <a:xfrm>
            <a:off x="4937096" y="447869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callback</a:t>
            </a:r>
          </a:p>
        </p:txBody>
      </p:sp>
    </p:spTree>
    <p:extLst>
      <p:ext uri="{BB962C8B-B14F-4D97-AF65-F5344CB8AC3E}">
        <p14:creationId xmlns:p14="http://schemas.microsoft.com/office/powerpoint/2010/main" val="357505843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0B604-770C-1992-7396-EEE625AB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E4E4-66B5-B9D1-C169-95135019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93" y="2170963"/>
            <a:ext cx="9806413" cy="2516073"/>
          </a:xfrm>
        </p:spPr>
        <p:txBody>
          <a:bodyPr/>
          <a:lstStyle/>
          <a:p>
            <a:pPr algn="ctr"/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บทที่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9</a:t>
            </a:r>
            <a:br>
              <a:rPr lang="en-US" sz="6000" dirty="0">
                <a:solidFill>
                  <a:schemeClr val="tx2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 Interaction Publish, Subscribe, Send </a:t>
            </a:r>
            <a:r>
              <a:rPr lang="th-TH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60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6000" dirty="0">
              <a:solidFill>
                <a:schemeClr val="tx2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E565BC-8EBF-952B-73C3-612A08ED45D6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ECEDB-08D5-C927-6ACD-20D93AAA2FA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167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74BE41-2835-F161-BA0F-82ACAD8BDE1D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29829940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B2291-6CBF-0FAB-99F1-72CA4CE5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236770B0-4C50-C24A-5CBF-ED9D7AE3579D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A0C0F-748A-2E9D-46D4-3C221A4A5E33}"/>
              </a:ext>
            </a:extLst>
          </p:cNvPr>
          <p:cNvSpPr txBox="1"/>
          <p:nvPr/>
        </p:nvSpPr>
        <p:spPr>
          <a:xfrm>
            <a:off x="457199" y="1485199"/>
            <a:ext cx="8991001" cy="2062103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Parameter Handles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Receive Order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44D915-1E03-0950-AC5E-769EA6C49D80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7B2D1-3EC0-A58E-3F68-2A7F233E8CF9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168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58EA37-051D-87C4-AD1C-945AD10767F8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52853917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184D2-BB48-0C4F-CD72-3E8742AC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C00EDC1-B9D3-D8D8-0045-6B05B36C958D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A9FC7D1-B662-A337-B9E5-CE096458C168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8F94660-7CD4-15B3-B56F-85F416184FDB}"/>
              </a:ext>
            </a:extLst>
          </p:cNvPr>
          <p:cNvSpPr txBox="1">
            <a:spLocks/>
          </p:cNvSpPr>
          <p:nvPr/>
        </p:nvSpPr>
        <p:spPr>
          <a:xfrm>
            <a:off x="6096000" y="1866994"/>
            <a:ext cx="528377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Publish/ Subscribe Interaction Class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74631C-2DD4-80B8-7802-95EAA1B48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03" y="2386334"/>
            <a:ext cx="4415420" cy="34508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9C4701-7698-B708-4F61-9E9B541B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350" y="2353233"/>
            <a:ext cx="3568577" cy="1552854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0892E0A-E18A-B48F-CD67-E669EDB369F5}"/>
              </a:ext>
            </a:extLst>
          </p:cNvPr>
          <p:cNvSpPr txBox="1">
            <a:spLocks/>
          </p:cNvSpPr>
          <p:nvPr/>
        </p:nvSpPr>
        <p:spPr>
          <a:xfrm>
            <a:off x="410308" y="1866994"/>
            <a:ext cx="4343744" cy="398571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/ Parameter Handle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8810598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8527-F80C-D3D1-CCEB-743B34C6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9BF23B40-DC80-C169-9ACD-E8D468160EAD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2FFA28-DDFF-EDBE-ABE4-E46AB971EB86}"/>
              </a:ext>
            </a:extLst>
          </p:cNvPr>
          <p:cNvSpPr txBox="1"/>
          <p:nvPr/>
        </p:nvSpPr>
        <p:spPr>
          <a:xfrm>
            <a:off x="457199" y="1485199"/>
            <a:ext cx="8991001" cy="2062103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Handles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3200" b="1" dirty="0" err="1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Encode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Receive Order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3F0DC0-CBCB-C3BA-559A-2E44426DB3C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D1666-DA18-DE03-46F0-16DEF72E710C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170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CE71F04-139B-A9F9-195B-E1A5C92DA79E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127585408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4878-9534-0FE6-5FCB-B9B7C717F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AA458C8-7B9D-F598-ABF4-EC4E5CE08B15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A414D4B-9A25-C4B8-68D9-86CE77DD5683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C386A68-BAB2-1533-F584-A0525E86871E}"/>
              </a:ext>
            </a:extLst>
          </p:cNvPr>
          <p:cNvSpPr txBox="1">
            <a:spLocks/>
          </p:cNvSpPr>
          <p:nvPr/>
        </p:nvSpPr>
        <p:spPr>
          <a:xfrm>
            <a:off x="376401" y="1519049"/>
            <a:ext cx="10993603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 Parameters</a:t>
            </a: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สำหรับจัดเก็บข้อมูล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ที่ต้องการส่ง โดยนำค่ามา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byte[]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ตาม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Data Type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ที่กำหนดใน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D95F0B-27E4-3360-266D-AC737BB1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532" y="2762917"/>
            <a:ext cx="4251339" cy="370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1447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0F246-A157-4DE2-4C7D-D150BBC0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9F9353A1-511F-B54B-D5D3-1178D3FD0FE8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13236B-005B-BBC7-12E5-AF17475F1EF8}"/>
              </a:ext>
            </a:extLst>
          </p:cNvPr>
          <p:cNvSpPr txBox="1"/>
          <p:nvPr/>
        </p:nvSpPr>
        <p:spPr>
          <a:xfrm>
            <a:off x="457199" y="1485199"/>
            <a:ext cx="8991001" cy="2062103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Handles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3200" b="1" dirty="0" err="1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Receive Order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</a:t>
            </a:r>
            <a:endParaRPr lang="en-US" sz="3200" b="1" dirty="0">
              <a:solidFill>
                <a:srgbClr val="EA5455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EF96E-7268-4C91-B67F-3BCA0187DC7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478FE-EEE4-027C-E29F-70A21804E3E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172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2E3419-11C4-B336-2EF2-FDC5EA54072C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39566818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BFF2-BC81-9A0D-9BE5-C261B88A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714CDD1A-134E-B78E-4516-4979539F92D3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208752D-7673-B01A-C931-3E7AE6BA390F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DC0E3A-B1FB-D549-C512-7EA12B1E7CDC}"/>
              </a:ext>
            </a:extLst>
          </p:cNvPr>
          <p:cNvSpPr txBox="1">
            <a:spLocks/>
          </p:cNvSpPr>
          <p:nvPr/>
        </p:nvSpPr>
        <p:spPr>
          <a:xfrm>
            <a:off x="376401" y="1519049"/>
            <a:ext cx="10993603" cy="1164358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เพื่อส่ง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ไปยัง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ซึ่งจะจัดส่งไปยัง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Federates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และอยู่ภายใต้เงื่อนไขการรับข้อมูล</a:t>
            </a:r>
            <a:endParaRPr lang="en-US" sz="2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D57262-DD84-D6D3-9532-61ED6405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39007"/>
            <a:ext cx="3227486" cy="1296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02D647-8818-2833-6F96-ABDE7BF4E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537" y="3530732"/>
            <a:ext cx="3848298" cy="1949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1C8B7C-58AF-3A57-A1DF-2C4F43C9653A}"/>
              </a:ext>
            </a:extLst>
          </p:cNvPr>
          <p:cNvSpPr txBox="1"/>
          <p:nvPr/>
        </p:nvSpPr>
        <p:spPr>
          <a:xfrm>
            <a:off x="694604" y="3132130"/>
            <a:ext cx="2752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ส่งแบบ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Receive Order (RO)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A2E9A-AE57-9F14-E07D-58AE97F219E8}"/>
              </a:ext>
            </a:extLst>
          </p:cNvPr>
          <p:cNvSpPr txBox="1"/>
          <p:nvPr/>
        </p:nvSpPr>
        <p:spPr>
          <a:xfrm>
            <a:off x="5488500" y="3132130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ส่งแบบ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 (TSO)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3B3E0-4C17-6E39-068D-E3BF72CA2439}"/>
              </a:ext>
            </a:extLst>
          </p:cNvPr>
          <p:cNvSpPr txBox="1"/>
          <p:nvPr/>
        </p:nvSpPr>
        <p:spPr>
          <a:xfrm>
            <a:off x="5114019" y="5559856"/>
            <a:ext cx="6079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*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การส่งแบบ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TSO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ระบุ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Logical Time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ของเหตุการณ์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และต้องตั้งค่า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Time Management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ให้ถูกต้อง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(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อยู่ในบท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Management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1353579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46098-12BB-0EF7-D97A-090B36D5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2">
            <a:extLst>
              <a:ext uri="{FF2B5EF4-FFF2-40B4-BE49-F238E27FC236}">
                <a16:creationId xmlns:a16="http://schemas.microsoft.com/office/drawing/2014/main" id="{9A46C734-8FC5-A2B2-EAD4-8B30B76E4640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B4D06A-83CC-10CF-610E-4C31652C9344}"/>
              </a:ext>
            </a:extLst>
          </p:cNvPr>
          <p:cNvSpPr txBox="1"/>
          <p:nvPr/>
        </p:nvSpPr>
        <p:spPr>
          <a:xfrm>
            <a:off x="457199" y="1485199"/>
            <a:ext cx="8991001" cy="2062103"/>
          </a:xfrm>
          <a:prstGeom prst="rect">
            <a:avLst/>
          </a:prstGeom>
          <a:solidFill>
            <a:srgbClr val="F5F7FA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 Handles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ParameterHandleValueMap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Encode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ส่ง 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 </a:t>
            </a:r>
            <a:r>
              <a:rPr lang="en-US" sz="32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sendInteraction</a:t>
            </a:r>
            <a:r>
              <a:rPr lang="en-US" sz="3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รับ </a:t>
            </a:r>
            <a:r>
              <a:rPr lang="en-US" sz="3200" b="1" dirty="0" err="1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ทั้ง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Receive Order </a:t>
            </a:r>
            <a:r>
              <a:rPr lang="th-TH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3200" b="1" dirty="0">
                <a:solidFill>
                  <a:srgbClr val="EA5455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802F01-403C-F690-7B78-CD4B1A41E98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2BDCF-18F3-6B5B-6A62-528151438C25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174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736B02-ABC9-5E5B-86C9-FC6C8CDA4247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367776320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A14F-0918-D761-86E4-7BFBF586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A3935E2C-0203-3A00-ACBD-EF82A75A81F7}"/>
              </a:ext>
            </a:extLst>
          </p:cNvPr>
          <p:cNvSpPr/>
          <p:nvPr/>
        </p:nvSpPr>
        <p:spPr>
          <a:xfrm>
            <a:off x="457200" y="292680"/>
            <a:ext cx="9750083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Interaction Publish, Subscribe, Send </a:t>
            </a:r>
            <a:r>
              <a:rPr lang="th-TH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และ </a:t>
            </a:r>
            <a:r>
              <a:rPr lang="en-US" sz="4800" b="1" dirty="0">
                <a:solidFill>
                  <a:schemeClr val="tx2"/>
                </a:solidFill>
                <a:latin typeface="TH SarabunPSK" panose="020B0500040200020003" pitchFamily="34" charset="-34"/>
                <a:ea typeface="Tahoma" panose="020B0604030504040204" pitchFamily="34" charset="0"/>
                <a:cs typeface="TH SarabunPSK" panose="020B0500040200020003" pitchFamily="34" charset="-34"/>
              </a:rPr>
              <a:t>Receive</a:t>
            </a:r>
            <a:endParaRPr lang="en-US" sz="4800" dirty="0">
              <a:solidFill>
                <a:srgbClr val="000000"/>
              </a:solidFill>
              <a:latin typeface="TH SarabunPSK" panose="020B0500040200020003" pitchFamily="34" charset="-34"/>
              <a:ea typeface="Tahoma" panose="020B0604030504040204" pitchFamily="34" charset="0"/>
              <a:cs typeface="TH SarabunPSK" panose="020B0500040200020003" pitchFamily="34" charset="-34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8A594ED-937F-97C3-2DE8-FF19EA07589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A1A2C08-78F7-BE35-D19F-BDBA588B9884}"/>
              </a:ext>
            </a:extLst>
          </p:cNvPr>
          <p:cNvSpPr txBox="1">
            <a:spLocks/>
          </p:cNvSpPr>
          <p:nvPr/>
        </p:nvSpPr>
        <p:spPr>
          <a:xfrm>
            <a:off x="376401" y="1712948"/>
            <a:ext cx="10993603" cy="776559"/>
          </a:xfrm>
          <a:prstGeom prst="rect">
            <a:avLst/>
          </a:prstGeom>
          <a:solidFill>
            <a:srgbClr val="F5F7FA">
              <a:alpha val="50196"/>
            </a:srgbClr>
          </a:solidFill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 </a:t>
            </a:r>
            <a:r>
              <a:rPr lang="en-US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ทั้ง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Receive Order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90000"/>
              </a:lnSpc>
            </a:pP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Subscriber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ได้รับ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RTI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ระบบจะเรียก </a:t>
            </a:r>
            <a:r>
              <a:rPr lang="en-US" sz="28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receiveInteraction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()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ภายใน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Federate Ambassador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02002-EBEC-A587-99E4-07FE7F2A3997}"/>
              </a:ext>
            </a:extLst>
          </p:cNvPr>
          <p:cNvSpPr txBox="1"/>
          <p:nvPr/>
        </p:nvSpPr>
        <p:spPr>
          <a:xfrm>
            <a:off x="665641" y="2753430"/>
            <a:ext cx="2768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</a:t>
            </a:r>
            <a:r>
              <a:rPr lang="en-US" sz="24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แบบ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Receive Order (RO)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1C07DF-AE5A-463D-7654-2FFB6C0E890F}"/>
              </a:ext>
            </a:extLst>
          </p:cNvPr>
          <p:cNvSpPr txBox="1"/>
          <p:nvPr/>
        </p:nvSpPr>
        <p:spPr>
          <a:xfrm>
            <a:off x="5707087" y="2459664"/>
            <a:ext cx="3246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รับแบบ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Order (TSO)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51055D-2ED9-7E8D-FB4F-BEDC8014A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12" y="3165147"/>
            <a:ext cx="4102311" cy="21210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D7FC90-3CF0-4AD8-16EE-D470B030C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702" y="2871381"/>
            <a:ext cx="3892750" cy="29783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5CB5B0-FAA1-AF59-5CE3-3CCF8BFDEBDB}"/>
              </a:ext>
            </a:extLst>
          </p:cNvPr>
          <p:cNvSpPr txBox="1"/>
          <p:nvPr/>
        </p:nvSpPr>
        <p:spPr>
          <a:xfrm>
            <a:off x="1485381" y="5892529"/>
            <a:ext cx="8904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*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ควรตรวจสอบ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receivedOrder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เพื่อทราบลำดับการรับ เนื่องจาก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Interaction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ที่ถูกส่งพร้อม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Timestamp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ไม่จำเป็นต้องถูกส่งแบบ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TSO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เสมอไป ขึ้นอยู่กับการตั้งค่า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Time Management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และ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Ordering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ที่เกี่ยวข้อง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0001896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E34AE-58DF-953E-153C-EA0E1E23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unctuation of Life: Question Mark | by Christal Luster | Medium">
            <a:extLst>
              <a:ext uri="{FF2B5EF4-FFF2-40B4-BE49-F238E27FC236}">
                <a16:creationId xmlns:a16="http://schemas.microsoft.com/office/drawing/2014/main" id="{BF925C48-1AB6-EE35-7B96-C0BB47C7F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90" y="2203451"/>
            <a:ext cx="2799220" cy="2790190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136EB51-A593-7391-9642-52EAE3C0F5F7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r>
              <a:rPr lang="en-US"/>
              <a:t>16/10/2569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A15240B-9254-B85B-2814-34F36534FABA}"/>
              </a:ext>
            </a:extLst>
          </p:cNvPr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B68CCF-D253-4E2D-829D-CB31F26BD7FE}" type="slidenum">
              <a:rPr lang="en-US" smtClean="0"/>
              <a:t>176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59BD902-9619-1B91-F132-1C8A3A43E146}"/>
              </a:ext>
            </a:extLst>
          </p:cNvPr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rPr lang="en-US"/>
              <a:t>© Zyntelligent Co., Ltd.</a:t>
            </a:r>
          </a:p>
        </p:txBody>
      </p:sp>
    </p:spTree>
    <p:extLst>
      <p:ext uri="{BB962C8B-B14F-4D97-AF65-F5344CB8AC3E}">
        <p14:creationId xmlns:p14="http://schemas.microsoft.com/office/powerpoint/2010/main" val="256191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7139</TotalTime>
  <Words>8462</Words>
  <Application>Microsoft Office PowerPoint</Application>
  <PresentationFormat>Widescreen</PresentationFormat>
  <Paragraphs>1718</Paragraphs>
  <Slides>176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176</vt:i4>
      </vt:variant>
    </vt:vector>
  </HeadingPairs>
  <TitlesOfParts>
    <vt:vector size="194" baseType="lpstr">
      <vt:lpstr>Aptos</vt:lpstr>
      <vt:lpstr>Arial</vt:lpstr>
      <vt:lpstr>Calibri</vt:lpstr>
      <vt:lpstr>Symbol</vt:lpstr>
      <vt:lpstr>TH SarabunPSK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บทที่ 2  HLA Fundamental And Architecture</vt:lpstr>
      <vt:lpstr>PowerPoint Presentation</vt:lpstr>
      <vt:lpstr>High Level Architecture (HLA)</vt:lpstr>
      <vt:lpstr>PowerPoint Presentation</vt:lpstr>
      <vt:lpstr>PowerPoint Presentation</vt:lpstr>
      <vt:lpstr>PowerPoint Presentation</vt:lpstr>
      <vt:lpstr>Use Case</vt:lpstr>
      <vt:lpstr>HLA Rule 10 ข้อ</vt:lpstr>
      <vt:lpstr>HLA Rule 10 ข้อ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Federation Management</vt:lpstr>
      <vt:lpstr>2. Declaration Management</vt:lpstr>
      <vt:lpstr>3. Object Management</vt:lpstr>
      <vt:lpstr>4. Ownership Management</vt:lpstr>
      <vt:lpstr>5. Time Management</vt:lpstr>
      <vt:lpstr>6. Data Distribution Management (DDM)</vt:lpstr>
      <vt:lpstr> Support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บทที่ 3  Federation Object Model (FOM) Simulation Object Model (SOM)</vt:lpstr>
      <vt:lpstr>PowerPoint Presentation</vt:lpstr>
      <vt:lpstr>Federation Object Model (FOM)</vt:lpstr>
      <vt:lpstr>Simulation Object Model (SOM)</vt:lpstr>
      <vt:lpstr>Object Model Template (OMT)</vt:lpstr>
      <vt:lpstr>PowerPoint Presentation</vt:lpstr>
      <vt:lpstr>XML File</vt:lpstr>
      <vt:lpstr>PowerPoint Presentation</vt:lpstr>
      <vt:lpstr>ใน HLA ข้อมูลที่ Federate แลกเปลี่ยนกันมี 2 แบบเท่านั้น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บทที่ 4 เริ่มต้นสร้าง Federate / Federation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บทที่ 5 โครงสร้าง Federate Ambassador  และ Callback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บทที่ 6 Declaration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บทที่ 7 Encoding / Decoding ข้อมูล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บทที่ 8  Object Instance Register, Discover  และ Remove Object</vt:lpstr>
      <vt:lpstr>PowerPoint Presentation</vt:lpstr>
      <vt:lpstr>PowerPoint Presentation</vt:lpstr>
      <vt:lpstr>บทที่ 9  Interaction Publish, Subscribe, Send และ Receive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chattrakul</dc:creator>
  <cp:lastModifiedBy>soft</cp:lastModifiedBy>
  <cp:revision>84</cp:revision>
  <dcterms:modified xsi:type="dcterms:W3CDTF">2026-10-19T10:28:48Z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